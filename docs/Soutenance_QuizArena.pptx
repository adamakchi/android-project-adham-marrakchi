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merci de nous recevoir. Nous allons vous présenter QuizArena, notre projet de jeu multijoueur réalisé en binôme : un quiz de culture générale en mode battle royale, pour 2 à 8 joueurs, construit avec JavaFX, une API REST en PHP et une base MySQL, le tout conteneurisé avec Docker. (30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plan de notre présentation, en six parties : nous poserons d'abord le contexte et la problématique, puis la façon dont nous avons organisé le travail en binôme. Nous détaillerons ensuite la conception, la réalisation technique avec les difficultés rencontrées, la validation par les tests et le déploiement. Nous terminerons par une démonstration en direct et notre bilan. (30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demandait de concevoir un jeu multijoueur complet, du compte utilisateur jusqu'à l'historique des parties. Parmi les trois concepts proposés, nous avons retenu le quiz battle royale : c'est le plus direct à prototyper tout en étant le plus riche fonctionnellement. La vraie difficulté technique, notre problématique : synchroniser équitablement jusqu'à 8 joueurs sans WebSocket, uniquement avec du polling HTTP. Notre réponse tient en une phrase, c'est le fil rouge de cette soutenance : le serveur est l'unique source de vérité. (1 min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objectifs étaient cadrés par dix exigences obligatoires, F-01 à F-10 : toute la boucle de jeu, avec des composants d'interface variés, des échanges exclusivement JSON et une persistance MySQL. Les contraintes techniques étaient imposées : JavaFX, PHP, MySQL, et pas de WebSocket — un polling toutes les 1 à 2 secondes. Nous avons aussi assumé un périmètre clair : pas de chat vocal ni de paiements, l'essentiel d'abord.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organisation, nous avons suivi les huit jalons du sujet, du cadrage à la soutenance. La décision la plus structurante a été prise au jalon 1 : figer le contrat d'API très tôt. Grâce à ce contrat, chacun de nous a pu avancer de son côté — frontend pour l'un, backend pour l'autre — sans jamais bloquer l'autre, avec Git, des branches courtes et de la revue croisée. La version soutenue est taguée v1.0-demo.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Entrons dans la conception. L'architecture est en trois couches strictement séparées : le client JavaFX, l'API REST en PHP, et MySQL. Le point clé, qui répond directement à notre problématique d'équité : le client ne touche jamais la base et ne calcule jamais un score. Tout est décidé côté serveur. Et comme le contrat REST est figé et documenté en OpenAPI, le backend pourra être réécrit en Spring Boot sans toucher au client. (1 min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de données suit le cahier des charges : sept tables, plus une table de jetons pour les sessions. Ce que nous voulons souligner : les règles d'intégrité sont garanties par la base elle-même, pas seulement par le code. Par exemple, la contrainte unique sur le couple manche-joueur rend la double réponse physiquement impossible ; l'API la traduit en erreur 409. Et aucun mot de passe n'est stocké en clair. (45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contrat d'API, notre contrat d'interface de binôme, figé dès le jalon 1. Toutes les réponses suivent la même enveloppe : data en cas de succès, error avec un code et un message lisible sinon. À gauche, un exemple concret : soumettre une réponse. Deux points à retenir : la double soumission renvoie un 409, et la correction n'est jamais transmise avant la clôture de la manche — impossible de tricher en inspectant le réseau.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à la réalisation, en commençant par le cœur : le moteur de jeu. La formule de score : 700 points pour l'exactitude, plus un bonus de rapidité jusqu'à 300 points, proportionnel au temps restant. L'élimination retire le dernier quart des joueurs actifs à partir de la manche 3. Et la partie avance sans aucune tâche planifiée : chaque requête d'un client déclenche un tick côté serveur qui clôture la manche à l'échéance et ouvre la suivante — le tout protégé par des transactions et des verrous. C'est notre réponse au « multijoueur sans WebSocket ». (1 min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client, les huit écrans du cahier des charges avec tous les composants imposés — vous voyez ici l'écran de connexion réel. Trois choix techniques à retenir : tous les appels réseau sortent du thread d'interface pour ne jamais figer l'application ; le compte à rebours est recalé sur l'horloge du serveur, donc les deux joueurs voient exactement la même échéance ; et une coupure réseau affiche un message propre sans faire planter l'application.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 dans tout projet, nous avons rencontré des difficultés — voici les cinq principales et comment nous les avons résolues. La plus intéressante est la première : sans WebSocket, comment la partie avance-t-elle quand personne n'appuie sur un bouton ? Notre solution : chaque requête de polling déclenche l'avancement côté serveur. La concurrence de ces requêtes nous a ensuite obligés à protéger les écritures par des transactions et des verrous — un vrai apprentissage sur les accès concurrents. (1 min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Comment savons-nous que ça marche ? Pas en le promettant : en le prouvant. 58 contrôles automatisés, tous au vert. Le plus parlant est le smoke test : il joue une vraie partie complète à deux joueurs contre l'API et la base — inscription, salle, questions synchronisées, refus de la double réponse, formule de score, podium, historique. Les dix critères d'acceptation du cahier des charges sont tracés un par un dans le plan de tests. (45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critère A-10 demandait un projet installable sur un poste propre à partir du README. Nous sommes allés plus loin : le backend est conteneurisé. Une commande monte MySQL avec le schéma et les 60 questions, puis l'API avec les comptes de démonstration. Et même la recette est conteneurisée. Le client JavaFX reste natif — c'est une application de bureau. (45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 à la démonstration, que nous avons répétée et chronométrée : deux clients sur ce poste, une partie complète en trois manches, le podium, l'historique — et pour finir un test de robustesse en coupant l'API en plein lobby, pour montrer que l'application affiche un message propre et reprend au lieu de planter. La base est locale et les comptes sont précréés : aucune dépendance au réseau de la salle. (transition vers la démo)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 les dix exigences obligatoires sont livrées et démontrables, validées par 58 tests automatisés. Au-delà de la technique, nous retenons trois leçons : figer le contrat d'interface tôt nous a permis de travailler en parallèle sans friction ; faire du serveur la source de vérité a simplifié tous les problèmes d'équité ; et la gestion de la concurrence s'apprend au niveau de la base. Les perspectives sont préparées : Spring Boot pourra remplacer le backend sans toucher au client. Nous terminons sur la priorité fixée par le cahier des charges lui-même : une partie complète et stable vaut mieux que des fonctionnalités inachevées.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attention. Nous sommes prêts pour vos questions, et bien sûr pour la démonstration en direct. Le dépôt contient tout : le code, le README d'installation, le contrat OpenAPI et le plan de tests.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457200" y="566928"/>
            <a:ext cx="8229600" cy="320040"/>
          </a:xfrm>
          <a:prstGeom prst="rect">
            <a:avLst/>
          </a:prstGeom>
          <a:noFill/>
          <a:ln/>
        </p:spPr>
        <p:txBody>
          <a:bodyPr wrap="square" lIns="0" tIns="0" rIns="0" bIns="0" rtlCol="0" anchor="ctr"/>
          <a:lstStyle/>
          <a:p>
            <a:pPr algn="ctr" indent="0" marL="0">
              <a:buNone/>
            </a:pPr>
            <a:r>
              <a:rPr lang="en-US" sz="1500" dirty="0">
                <a:solidFill>
                  <a:srgbClr val="7FB2FF"/>
                </a:solidFill>
                <a:latin typeface="Arial" pitchFamily="34" charset="0"/>
                <a:ea typeface="Arial" pitchFamily="34" charset="-122"/>
                <a:cs typeface="Arial" pitchFamily="34" charset="-120"/>
              </a:rPr>
              <a:t>Soutenance de projet — Jeu multijoueur</a:t>
            </a:r>
            <a:endParaRPr lang="en-US" sz="1500" dirty="0"/>
          </a:p>
        </p:txBody>
      </p:sp>
      <p:sp>
        <p:nvSpPr>
          <p:cNvPr id="3" name="Text 1"/>
          <p:cNvSpPr/>
          <p:nvPr/>
        </p:nvSpPr>
        <p:spPr>
          <a:xfrm>
            <a:off x="457200" y="960120"/>
            <a:ext cx="8229600" cy="914400"/>
          </a:xfrm>
          <a:prstGeom prst="rect">
            <a:avLst/>
          </a:prstGeom>
          <a:noFill/>
          <a:ln/>
        </p:spPr>
        <p:txBody>
          <a:bodyPr wrap="square" lIns="0" tIns="0" rIns="0" bIns="0" rtlCol="0" anchor="ctr"/>
          <a:lstStyle/>
          <a:p>
            <a:pPr algn="ctr" indent="0" marL="0">
              <a:buNone/>
            </a:pPr>
            <a:r>
              <a:rPr lang="en-US" sz="5800" b="1" dirty="0">
                <a:solidFill>
                  <a:srgbClr val="EEF2FF"/>
                </a:solidFill>
                <a:latin typeface="Arial" pitchFamily="34" charset="0"/>
                <a:ea typeface="Arial" pitchFamily="34" charset="-122"/>
                <a:cs typeface="Arial" pitchFamily="34" charset="-120"/>
              </a:rPr>
              <a:t>QuizArena</a:t>
            </a:r>
            <a:endParaRPr lang="en-US" sz="5800" dirty="0"/>
          </a:p>
        </p:txBody>
      </p:sp>
      <p:sp>
        <p:nvSpPr>
          <p:cNvPr id="4" name="Text 2"/>
          <p:cNvSpPr/>
          <p:nvPr/>
        </p:nvSpPr>
        <p:spPr>
          <a:xfrm>
            <a:off x="457200" y="1920240"/>
            <a:ext cx="8229600" cy="365760"/>
          </a:xfrm>
          <a:prstGeom prst="rect">
            <a:avLst/>
          </a:prstGeom>
          <a:noFill/>
          <a:ln/>
        </p:spPr>
        <p:txBody>
          <a:bodyPr wrap="square" lIns="0" tIns="0" rIns="0" bIns="0" rtlCol="0" anchor="ctr"/>
          <a:lstStyle/>
          <a:p>
            <a:pPr algn="ctr" indent="0" marL="0">
              <a:buNone/>
            </a:pPr>
            <a:r>
              <a:rPr lang="en-US" sz="1800" i="1" dirty="0">
                <a:solidFill>
                  <a:srgbClr val="FFD166"/>
                </a:solidFill>
                <a:latin typeface="Arial" pitchFamily="34" charset="0"/>
                <a:ea typeface="Arial" pitchFamily="34" charset="-122"/>
                <a:cs typeface="Arial" pitchFamily="34" charset="-120"/>
              </a:rPr>
              <a:t>Battle Royale de culture générale — 2 à 8 joueurs</a:t>
            </a:r>
            <a:endParaRPr lang="en-US" sz="1800" dirty="0"/>
          </a:p>
        </p:txBody>
      </p:sp>
      <p:sp>
        <p:nvSpPr>
          <p:cNvPr id="5" name="Shape 3"/>
          <p:cNvSpPr/>
          <p:nvPr/>
        </p:nvSpPr>
        <p:spPr>
          <a:xfrm>
            <a:off x="969264" y="2606040"/>
            <a:ext cx="1691640" cy="868680"/>
          </a:xfrm>
          <a:prstGeom prst="roundRect">
            <a:avLst>
              <a:gd name="adj" fmla="val 7368"/>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6" name="Shape 4"/>
          <p:cNvSpPr/>
          <p:nvPr/>
        </p:nvSpPr>
        <p:spPr>
          <a:xfrm>
            <a:off x="1618488" y="2724912"/>
            <a:ext cx="384048" cy="384048"/>
          </a:xfrm>
          <a:prstGeom prst="ellipse">
            <a:avLst/>
          </a:prstGeom>
          <a:solidFill>
            <a:srgbClr val="3D7BFD"/>
          </a:solidFill>
          <a:ln/>
        </p:spPr>
      </p:sp>
      <p:pic>
        <p:nvPicPr>
          <p:cNvPr id="7" name="Image 0" descr="preencoded.png">    </p:cNvPr>
          <p:cNvPicPr>
            <a:picLocks noChangeAspect="1"/>
          </p:cNvPicPr>
          <p:nvPr/>
        </p:nvPicPr>
        <p:blipFill>
          <a:blip r:embed="rId1"/>
          <a:stretch>
            <a:fillRect/>
          </a:stretch>
        </p:blipFill>
        <p:spPr>
          <a:xfrm>
            <a:off x="1706819" y="2813243"/>
            <a:ext cx="207386" cy="207386"/>
          </a:xfrm>
          <a:prstGeom prst="rect">
            <a:avLst/>
          </a:prstGeom>
        </p:spPr>
      </p:pic>
      <p:sp>
        <p:nvSpPr>
          <p:cNvPr id="8" name="Text 5"/>
          <p:cNvSpPr/>
          <p:nvPr/>
        </p:nvSpPr>
        <p:spPr>
          <a:xfrm>
            <a:off x="969264" y="3145536"/>
            <a:ext cx="1691640" cy="274320"/>
          </a:xfrm>
          <a:prstGeom prst="rect">
            <a:avLst/>
          </a:prstGeom>
          <a:noFill/>
          <a:ln/>
        </p:spPr>
        <p:txBody>
          <a:bodyPr wrap="square" lIns="0" tIns="0" rIns="0" bIns="0" rtlCol="0" anchor="ctr"/>
          <a:lstStyle/>
          <a:p>
            <a:pPr algn="ctr" indent="0" marL="0">
              <a:buNone/>
            </a:pPr>
            <a:r>
              <a:rPr lang="en-US" sz="1150" b="1" dirty="0">
                <a:solidFill>
                  <a:srgbClr val="EEF2FF"/>
                </a:solidFill>
                <a:latin typeface="Arial" pitchFamily="34" charset="0"/>
                <a:ea typeface="Arial" pitchFamily="34" charset="-122"/>
                <a:cs typeface="Arial" pitchFamily="34" charset="-120"/>
              </a:rPr>
              <a:t>JavaFX 21</a:t>
            </a:r>
            <a:endParaRPr lang="en-US" sz="1150" dirty="0"/>
          </a:p>
        </p:txBody>
      </p:sp>
      <p:sp>
        <p:nvSpPr>
          <p:cNvPr id="9" name="Shape 6"/>
          <p:cNvSpPr/>
          <p:nvPr/>
        </p:nvSpPr>
        <p:spPr>
          <a:xfrm>
            <a:off x="2843784" y="2606040"/>
            <a:ext cx="1691640" cy="868680"/>
          </a:xfrm>
          <a:prstGeom prst="roundRect">
            <a:avLst>
              <a:gd name="adj" fmla="val 7368"/>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0" name="Shape 7"/>
          <p:cNvSpPr/>
          <p:nvPr/>
        </p:nvSpPr>
        <p:spPr>
          <a:xfrm>
            <a:off x="3493008" y="2724912"/>
            <a:ext cx="384048" cy="384048"/>
          </a:xfrm>
          <a:prstGeom prst="ellipse">
            <a:avLst/>
          </a:prstGeom>
          <a:solidFill>
            <a:srgbClr val="3D7BFD"/>
          </a:solidFill>
          <a:ln/>
        </p:spPr>
      </p:sp>
      <p:pic>
        <p:nvPicPr>
          <p:cNvPr id="11" name="Image 1" descr="preencoded.png">    </p:cNvPr>
          <p:cNvPicPr>
            <a:picLocks noChangeAspect="1"/>
          </p:cNvPicPr>
          <p:nvPr/>
        </p:nvPicPr>
        <p:blipFill>
          <a:blip r:embed="rId2"/>
          <a:stretch>
            <a:fillRect/>
          </a:stretch>
        </p:blipFill>
        <p:spPr>
          <a:xfrm>
            <a:off x="3581339" y="2813243"/>
            <a:ext cx="207386" cy="207386"/>
          </a:xfrm>
          <a:prstGeom prst="rect">
            <a:avLst/>
          </a:prstGeom>
        </p:spPr>
      </p:pic>
      <p:sp>
        <p:nvSpPr>
          <p:cNvPr id="12" name="Text 8"/>
          <p:cNvSpPr/>
          <p:nvPr/>
        </p:nvSpPr>
        <p:spPr>
          <a:xfrm>
            <a:off x="2843784" y="3145536"/>
            <a:ext cx="1691640" cy="274320"/>
          </a:xfrm>
          <a:prstGeom prst="rect">
            <a:avLst/>
          </a:prstGeom>
          <a:noFill/>
          <a:ln/>
        </p:spPr>
        <p:txBody>
          <a:bodyPr wrap="square" lIns="0" tIns="0" rIns="0" bIns="0" rtlCol="0" anchor="ctr"/>
          <a:lstStyle/>
          <a:p>
            <a:pPr algn="ctr" indent="0" marL="0">
              <a:buNone/>
            </a:pPr>
            <a:r>
              <a:rPr lang="en-US" sz="1150" b="1" dirty="0">
                <a:solidFill>
                  <a:srgbClr val="EEF2FF"/>
                </a:solidFill>
                <a:latin typeface="Arial" pitchFamily="34" charset="0"/>
                <a:ea typeface="Arial" pitchFamily="34" charset="-122"/>
                <a:cs typeface="Arial" pitchFamily="34" charset="-120"/>
              </a:rPr>
              <a:t>API REST PHP 8</a:t>
            </a:r>
            <a:endParaRPr lang="en-US" sz="1150" dirty="0"/>
          </a:p>
        </p:txBody>
      </p:sp>
      <p:sp>
        <p:nvSpPr>
          <p:cNvPr id="13" name="Shape 9"/>
          <p:cNvSpPr/>
          <p:nvPr/>
        </p:nvSpPr>
        <p:spPr>
          <a:xfrm>
            <a:off x="4718304" y="2606040"/>
            <a:ext cx="1691640" cy="868680"/>
          </a:xfrm>
          <a:prstGeom prst="roundRect">
            <a:avLst>
              <a:gd name="adj" fmla="val 7368"/>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4" name="Shape 10"/>
          <p:cNvSpPr/>
          <p:nvPr/>
        </p:nvSpPr>
        <p:spPr>
          <a:xfrm>
            <a:off x="5367528" y="2724912"/>
            <a:ext cx="384048" cy="384048"/>
          </a:xfrm>
          <a:prstGeom prst="ellipse">
            <a:avLst/>
          </a:prstGeom>
          <a:solidFill>
            <a:srgbClr val="3D7BFD"/>
          </a:solidFill>
          <a:ln/>
        </p:spPr>
      </p:sp>
      <p:pic>
        <p:nvPicPr>
          <p:cNvPr id="15" name="Image 2" descr="preencoded.png">    </p:cNvPr>
          <p:cNvPicPr>
            <a:picLocks noChangeAspect="1"/>
          </p:cNvPicPr>
          <p:nvPr/>
        </p:nvPicPr>
        <p:blipFill>
          <a:blip r:embed="rId3"/>
          <a:stretch>
            <a:fillRect/>
          </a:stretch>
        </p:blipFill>
        <p:spPr>
          <a:xfrm>
            <a:off x="5455859" y="2813243"/>
            <a:ext cx="207386" cy="207386"/>
          </a:xfrm>
          <a:prstGeom prst="rect">
            <a:avLst/>
          </a:prstGeom>
        </p:spPr>
      </p:pic>
      <p:sp>
        <p:nvSpPr>
          <p:cNvPr id="16" name="Text 11"/>
          <p:cNvSpPr/>
          <p:nvPr/>
        </p:nvSpPr>
        <p:spPr>
          <a:xfrm>
            <a:off x="4718304" y="3145536"/>
            <a:ext cx="1691640" cy="274320"/>
          </a:xfrm>
          <a:prstGeom prst="rect">
            <a:avLst/>
          </a:prstGeom>
          <a:noFill/>
          <a:ln/>
        </p:spPr>
        <p:txBody>
          <a:bodyPr wrap="square" lIns="0" tIns="0" rIns="0" bIns="0" rtlCol="0" anchor="ctr"/>
          <a:lstStyle/>
          <a:p>
            <a:pPr algn="ctr" indent="0" marL="0">
              <a:buNone/>
            </a:pPr>
            <a:r>
              <a:rPr lang="en-US" sz="1150" b="1" dirty="0">
                <a:solidFill>
                  <a:srgbClr val="EEF2FF"/>
                </a:solidFill>
                <a:latin typeface="Arial" pitchFamily="34" charset="0"/>
                <a:ea typeface="Arial" pitchFamily="34" charset="-122"/>
                <a:cs typeface="Arial" pitchFamily="34" charset="-120"/>
              </a:rPr>
              <a:t>MySQL 8</a:t>
            </a:r>
            <a:endParaRPr lang="en-US" sz="1150" dirty="0"/>
          </a:p>
        </p:txBody>
      </p:sp>
      <p:sp>
        <p:nvSpPr>
          <p:cNvPr id="17" name="Shape 12"/>
          <p:cNvSpPr/>
          <p:nvPr/>
        </p:nvSpPr>
        <p:spPr>
          <a:xfrm>
            <a:off x="6592824" y="2606040"/>
            <a:ext cx="1691640" cy="868680"/>
          </a:xfrm>
          <a:prstGeom prst="roundRect">
            <a:avLst>
              <a:gd name="adj" fmla="val 7368"/>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8" name="Shape 13"/>
          <p:cNvSpPr/>
          <p:nvPr/>
        </p:nvSpPr>
        <p:spPr>
          <a:xfrm>
            <a:off x="7242048" y="2724912"/>
            <a:ext cx="384048" cy="384048"/>
          </a:xfrm>
          <a:prstGeom prst="ellipse">
            <a:avLst/>
          </a:prstGeom>
          <a:solidFill>
            <a:srgbClr val="3D7BFD"/>
          </a:solidFill>
          <a:ln/>
        </p:spPr>
      </p:sp>
      <p:pic>
        <p:nvPicPr>
          <p:cNvPr id="19" name="Image 3" descr="preencoded.png">    </p:cNvPr>
          <p:cNvPicPr>
            <a:picLocks noChangeAspect="1"/>
          </p:cNvPicPr>
          <p:nvPr/>
        </p:nvPicPr>
        <p:blipFill>
          <a:blip r:embed="rId4"/>
          <a:stretch>
            <a:fillRect/>
          </a:stretch>
        </p:blipFill>
        <p:spPr>
          <a:xfrm>
            <a:off x="7330379" y="2813243"/>
            <a:ext cx="207386" cy="207386"/>
          </a:xfrm>
          <a:prstGeom prst="rect">
            <a:avLst/>
          </a:prstGeom>
        </p:spPr>
      </p:pic>
      <p:sp>
        <p:nvSpPr>
          <p:cNvPr id="20" name="Text 14"/>
          <p:cNvSpPr/>
          <p:nvPr/>
        </p:nvSpPr>
        <p:spPr>
          <a:xfrm>
            <a:off x="6592824" y="3145536"/>
            <a:ext cx="1691640" cy="274320"/>
          </a:xfrm>
          <a:prstGeom prst="rect">
            <a:avLst/>
          </a:prstGeom>
          <a:noFill/>
          <a:ln/>
        </p:spPr>
        <p:txBody>
          <a:bodyPr wrap="square" lIns="0" tIns="0" rIns="0" bIns="0" rtlCol="0" anchor="ctr"/>
          <a:lstStyle/>
          <a:p>
            <a:pPr algn="ctr" indent="0" marL="0">
              <a:buNone/>
            </a:pPr>
            <a:r>
              <a:rPr lang="en-US" sz="1150" b="1" dirty="0">
                <a:solidFill>
                  <a:srgbClr val="EEF2FF"/>
                </a:solidFill>
                <a:latin typeface="Arial" pitchFamily="34" charset="0"/>
                <a:ea typeface="Arial" pitchFamily="34" charset="-122"/>
                <a:cs typeface="Arial" pitchFamily="34" charset="-120"/>
              </a:rPr>
              <a:t>Docker</a:t>
            </a:r>
            <a:endParaRPr lang="en-US" sz="1150" dirty="0"/>
          </a:p>
        </p:txBody>
      </p:sp>
      <p:sp>
        <p:nvSpPr>
          <p:cNvPr id="21" name="Text 15"/>
          <p:cNvSpPr/>
          <p:nvPr/>
        </p:nvSpPr>
        <p:spPr>
          <a:xfrm>
            <a:off x="457200" y="3977640"/>
            <a:ext cx="8229600" cy="685800"/>
          </a:xfrm>
          <a:prstGeom prst="rect">
            <a:avLst/>
          </a:prstGeom>
          <a:noFill/>
          <a:ln/>
        </p:spPr>
        <p:txBody>
          <a:bodyPr wrap="square" lIns="0" tIns="0" rIns="0" bIns="0" rtlCol="0" anchor="ctr"/>
          <a:lstStyle/>
          <a:p>
            <a:pPr algn="ctr" indent="0" marL="0">
              <a:buNone/>
            </a:pPr>
            <a:r>
              <a:rPr lang="en-US" sz="1600" b="1" dirty="0">
                <a:solidFill>
                  <a:srgbClr val="EEF2FF"/>
                </a:solidFill>
                <a:latin typeface="Arial" pitchFamily="34" charset="0"/>
                <a:ea typeface="Arial" pitchFamily="34" charset="-122"/>
                <a:cs typeface="Arial" pitchFamily="34" charset="-120"/>
              </a:rPr>
              <a:t>Adham Marrakchi   &amp;   Ghizlane Benallal</a:t>
            </a:r>
            <a:endParaRPr lang="en-US" sz="1600" dirty="0"/>
          </a:p>
          <a:p>
            <a:pPr algn="ctr" indent="0" marL="0">
              <a:buNone/>
            </a:pPr>
            <a:r>
              <a:rPr lang="en-US" sz="1200" dirty="0">
                <a:solidFill>
                  <a:srgbClr val="9AA7CC"/>
                </a:solidFill>
                <a:latin typeface="Arial" pitchFamily="34" charset="0"/>
                <a:ea typeface="Arial" pitchFamily="34" charset="-122"/>
                <a:cs typeface="Arial" pitchFamily="34" charset="-120"/>
              </a:rPr>
              <a:t>Version soutenue : v1.0-demo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2 / 16</a:t>
            </a:r>
            <a:endParaRPr lang="en-US" sz="1000" dirty="0"/>
          </a:p>
        </p:txBody>
      </p:sp>
      <p:sp>
        <p:nvSpPr>
          <p:cNvPr id="3" name="Text 1"/>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Plan de la présentation</a:t>
            </a:r>
            <a:endParaRPr lang="en-US" sz="2700" dirty="0"/>
          </a:p>
        </p:txBody>
      </p:sp>
      <p:sp>
        <p:nvSpPr>
          <p:cNvPr id="4" name="Shape 2"/>
          <p:cNvSpPr/>
          <p:nvPr/>
        </p:nvSpPr>
        <p:spPr>
          <a:xfrm>
            <a:off x="502920" y="1051560"/>
            <a:ext cx="3977640" cy="1024128"/>
          </a:xfrm>
          <a:prstGeom prst="roundRect">
            <a:avLst>
              <a:gd name="adj" fmla="val 625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5" name="Shape 3"/>
          <p:cNvSpPr/>
          <p:nvPr/>
        </p:nvSpPr>
        <p:spPr>
          <a:xfrm>
            <a:off x="667512" y="1325880"/>
            <a:ext cx="475488" cy="475488"/>
          </a:xfrm>
          <a:prstGeom prst="ellipse">
            <a:avLst/>
          </a:prstGeom>
          <a:solidFill>
            <a:srgbClr val="FFD166"/>
          </a:solidFill>
          <a:ln/>
        </p:spPr>
      </p:sp>
      <p:sp>
        <p:nvSpPr>
          <p:cNvPr id="6" name="Text 4"/>
          <p:cNvSpPr/>
          <p:nvPr/>
        </p:nvSpPr>
        <p:spPr>
          <a:xfrm>
            <a:off x="667512" y="1325880"/>
            <a:ext cx="475488" cy="475488"/>
          </a:xfrm>
          <a:prstGeom prst="rect">
            <a:avLst/>
          </a:prstGeom>
          <a:noFill/>
          <a:ln/>
        </p:spPr>
        <p:txBody>
          <a:bodyPr wrap="square" lIns="0" tIns="0" rIns="0" bIns="0" rtlCol="0" anchor="ctr"/>
          <a:lstStyle/>
          <a:p>
            <a:pPr algn="ctr" indent="0" marL="0">
              <a:buNone/>
            </a:pPr>
            <a:r>
              <a:rPr lang="en-US" sz="2000" b="1" dirty="0">
                <a:solidFill>
                  <a:srgbClr val="141A2E"/>
                </a:solidFill>
                <a:latin typeface="Arial" pitchFamily="34" charset="0"/>
                <a:ea typeface="Arial" pitchFamily="34" charset="-122"/>
                <a:cs typeface="Arial" pitchFamily="34" charset="-120"/>
              </a:rPr>
              <a:t>1</a:t>
            </a:r>
            <a:endParaRPr lang="en-US" sz="2000" dirty="0"/>
          </a:p>
        </p:txBody>
      </p:sp>
      <p:sp>
        <p:nvSpPr>
          <p:cNvPr id="7" name="Text 5"/>
          <p:cNvSpPr/>
          <p:nvPr/>
        </p:nvSpPr>
        <p:spPr>
          <a:xfrm>
            <a:off x="1307592" y="1207008"/>
            <a:ext cx="3035808" cy="320040"/>
          </a:xfrm>
          <a:prstGeom prst="rect">
            <a:avLst/>
          </a:prstGeom>
          <a:noFill/>
          <a:ln/>
        </p:spPr>
        <p:txBody>
          <a:bodyPr wrap="square" lIns="0" tIns="0" rIns="0" bIns="0" rtlCol="0" anchor="ctr"/>
          <a:lstStyle/>
          <a:p>
            <a:pPr indent="0" marL="0">
              <a:buNone/>
            </a:pPr>
            <a:r>
              <a:rPr lang="en-US" sz="1550" b="1" dirty="0">
                <a:solidFill>
                  <a:srgbClr val="EEF2FF"/>
                </a:solidFill>
                <a:latin typeface="Arial" pitchFamily="34" charset="0"/>
                <a:ea typeface="Arial" pitchFamily="34" charset="-122"/>
                <a:cs typeface="Arial" pitchFamily="34" charset="-120"/>
              </a:rPr>
              <a:t>Introduction</a:t>
            </a:r>
            <a:endParaRPr lang="en-US" sz="1550" dirty="0"/>
          </a:p>
        </p:txBody>
      </p:sp>
      <p:sp>
        <p:nvSpPr>
          <p:cNvPr id="8" name="Text 6"/>
          <p:cNvSpPr/>
          <p:nvPr/>
        </p:nvSpPr>
        <p:spPr>
          <a:xfrm>
            <a:off x="1307592" y="1563624"/>
            <a:ext cx="3035808" cy="384048"/>
          </a:xfrm>
          <a:prstGeom prst="rect">
            <a:avLst/>
          </a:prstGeom>
          <a:noFill/>
          <a:ln/>
        </p:spPr>
        <p:txBody>
          <a:bodyPr wrap="square" lIns="0" tIns="0" rIns="0" bIns="0" rtlCol="0" anchor="ctr"/>
          <a:lstStyle/>
          <a:p>
            <a:pPr indent="0" marL="0">
              <a:buNone/>
            </a:pPr>
            <a:r>
              <a:rPr lang="en-US" sz="1150" dirty="0">
                <a:solidFill>
                  <a:srgbClr val="9AA7CC"/>
                </a:solidFill>
                <a:latin typeface="Arial" pitchFamily="34" charset="0"/>
                <a:ea typeface="Arial" pitchFamily="34" charset="-122"/>
                <a:cs typeface="Arial" pitchFamily="34" charset="-120"/>
              </a:rPr>
              <a:t>contexte, problématique, objectifs</a:t>
            </a:r>
            <a:endParaRPr lang="en-US" sz="1150" dirty="0"/>
          </a:p>
        </p:txBody>
      </p:sp>
      <p:sp>
        <p:nvSpPr>
          <p:cNvPr id="9" name="Shape 7"/>
          <p:cNvSpPr/>
          <p:nvPr/>
        </p:nvSpPr>
        <p:spPr>
          <a:xfrm>
            <a:off x="4663440" y="1051560"/>
            <a:ext cx="3977640" cy="1024128"/>
          </a:xfrm>
          <a:prstGeom prst="roundRect">
            <a:avLst>
              <a:gd name="adj" fmla="val 625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0" name="Shape 8"/>
          <p:cNvSpPr/>
          <p:nvPr/>
        </p:nvSpPr>
        <p:spPr>
          <a:xfrm>
            <a:off x="4828032" y="1325880"/>
            <a:ext cx="475488" cy="475488"/>
          </a:xfrm>
          <a:prstGeom prst="ellipse">
            <a:avLst/>
          </a:prstGeom>
          <a:solidFill>
            <a:srgbClr val="FFD166"/>
          </a:solidFill>
          <a:ln/>
        </p:spPr>
      </p:sp>
      <p:sp>
        <p:nvSpPr>
          <p:cNvPr id="11" name="Text 9"/>
          <p:cNvSpPr/>
          <p:nvPr/>
        </p:nvSpPr>
        <p:spPr>
          <a:xfrm>
            <a:off x="4828032" y="1325880"/>
            <a:ext cx="475488" cy="475488"/>
          </a:xfrm>
          <a:prstGeom prst="rect">
            <a:avLst/>
          </a:prstGeom>
          <a:noFill/>
          <a:ln/>
        </p:spPr>
        <p:txBody>
          <a:bodyPr wrap="square" lIns="0" tIns="0" rIns="0" bIns="0" rtlCol="0" anchor="ctr"/>
          <a:lstStyle/>
          <a:p>
            <a:pPr algn="ctr" indent="0" marL="0">
              <a:buNone/>
            </a:pPr>
            <a:r>
              <a:rPr lang="en-US" sz="2000" b="1" dirty="0">
                <a:solidFill>
                  <a:srgbClr val="141A2E"/>
                </a:solidFill>
                <a:latin typeface="Arial" pitchFamily="34" charset="0"/>
                <a:ea typeface="Arial" pitchFamily="34" charset="-122"/>
                <a:cs typeface="Arial" pitchFamily="34" charset="-120"/>
              </a:rPr>
              <a:t>2</a:t>
            </a:r>
            <a:endParaRPr lang="en-US" sz="2000" dirty="0"/>
          </a:p>
        </p:txBody>
      </p:sp>
      <p:sp>
        <p:nvSpPr>
          <p:cNvPr id="12" name="Text 10"/>
          <p:cNvSpPr/>
          <p:nvPr/>
        </p:nvSpPr>
        <p:spPr>
          <a:xfrm>
            <a:off x="5468112" y="1207008"/>
            <a:ext cx="3035808" cy="320040"/>
          </a:xfrm>
          <a:prstGeom prst="rect">
            <a:avLst/>
          </a:prstGeom>
          <a:noFill/>
          <a:ln/>
        </p:spPr>
        <p:txBody>
          <a:bodyPr wrap="square" lIns="0" tIns="0" rIns="0" bIns="0" rtlCol="0" anchor="ctr"/>
          <a:lstStyle/>
          <a:p>
            <a:pPr indent="0" marL="0">
              <a:buNone/>
            </a:pPr>
            <a:r>
              <a:rPr lang="en-US" sz="1550" b="1" dirty="0">
                <a:solidFill>
                  <a:srgbClr val="EEF2FF"/>
                </a:solidFill>
                <a:latin typeface="Arial" pitchFamily="34" charset="0"/>
                <a:ea typeface="Arial" pitchFamily="34" charset="-122"/>
                <a:cs typeface="Arial" pitchFamily="34" charset="-120"/>
              </a:rPr>
              <a:t>Gestion de projet</a:t>
            </a:r>
            <a:endParaRPr lang="en-US" sz="1550" dirty="0"/>
          </a:p>
        </p:txBody>
      </p:sp>
      <p:sp>
        <p:nvSpPr>
          <p:cNvPr id="13" name="Text 11"/>
          <p:cNvSpPr/>
          <p:nvPr/>
        </p:nvSpPr>
        <p:spPr>
          <a:xfrm>
            <a:off x="5468112" y="1563624"/>
            <a:ext cx="3035808" cy="384048"/>
          </a:xfrm>
          <a:prstGeom prst="rect">
            <a:avLst/>
          </a:prstGeom>
          <a:noFill/>
          <a:ln/>
        </p:spPr>
        <p:txBody>
          <a:bodyPr wrap="square" lIns="0" tIns="0" rIns="0" bIns="0" rtlCol="0" anchor="ctr"/>
          <a:lstStyle/>
          <a:p>
            <a:pPr indent="0" marL="0">
              <a:buNone/>
            </a:pPr>
            <a:r>
              <a:rPr lang="en-US" sz="1150" dirty="0">
                <a:solidFill>
                  <a:srgbClr val="9AA7CC"/>
                </a:solidFill>
                <a:latin typeface="Arial" pitchFamily="34" charset="0"/>
                <a:ea typeface="Arial" pitchFamily="34" charset="-122"/>
                <a:cs typeface="Arial" pitchFamily="34" charset="-120"/>
              </a:rPr>
              <a:t>jalons, binôme, Git</a:t>
            </a:r>
            <a:endParaRPr lang="en-US" sz="1150" dirty="0"/>
          </a:p>
        </p:txBody>
      </p:sp>
      <p:sp>
        <p:nvSpPr>
          <p:cNvPr id="14" name="Shape 12"/>
          <p:cNvSpPr/>
          <p:nvPr/>
        </p:nvSpPr>
        <p:spPr>
          <a:xfrm>
            <a:off x="502920" y="2258568"/>
            <a:ext cx="3977640" cy="1024128"/>
          </a:xfrm>
          <a:prstGeom prst="roundRect">
            <a:avLst>
              <a:gd name="adj" fmla="val 625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5" name="Shape 13"/>
          <p:cNvSpPr/>
          <p:nvPr/>
        </p:nvSpPr>
        <p:spPr>
          <a:xfrm>
            <a:off x="667512" y="2532888"/>
            <a:ext cx="475488" cy="475488"/>
          </a:xfrm>
          <a:prstGeom prst="ellipse">
            <a:avLst/>
          </a:prstGeom>
          <a:solidFill>
            <a:srgbClr val="FFD166"/>
          </a:solidFill>
          <a:ln/>
        </p:spPr>
      </p:sp>
      <p:sp>
        <p:nvSpPr>
          <p:cNvPr id="16" name="Text 14"/>
          <p:cNvSpPr/>
          <p:nvPr/>
        </p:nvSpPr>
        <p:spPr>
          <a:xfrm>
            <a:off x="667512" y="2532888"/>
            <a:ext cx="475488" cy="475488"/>
          </a:xfrm>
          <a:prstGeom prst="rect">
            <a:avLst/>
          </a:prstGeom>
          <a:noFill/>
          <a:ln/>
        </p:spPr>
        <p:txBody>
          <a:bodyPr wrap="square" lIns="0" tIns="0" rIns="0" bIns="0" rtlCol="0" anchor="ctr"/>
          <a:lstStyle/>
          <a:p>
            <a:pPr algn="ctr" indent="0" marL="0">
              <a:buNone/>
            </a:pPr>
            <a:r>
              <a:rPr lang="en-US" sz="2000" b="1" dirty="0">
                <a:solidFill>
                  <a:srgbClr val="141A2E"/>
                </a:solidFill>
                <a:latin typeface="Arial" pitchFamily="34" charset="0"/>
                <a:ea typeface="Arial" pitchFamily="34" charset="-122"/>
                <a:cs typeface="Arial" pitchFamily="34" charset="-120"/>
              </a:rPr>
              <a:t>3</a:t>
            </a:r>
            <a:endParaRPr lang="en-US" sz="2000" dirty="0"/>
          </a:p>
        </p:txBody>
      </p:sp>
      <p:sp>
        <p:nvSpPr>
          <p:cNvPr id="17" name="Text 15"/>
          <p:cNvSpPr/>
          <p:nvPr/>
        </p:nvSpPr>
        <p:spPr>
          <a:xfrm>
            <a:off x="1307592" y="2414016"/>
            <a:ext cx="3035808" cy="320040"/>
          </a:xfrm>
          <a:prstGeom prst="rect">
            <a:avLst/>
          </a:prstGeom>
          <a:noFill/>
          <a:ln/>
        </p:spPr>
        <p:txBody>
          <a:bodyPr wrap="square" lIns="0" tIns="0" rIns="0" bIns="0" rtlCol="0" anchor="ctr"/>
          <a:lstStyle/>
          <a:p>
            <a:pPr indent="0" marL="0">
              <a:buNone/>
            </a:pPr>
            <a:r>
              <a:rPr lang="en-US" sz="1550" b="1" dirty="0">
                <a:solidFill>
                  <a:srgbClr val="EEF2FF"/>
                </a:solidFill>
                <a:latin typeface="Arial" pitchFamily="34" charset="0"/>
                <a:ea typeface="Arial" pitchFamily="34" charset="-122"/>
                <a:cs typeface="Arial" pitchFamily="34" charset="-120"/>
              </a:rPr>
              <a:t>Conception</a:t>
            </a:r>
            <a:endParaRPr lang="en-US" sz="1550" dirty="0"/>
          </a:p>
        </p:txBody>
      </p:sp>
      <p:sp>
        <p:nvSpPr>
          <p:cNvPr id="18" name="Text 16"/>
          <p:cNvSpPr/>
          <p:nvPr/>
        </p:nvSpPr>
        <p:spPr>
          <a:xfrm>
            <a:off x="1307592" y="2770632"/>
            <a:ext cx="3035808" cy="384048"/>
          </a:xfrm>
          <a:prstGeom prst="rect">
            <a:avLst/>
          </a:prstGeom>
          <a:noFill/>
          <a:ln/>
        </p:spPr>
        <p:txBody>
          <a:bodyPr wrap="square" lIns="0" tIns="0" rIns="0" bIns="0" rtlCol="0" anchor="ctr"/>
          <a:lstStyle/>
          <a:p>
            <a:pPr indent="0" marL="0">
              <a:buNone/>
            </a:pPr>
            <a:r>
              <a:rPr lang="en-US" sz="1150" dirty="0">
                <a:solidFill>
                  <a:srgbClr val="9AA7CC"/>
                </a:solidFill>
                <a:latin typeface="Arial" pitchFamily="34" charset="0"/>
                <a:ea typeface="Arial" pitchFamily="34" charset="-122"/>
                <a:cs typeface="Arial" pitchFamily="34" charset="-120"/>
              </a:rPr>
              <a:t>architecture, données, contrat d'API</a:t>
            </a:r>
            <a:endParaRPr lang="en-US" sz="1150" dirty="0"/>
          </a:p>
        </p:txBody>
      </p:sp>
      <p:sp>
        <p:nvSpPr>
          <p:cNvPr id="19" name="Shape 17"/>
          <p:cNvSpPr/>
          <p:nvPr/>
        </p:nvSpPr>
        <p:spPr>
          <a:xfrm>
            <a:off x="4663440" y="2258568"/>
            <a:ext cx="3977640" cy="1024128"/>
          </a:xfrm>
          <a:prstGeom prst="roundRect">
            <a:avLst>
              <a:gd name="adj" fmla="val 625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20" name="Shape 18"/>
          <p:cNvSpPr/>
          <p:nvPr/>
        </p:nvSpPr>
        <p:spPr>
          <a:xfrm>
            <a:off x="4828032" y="2532888"/>
            <a:ext cx="475488" cy="475488"/>
          </a:xfrm>
          <a:prstGeom prst="ellipse">
            <a:avLst/>
          </a:prstGeom>
          <a:solidFill>
            <a:srgbClr val="FFD166"/>
          </a:solidFill>
          <a:ln/>
        </p:spPr>
      </p:sp>
      <p:sp>
        <p:nvSpPr>
          <p:cNvPr id="21" name="Text 19"/>
          <p:cNvSpPr/>
          <p:nvPr/>
        </p:nvSpPr>
        <p:spPr>
          <a:xfrm>
            <a:off x="4828032" y="2532888"/>
            <a:ext cx="475488" cy="475488"/>
          </a:xfrm>
          <a:prstGeom prst="rect">
            <a:avLst/>
          </a:prstGeom>
          <a:noFill/>
          <a:ln/>
        </p:spPr>
        <p:txBody>
          <a:bodyPr wrap="square" lIns="0" tIns="0" rIns="0" bIns="0" rtlCol="0" anchor="ctr"/>
          <a:lstStyle/>
          <a:p>
            <a:pPr algn="ctr" indent="0" marL="0">
              <a:buNone/>
            </a:pPr>
            <a:r>
              <a:rPr lang="en-US" sz="2000" b="1" dirty="0">
                <a:solidFill>
                  <a:srgbClr val="141A2E"/>
                </a:solidFill>
                <a:latin typeface="Arial" pitchFamily="34" charset="0"/>
                <a:ea typeface="Arial" pitchFamily="34" charset="-122"/>
                <a:cs typeface="Arial" pitchFamily="34" charset="-120"/>
              </a:rPr>
              <a:t>4</a:t>
            </a:r>
            <a:endParaRPr lang="en-US" sz="2000" dirty="0"/>
          </a:p>
        </p:txBody>
      </p:sp>
      <p:sp>
        <p:nvSpPr>
          <p:cNvPr id="22" name="Text 20"/>
          <p:cNvSpPr/>
          <p:nvPr/>
        </p:nvSpPr>
        <p:spPr>
          <a:xfrm>
            <a:off x="5468112" y="2414016"/>
            <a:ext cx="3035808" cy="320040"/>
          </a:xfrm>
          <a:prstGeom prst="rect">
            <a:avLst/>
          </a:prstGeom>
          <a:noFill/>
          <a:ln/>
        </p:spPr>
        <p:txBody>
          <a:bodyPr wrap="square" lIns="0" tIns="0" rIns="0" bIns="0" rtlCol="0" anchor="ctr"/>
          <a:lstStyle/>
          <a:p>
            <a:pPr indent="0" marL="0">
              <a:buNone/>
            </a:pPr>
            <a:r>
              <a:rPr lang="en-US" sz="1550" b="1" dirty="0">
                <a:solidFill>
                  <a:srgbClr val="EEF2FF"/>
                </a:solidFill>
                <a:latin typeface="Arial" pitchFamily="34" charset="0"/>
                <a:ea typeface="Arial" pitchFamily="34" charset="-122"/>
                <a:cs typeface="Arial" pitchFamily="34" charset="-120"/>
              </a:rPr>
              <a:t>Réalisation</a:t>
            </a:r>
            <a:endParaRPr lang="en-US" sz="1550" dirty="0"/>
          </a:p>
        </p:txBody>
      </p:sp>
      <p:sp>
        <p:nvSpPr>
          <p:cNvPr id="23" name="Text 21"/>
          <p:cNvSpPr/>
          <p:nvPr/>
        </p:nvSpPr>
        <p:spPr>
          <a:xfrm>
            <a:off x="5468112" y="2770632"/>
            <a:ext cx="3035808" cy="384048"/>
          </a:xfrm>
          <a:prstGeom prst="rect">
            <a:avLst/>
          </a:prstGeom>
          <a:noFill/>
          <a:ln/>
        </p:spPr>
        <p:txBody>
          <a:bodyPr wrap="square" lIns="0" tIns="0" rIns="0" bIns="0" rtlCol="0" anchor="ctr"/>
          <a:lstStyle/>
          <a:p>
            <a:pPr indent="0" marL="0">
              <a:buNone/>
            </a:pPr>
            <a:r>
              <a:rPr lang="en-US" sz="1150" dirty="0">
                <a:solidFill>
                  <a:srgbClr val="9AA7CC"/>
                </a:solidFill>
                <a:latin typeface="Arial" pitchFamily="34" charset="0"/>
                <a:ea typeface="Arial" pitchFamily="34" charset="-122"/>
                <a:cs typeface="Arial" pitchFamily="34" charset="-120"/>
              </a:rPr>
              <a:t>moteur de jeu, client JavaFX, difficultés</a:t>
            </a:r>
            <a:endParaRPr lang="en-US" sz="1150" dirty="0"/>
          </a:p>
        </p:txBody>
      </p:sp>
      <p:sp>
        <p:nvSpPr>
          <p:cNvPr id="24" name="Shape 22"/>
          <p:cNvSpPr/>
          <p:nvPr/>
        </p:nvSpPr>
        <p:spPr>
          <a:xfrm>
            <a:off x="502920" y="3465576"/>
            <a:ext cx="3977640" cy="1024128"/>
          </a:xfrm>
          <a:prstGeom prst="roundRect">
            <a:avLst>
              <a:gd name="adj" fmla="val 625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25" name="Shape 23"/>
          <p:cNvSpPr/>
          <p:nvPr/>
        </p:nvSpPr>
        <p:spPr>
          <a:xfrm>
            <a:off x="667512" y="3739896"/>
            <a:ext cx="475488" cy="475488"/>
          </a:xfrm>
          <a:prstGeom prst="ellipse">
            <a:avLst/>
          </a:prstGeom>
          <a:solidFill>
            <a:srgbClr val="FFD166"/>
          </a:solidFill>
          <a:ln/>
        </p:spPr>
      </p:sp>
      <p:sp>
        <p:nvSpPr>
          <p:cNvPr id="26" name="Text 24"/>
          <p:cNvSpPr/>
          <p:nvPr/>
        </p:nvSpPr>
        <p:spPr>
          <a:xfrm>
            <a:off x="667512" y="3739896"/>
            <a:ext cx="475488" cy="475488"/>
          </a:xfrm>
          <a:prstGeom prst="rect">
            <a:avLst/>
          </a:prstGeom>
          <a:noFill/>
          <a:ln/>
        </p:spPr>
        <p:txBody>
          <a:bodyPr wrap="square" lIns="0" tIns="0" rIns="0" bIns="0" rtlCol="0" anchor="ctr"/>
          <a:lstStyle/>
          <a:p>
            <a:pPr algn="ctr" indent="0" marL="0">
              <a:buNone/>
            </a:pPr>
            <a:r>
              <a:rPr lang="en-US" sz="2000" b="1" dirty="0">
                <a:solidFill>
                  <a:srgbClr val="141A2E"/>
                </a:solidFill>
                <a:latin typeface="Arial" pitchFamily="34" charset="0"/>
                <a:ea typeface="Arial" pitchFamily="34" charset="-122"/>
                <a:cs typeface="Arial" pitchFamily="34" charset="-120"/>
              </a:rPr>
              <a:t>5</a:t>
            </a:r>
            <a:endParaRPr lang="en-US" sz="2000" dirty="0"/>
          </a:p>
        </p:txBody>
      </p:sp>
      <p:sp>
        <p:nvSpPr>
          <p:cNvPr id="27" name="Text 25"/>
          <p:cNvSpPr/>
          <p:nvPr/>
        </p:nvSpPr>
        <p:spPr>
          <a:xfrm>
            <a:off x="1307592" y="3621024"/>
            <a:ext cx="3035808" cy="320040"/>
          </a:xfrm>
          <a:prstGeom prst="rect">
            <a:avLst/>
          </a:prstGeom>
          <a:noFill/>
          <a:ln/>
        </p:spPr>
        <p:txBody>
          <a:bodyPr wrap="square" lIns="0" tIns="0" rIns="0" bIns="0" rtlCol="0" anchor="ctr"/>
          <a:lstStyle/>
          <a:p>
            <a:pPr indent="0" marL="0">
              <a:buNone/>
            </a:pPr>
            <a:r>
              <a:rPr lang="en-US" sz="1550" b="1" dirty="0">
                <a:solidFill>
                  <a:srgbClr val="EEF2FF"/>
                </a:solidFill>
                <a:latin typeface="Arial" pitchFamily="34" charset="0"/>
                <a:ea typeface="Arial" pitchFamily="34" charset="-122"/>
                <a:cs typeface="Arial" pitchFamily="34" charset="-120"/>
              </a:rPr>
              <a:t>Validation &amp; déploiement</a:t>
            </a:r>
            <a:endParaRPr lang="en-US" sz="1550" dirty="0"/>
          </a:p>
        </p:txBody>
      </p:sp>
      <p:sp>
        <p:nvSpPr>
          <p:cNvPr id="28" name="Text 26"/>
          <p:cNvSpPr/>
          <p:nvPr/>
        </p:nvSpPr>
        <p:spPr>
          <a:xfrm>
            <a:off x="1307592" y="3977640"/>
            <a:ext cx="3035808" cy="384048"/>
          </a:xfrm>
          <a:prstGeom prst="rect">
            <a:avLst/>
          </a:prstGeom>
          <a:noFill/>
          <a:ln/>
        </p:spPr>
        <p:txBody>
          <a:bodyPr wrap="square" lIns="0" tIns="0" rIns="0" bIns="0" rtlCol="0" anchor="ctr"/>
          <a:lstStyle/>
          <a:p>
            <a:pPr indent="0" marL="0">
              <a:buNone/>
            </a:pPr>
            <a:r>
              <a:rPr lang="en-US" sz="1150" dirty="0">
                <a:solidFill>
                  <a:srgbClr val="9AA7CC"/>
                </a:solidFill>
                <a:latin typeface="Arial" pitchFamily="34" charset="0"/>
                <a:ea typeface="Arial" pitchFamily="34" charset="-122"/>
                <a:cs typeface="Arial" pitchFamily="34" charset="-120"/>
              </a:rPr>
              <a:t>tests automatisés, Docker</a:t>
            </a:r>
            <a:endParaRPr lang="en-US" sz="1150" dirty="0"/>
          </a:p>
        </p:txBody>
      </p:sp>
      <p:sp>
        <p:nvSpPr>
          <p:cNvPr id="29" name="Shape 27"/>
          <p:cNvSpPr/>
          <p:nvPr/>
        </p:nvSpPr>
        <p:spPr>
          <a:xfrm>
            <a:off x="4663440" y="3465576"/>
            <a:ext cx="3977640" cy="1024128"/>
          </a:xfrm>
          <a:prstGeom prst="roundRect">
            <a:avLst>
              <a:gd name="adj" fmla="val 625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30" name="Shape 28"/>
          <p:cNvSpPr/>
          <p:nvPr/>
        </p:nvSpPr>
        <p:spPr>
          <a:xfrm>
            <a:off x="4828032" y="3739896"/>
            <a:ext cx="475488" cy="475488"/>
          </a:xfrm>
          <a:prstGeom prst="ellipse">
            <a:avLst/>
          </a:prstGeom>
          <a:solidFill>
            <a:srgbClr val="FFD166"/>
          </a:solidFill>
          <a:ln/>
        </p:spPr>
      </p:sp>
      <p:sp>
        <p:nvSpPr>
          <p:cNvPr id="31" name="Text 29"/>
          <p:cNvSpPr/>
          <p:nvPr/>
        </p:nvSpPr>
        <p:spPr>
          <a:xfrm>
            <a:off x="4828032" y="3739896"/>
            <a:ext cx="475488" cy="475488"/>
          </a:xfrm>
          <a:prstGeom prst="rect">
            <a:avLst/>
          </a:prstGeom>
          <a:noFill/>
          <a:ln/>
        </p:spPr>
        <p:txBody>
          <a:bodyPr wrap="square" lIns="0" tIns="0" rIns="0" bIns="0" rtlCol="0" anchor="ctr"/>
          <a:lstStyle/>
          <a:p>
            <a:pPr algn="ctr" indent="0" marL="0">
              <a:buNone/>
            </a:pPr>
            <a:r>
              <a:rPr lang="en-US" sz="2000" b="1" dirty="0">
                <a:solidFill>
                  <a:srgbClr val="141A2E"/>
                </a:solidFill>
                <a:latin typeface="Arial" pitchFamily="34" charset="0"/>
                <a:ea typeface="Arial" pitchFamily="34" charset="-122"/>
                <a:cs typeface="Arial" pitchFamily="34" charset="-120"/>
              </a:rPr>
              <a:t>6</a:t>
            </a:r>
            <a:endParaRPr lang="en-US" sz="2000" dirty="0"/>
          </a:p>
        </p:txBody>
      </p:sp>
      <p:sp>
        <p:nvSpPr>
          <p:cNvPr id="32" name="Text 30"/>
          <p:cNvSpPr/>
          <p:nvPr/>
        </p:nvSpPr>
        <p:spPr>
          <a:xfrm>
            <a:off x="5468112" y="3621024"/>
            <a:ext cx="3035808" cy="320040"/>
          </a:xfrm>
          <a:prstGeom prst="rect">
            <a:avLst/>
          </a:prstGeom>
          <a:noFill/>
          <a:ln/>
        </p:spPr>
        <p:txBody>
          <a:bodyPr wrap="square" lIns="0" tIns="0" rIns="0" bIns="0" rtlCol="0" anchor="ctr"/>
          <a:lstStyle/>
          <a:p>
            <a:pPr indent="0" marL="0">
              <a:buNone/>
            </a:pPr>
            <a:r>
              <a:rPr lang="en-US" sz="1550" b="1" dirty="0">
                <a:solidFill>
                  <a:srgbClr val="EEF2FF"/>
                </a:solidFill>
                <a:latin typeface="Arial" pitchFamily="34" charset="0"/>
                <a:ea typeface="Arial" pitchFamily="34" charset="-122"/>
                <a:cs typeface="Arial" pitchFamily="34" charset="-120"/>
              </a:rPr>
              <a:t>Démonstration &amp; conclusion</a:t>
            </a:r>
            <a:endParaRPr lang="en-US" sz="1550" dirty="0"/>
          </a:p>
        </p:txBody>
      </p:sp>
      <p:sp>
        <p:nvSpPr>
          <p:cNvPr id="33" name="Text 31"/>
          <p:cNvSpPr/>
          <p:nvPr/>
        </p:nvSpPr>
        <p:spPr>
          <a:xfrm>
            <a:off x="5468112" y="3977640"/>
            <a:ext cx="3035808" cy="384048"/>
          </a:xfrm>
          <a:prstGeom prst="rect">
            <a:avLst/>
          </a:prstGeom>
          <a:noFill/>
          <a:ln/>
        </p:spPr>
        <p:txBody>
          <a:bodyPr wrap="square" lIns="0" tIns="0" rIns="0" bIns="0" rtlCol="0" anchor="ctr"/>
          <a:lstStyle/>
          <a:p>
            <a:pPr indent="0" marL="0">
              <a:buNone/>
            </a:pPr>
            <a:r>
              <a:rPr lang="en-US" sz="1150" dirty="0">
                <a:solidFill>
                  <a:srgbClr val="9AA7CC"/>
                </a:solidFill>
                <a:latin typeface="Arial" pitchFamily="34" charset="0"/>
                <a:ea typeface="Arial" pitchFamily="34" charset="-122"/>
                <a:cs typeface="Arial" pitchFamily="34" charset="-120"/>
              </a:rPr>
              <a:t>partie en direct, bilan, perspectives</a:t>
            </a:r>
            <a:endParaRPr lang="en-US" sz="1150" dirty="0"/>
          </a:p>
        </p:txBody>
      </p:sp>
      <p:sp>
        <p:nvSpPr>
          <p:cNvPr id="34" name="Text 32"/>
          <p:cNvSpPr/>
          <p:nvPr/>
        </p:nvSpPr>
        <p:spPr>
          <a:xfrm>
            <a:off x="502920" y="4736592"/>
            <a:ext cx="8138160" cy="292608"/>
          </a:xfrm>
          <a:prstGeom prst="rect">
            <a:avLst/>
          </a:prstGeom>
          <a:noFill/>
          <a:ln/>
        </p:spPr>
        <p:txBody>
          <a:bodyPr wrap="square" lIns="0" tIns="0" rIns="0" bIns="0" rtlCol="0" anchor="ctr"/>
          <a:lstStyle/>
          <a:p>
            <a:pPr algn="ctr" indent="0" marL="0">
              <a:buNone/>
            </a:pPr>
            <a:r>
              <a:rPr lang="en-US" sz="1200" i="1" dirty="0">
                <a:solidFill>
                  <a:srgbClr val="9AA7CC"/>
                </a:solidFill>
                <a:latin typeface="Arial" pitchFamily="34" charset="0"/>
                <a:ea typeface="Arial" pitchFamily="34" charset="-122"/>
                <a:cs typeface="Arial" pitchFamily="34" charset="-120"/>
              </a:rPr>
              <a:t>≈ 15 minutes de présentation, puis démonstration en direct et questions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3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1 · Introduction</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Contexte et problématique</a:t>
            </a:r>
            <a:endParaRPr lang="en-US" sz="2700" dirty="0"/>
          </a:p>
        </p:txBody>
      </p:sp>
      <p:sp>
        <p:nvSpPr>
          <p:cNvPr id="5" name="Shape 3"/>
          <p:cNvSpPr/>
          <p:nvPr/>
        </p:nvSpPr>
        <p:spPr>
          <a:xfrm>
            <a:off x="502920" y="1005840"/>
            <a:ext cx="4023360" cy="3566160"/>
          </a:xfrm>
          <a:prstGeom prst="roundRect">
            <a:avLst>
              <a:gd name="adj" fmla="val 1795"/>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6" name="Shape 4"/>
          <p:cNvSpPr/>
          <p:nvPr/>
        </p:nvSpPr>
        <p:spPr>
          <a:xfrm>
            <a:off x="685800" y="1170432"/>
            <a:ext cx="402336" cy="402336"/>
          </a:xfrm>
          <a:prstGeom prst="ellipse">
            <a:avLst/>
          </a:prstGeom>
          <a:solidFill>
            <a:srgbClr val="3D7BFD"/>
          </a:solidFill>
          <a:ln/>
        </p:spPr>
      </p:sp>
      <p:pic>
        <p:nvPicPr>
          <p:cNvPr id="7" name="Image 0" descr="preencoded.png">    </p:cNvPr>
          <p:cNvPicPr>
            <a:picLocks noChangeAspect="1"/>
          </p:cNvPicPr>
          <p:nvPr/>
        </p:nvPicPr>
        <p:blipFill>
          <a:blip r:embed="rId1"/>
          <a:stretch>
            <a:fillRect/>
          </a:stretch>
        </p:blipFill>
        <p:spPr>
          <a:xfrm>
            <a:off x="778337" y="1262969"/>
            <a:ext cx="217261" cy="217261"/>
          </a:xfrm>
          <a:prstGeom prst="rect">
            <a:avLst/>
          </a:prstGeom>
        </p:spPr>
      </p:pic>
      <p:sp>
        <p:nvSpPr>
          <p:cNvPr id="8" name="Text 5"/>
          <p:cNvSpPr/>
          <p:nvPr/>
        </p:nvSpPr>
        <p:spPr>
          <a:xfrm>
            <a:off x="1207008" y="1207008"/>
            <a:ext cx="3108960" cy="320040"/>
          </a:xfrm>
          <a:prstGeom prst="rect">
            <a:avLst/>
          </a:prstGeom>
          <a:noFill/>
          <a:ln/>
        </p:spPr>
        <p:txBody>
          <a:bodyPr wrap="square" lIns="0" tIns="0" rIns="0" bIns="0" rtlCol="0" anchor="ctr"/>
          <a:lstStyle/>
          <a:p>
            <a:pPr indent="0" marL="0">
              <a:buNone/>
            </a:pPr>
            <a:r>
              <a:rPr lang="en-US" sz="1500" b="1" dirty="0">
                <a:solidFill>
                  <a:srgbClr val="EEF2FF"/>
                </a:solidFill>
                <a:latin typeface="Arial" pitchFamily="34" charset="0"/>
                <a:ea typeface="Arial" pitchFamily="34" charset="-122"/>
                <a:cs typeface="Arial" pitchFamily="34" charset="-120"/>
              </a:rPr>
              <a:t>Le contexte</a:t>
            </a:r>
            <a:endParaRPr lang="en-US" sz="1500" dirty="0"/>
          </a:p>
        </p:txBody>
      </p:sp>
      <p:sp>
        <p:nvSpPr>
          <p:cNvPr id="9" name="Text 6"/>
          <p:cNvSpPr/>
          <p:nvPr/>
        </p:nvSpPr>
        <p:spPr>
          <a:xfrm>
            <a:off x="749808" y="1700784"/>
            <a:ext cx="3566160" cy="274320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EEF2FF"/>
                </a:solidFill>
                <a:latin typeface="Arial" pitchFamily="34" charset="0"/>
                <a:ea typeface="Arial" pitchFamily="34" charset="-122"/>
                <a:cs typeface="Arial" pitchFamily="34" charset="-120"/>
              </a:rPr>
              <a:t>Sujet : concevoir et livrer un jeu multijoueur complet, en binôme</a:t>
            </a:r>
            <a:endParaRPr lang="en-US" sz="1250" dirty="0"/>
          </a:p>
          <a:p>
            <a:pPr marL="342900" indent="-342900">
              <a:spcAft>
                <a:spcPts val="1000"/>
              </a:spcAft>
              <a:buSzPct val="100000"/>
              <a:buChar char="•"/>
            </a:pPr>
            <a:r>
              <a:rPr lang="en-US" sz="1250" dirty="0">
                <a:solidFill>
                  <a:srgbClr val="EEF2FF"/>
                </a:solidFill>
                <a:latin typeface="Arial" pitchFamily="34" charset="0"/>
                <a:ea typeface="Arial" pitchFamily="34" charset="-122"/>
                <a:cs typeface="Arial" pitchFamily="34" charset="-120"/>
              </a:rPr>
              <a:t>Trois concepts proposés : quiz battle royale, jeu de plateau, bingo</a:t>
            </a:r>
            <a:endParaRPr lang="en-US" sz="1250" dirty="0"/>
          </a:p>
          <a:p>
            <a:pPr marL="342900" indent="-342900">
              <a:spcAft>
                <a:spcPts val="1000"/>
              </a:spcAft>
              <a:buSzPct val="100000"/>
              <a:buChar char="•"/>
            </a:pPr>
            <a:r>
              <a:rPr lang="en-US" sz="1250" dirty="0">
                <a:solidFill>
                  <a:srgbClr val="EEF2FF"/>
                </a:solidFill>
                <a:latin typeface="Arial" pitchFamily="34" charset="0"/>
                <a:ea typeface="Arial" pitchFamily="34" charset="-122"/>
                <a:cs typeface="Arial" pitchFamily="34" charset="-120"/>
              </a:rPr>
              <a:t>Notre choix : le quiz battle royale — synchrone, direct à prototyper, riche fonctionnellement</a:t>
            </a:r>
            <a:endParaRPr lang="en-US" sz="1250" dirty="0"/>
          </a:p>
          <a:p>
            <a:pPr marL="342900" indent="-342900">
              <a:spcAft>
                <a:spcPts val="1000"/>
              </a:spcAft>
              <a:buSzPct val="100000"/>
              <a:buChar char="•"/>
            </a:pPr>
            <a:r>
              <a:rPr lang="en-US" sz="1250" dirty="0">
                <a:solidFill>
                  <a:srgbClr val="EEF2FF"/>
                </a:solidFill>
                <a:latin typeface="Arial" pitchFamily="34" charset="0"/>
                <a:ea typeface="Arial" pitchFamily="34" charset="-122"/>
                <a:cs typeface="Arial" pitchFamily="34" charset="-120"/>
              </a:rPr>
              <a:t>Cible : étudiants et joueurs occasionnels, parties de 5 à 12 minutes</a:t>
            </a:r>
            <a:endParaRPr lang="en-US" sz="1250" dirty="0"/>
          </a:p>
        </p:txBody>
      </p:sp>
      <p:sp>
        <p:nvSpPr>
          <p:cNvPr id="10" name="Shape 7"/>
          <p:cNvSpPr/>
          <p:nvPr/>
        </p:nvSpPr>
        <p:spPr>
          <a:xfrm>
            <a:off x="4754880" y="1005840"/>
            <a:ext cx="3886200" cy="2103120"/>
          </a:xfrm>
          <a:prstGeom prst="roundRect">
            <a:avLst>
              <a:gd name="adj" fmla="val 3043"/>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1" name="Shape 8"/>
          <p:cNvSpPr/>
          <p:nvPr/>
        </p:nvSpPr>
        <p:spPr>
          <a:xfrm>
            <a:off x="4937760" y="1170432"/>
            <a:ext cx="402336" cy="402336"/>
          </a:xfrm>
          <a:prstGeom prst="ellipse">
            <a:avLst/>
          </a:prstGeom>
          <a:solidFill>
            <a:srgbClr val="FFD166"/>
          </a:solidFill>
          <a:ln/>
        </p:spPr>
      </p:sp>
      <p:pic>
        <p:nvPicPr>
          <p:cNvPr id="12" name="Image 1" descr="preencoded.png">    </p:cNvPr>
          <p:cNvPicPr>
            <a:picLocks noChangeAspect="1"/>
          </p:cNvPicPr>
          <p:nvPr/>
        </p:nvPicPr>
        <p:blipFill>
          <a:blip r:embed="rId2"/>
          <a:stretch>
            <a:fillRect/>
          </a:stretch>
        </p:blipFill>
        <p:spPr>
          <a:xfrm>
            <a:off x="5030297" y="1262969"/>
            <a:ext cx="217261" cy="217261"/>
          </a:xfrm>
          <a:prstGeom prst="rect">
            <a:avLst/>
          </a:prstGeom>
        </p:spPr>
      </p:pic>
      <p:sp>
        <p:nvSpPr>
          <p:cNvPr id="13" name="Text 9"/>
          <p:cNvSpPr/>
          <p:nvPr/>
        </p:nvSpPr>
        <p:spPr>
          <a:xfrm>
            <a:off x="5458968" y="1207008"/>
            <a:ext cx="3017520" cy="320040"/>
          </a:xfrm>
          <a:prstGeom prst="rect">
            <a:avLst/>
          </a:prstGeom>
          <a:noFill/>
          <a:ln/>
        </p:spPr>
        <p:txBody>
          <a:bodyPr wrap="square" lIns="0" tIns="0" rIns="0" bIns="0" rtlCol="0" anchor="ctr"/>
          <a:lstStyle/>
          <a:p>
            <a:pPr indent="0" marL="0">
              <a:buNone/>
            </a:pPr>
            <a:r>
              <a:rPr lang="en-US" sz="1500" b="1" dirty="0">
                <a:solidFill>
                  <a:srgbClr val="FFD166"/>
                </a:solidFill>
                <a:latin typeface="Arial" pitchFamily="34" charset="0"/>
                <a:ea typeface="Arial" pitchFamily="34" charset="-122"/>
                <a:cs typeface="Arial" pitchFamily="34" charset="-120"/>
              </a:rPr>
              <a:t>La problématique</a:t>
            </a:r>
            <a:endParaRPr lang="en-US" sz="1500" dirty="0"/>
          </a:p>
        </p:txBody>
      </p:sp>
      <p:sp>
        <p:nvSpPr>
          <p:cNvPr id="14" name="Text 10"/>
          <p:cNvSpPr/>
          <p:nvPr/>
        </p:nvSpPr>
        <p:spPr>
          <a:xfrm>
            <a:off x="4983480" y="1691640"/>
            <a:ext cx="3429000" cy="1280160"/>
          </a:xfrm>
          <a:prstGeom prst="rect">
            <a:avLst/>
          </a:prstGeom>
          <a:noFill/>
          <a:ln/>
        </p:spPr>
        <p:txBody>
          <a:bodyPr wrap="square" lIns="0" tIns="0" rIns="0" bIns="0" rtlCol="0" anchor="ctr"/>
          <a:lstStyle/>
          <a:p>
            <a:pPr indent="0" marL="0">
              <a:buNone/>
            </a:pPr>
            <a:r>
              <a:rPr lang="en-US" sz="1400" dirty="0">
                <a:solidFill>
                  <a:srgbClr val="EEF2FF"/>
                </a:solidFill>
                <a:latin typeface="Arial" pitchFamily="34" charset="0"/>
                <a:ea typeface="Arial" pitchFamily="34" charset="-122"/>
                <a:cs typeface="Arial" pitchFamily="34" charset="-120"/>
              </a:rPr>
              <a:t>Comment garantir une partie équitable et parfaitement synchronisée entre 2 et 8 joueurs…</a:t>
            </a:r>
            <a:endParaRPr lang="en-US" sz="1400" dirty="0"/>
          </a:p>
          <a:p>
            <a:pPr indent="0" marL="0">
              <a:buNone/>
            </a:pPr>
            <a:r>
              <a:rPr lang="en-US" sz="1400" dirty="0">
                <a:solidFill>
                  <a:srgbClr val="EEF2FF"/>
                </a:solidFill>
                <a:latin typeface="Arial" pitchFamily="34" charset="0"/>
                <a:ea typeface="Arial" pitchFamily="34" charset="-122"/>
                <a:cs typeface="Arial" pitchFamily="34" charset="-120"/>
              </a:rPr>
              <a:t>sans temps réel WebSocket, avec un simple polling HTTP ?</a:t>
            </a:r>
            <a:endParaRPr lang="en-US" sz="1400" dirty="0"/>
          </a:p>
        </p:txBody>
      </p:sp>
      <p:sp>
        <p:nvSpPr>
          <p:cNvPr id="15" name="Shape 11"/>
          <p:cNvSpPr/>
          <p:nvPr/>
        </p:nvSpPr>
        <p:spPr>
          <a:xfrm>
            <a:off x="4754880" y="3291840"/>
            <a:ext cx="3886200" cy="1280160"/>
          </a:xfrm>
          <a:prstGeom prst="roundRect">
            <a:avLst>
              <a:gd name="adj" fmla="val 500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6" name="Text 12"/>
          <p:cNvSpPr/>
          <p:nvPr/>
        </p:nvSpPr>
        <p:spPr>
          <a:xfrm>
            <a:off x="4983480" y="3401568"/>
            <a:ext cx="3429000" cy="1051560"/>
          </a:xfrm>
          <a:prstGeom prst="rect">
            <a:avLst/>
          </a:prstGeom>
          <a:noFill/>
          <a:ln/>
        </p:spPr>
        <p:txBody>
          <a:bodyPr wrap="square" lIns="0" tIns="0" rIns="0" bIns="0" rtlCol="0" anchor="ctr"/>
          <a:lstStyle/>
          <a:p>
            <a:pPr indent="0" marL="0">
              <a:buNone/>
            </a:pPr>
            <a:r>
              <a:rPr lang="en-US" sz="1300" b="1" dirty="0">
                <a:solidFill>
                  <a:srgbClr val="7FB2FF"/>
                </a:solidFill>
                <a:latin typeface="Arial" pitchFamily="34" charset="0"/>
                <a:ea typeface="Arial" pitchFamily="34" charset="-122"/>
                <a:cs typeface="Arial" pitchFamily="34" charset="-120"/>
              </a:rPr>
              <a:t>Notre réponse, fil rouge de la soutenance : </a:t>
            </a:r>
            <a:endParaRPr lang="en-US" sz="1300" dirty="0"/>
          </a:p>
          <a:p>
            <a:pPr indent="0" marL="0">
              <a:buNone/>
            </a:pPr>
            <a:r>
              <a:rPr lang="en-US" sz="1300" dirty="0">
                <a:solidFill>
                  <a:srgbClr val="EEF2FF"/>
                </a:solidFill>
                <a:latin typeface="Arial" pitchFamily="34" charset="0"/>
                <a:ea typeface="Arial" pitchFamily="34" charset="-122"/>
                <a:cs typeface="Arial" pitchFamily="34" charset="-120"/>
              </a:rPr>
              <a:t>le serveur est l'unique source de vérité — le client ne fait qu'afficher.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4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1 · Introduction</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Objectifs et périmètre</a:t>
            </a:r>
            <a:endParaRPr lang="en-US" sz="2700" dirty="0"/>
          </a:p>
        </p:txBody>
      </p:sp>
      <p:sp>
        <p:nvSpPr>
          <p:cNvPr id="5" name="Shape 3"/>
          <p:cNvSpPr/>
          <p:nvPr/>
        </p:nvSpPr>
        <p:spPr>
          <a:xfrm>
            <a:off x="502920" y="1005840"/>
            <a:ext cx="4023360" cy="3566160"/>
          </a:xfrm>
          <a:prstGeom prst="roundRect">
            <a:avLst>
              <a:gd name="adj" fmla="val 1795"/>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pic>
        <p:nvPicPr>
          <p:cNvPr id="6" name="Image 0" descr="preencoded.png">    </p:cNvPr>
          <p:cNvPicPr>
            <a:picLocks noChangeAspect="1"/>
          </p:cNvPicPr>
          <p:nvPr/>
        </p:nvPicPr>
        <p:blipFill>
          <a:blip r:embed="rId1"/>
          <a:stretch>
            <a:fillRect/>
          </a:stretch>
        </p:blipFill>
        <p:spPr>
          <a:xfrm>
            <a:off x="713232" y="1188720"/>
            <a:ext cx="329184" cy="329184"/>
          </a:xfrm>
          <a:prstGeom prst="rect">
            <a:avLst/>
          </a:prstGeom>
        </p:spPr>
      </p:pic>
      <p:sp>
        <p:nvSpPr>
          <p:cNvPr id="7" name="Text 4"/>
          <p:cNvSpPr/>
          <p:nvPr/>
        </p:nvSpPr>
        <p:spPr>
          <a:xfrm>
            <a:off x="1170432" y="1207008"/>
            <a:ext cx="3291840" cy="320040"/>
          </a:xfrm>
          <a:prstGeom prst="rect">
            <a:avLst/>
          </a:prstGeom>
          <a:noFill/>
          <a:ln/>
        </p:spPr>
        <p:txBody>
          <a:bodyPr wrap="square" lIns="0" tIns="0" rIns="0" bIns="0" rtlCol="0" anchor="ctr"/>
          <a:lstStyle/>
          <a:p>
            <a:pPr indent="0" marL="0">
              <a:buNone/>
            </a:pPr>
            <a:r>
              <a:rPr lang="en-US" sz="1450" b="1" dirty="0">
                <a:solidFill>
                  <a:srgbClr val="EEF2FF"/>
                </a:solidFill>
                <a:latin typeface="Arial" pitchFamily="34" charset="0"/>
                <a:ea typeface="Arial" pitchFamily="34" charset="-122"/>
                <a:cs typeface="Arial" pitchFamily="34" charset="-120"/>
              </a:rPr>
              <a:t>Objectifs (exigences F-01 → F-10)</a:t>
            </a:r>
            <a:endParaRPr lang="en-US" sz="1450" dirty="0"/>
          </a:p>
        </p:txBody>
      </p:sp>
      <p:sp>
        <p:nvSpPr>
          <p:cNvPr id="8" name="Text 5"/>
          <p:cNvSpPr/>
          <p:nvPr/>
        </p:nvSpPr>
        <p:spPr>
          <a:xfrm>
            <a:off x="749808" y="1682496"/>
            <a:ext cx="3566160" cy="2834640"/>
          </a:xfrm>
          <a:prstGeom prst="rect">
            <a:avLst/>
          </a:prstGeom>
          <a:noFill/>
          <a:ln/>
        </p:spPr>
        <p:txBody>
          <a:bodyPr wrap="square" lIns="0" tIns="0" rIns="0" bIns="0" rtlCol="0" anchor="t"/>
          <a:lstStyle/>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La boucle de jeu complète : inscription, connexion, lobby, partie, classement, historique</a:t>
            </a:r>
            <a:endParaRPr lang="en-US" sz="1200" dirty="0"/>
          </a:p>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Composants UI variés : ListView, ComboBox, TreeView, ProgressBar, dialogues, animations</a:t>
            </a:r>
            <a:endParaRPr lang="en-US" sz="1200" dirty="0"/>
          </a:p>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Échanges exclusivement en JSON avec une API REST</a:t>
            </a:r>
            <a:endParaRPr lang="en-US" sz="1200" dirty="0"/>
          </a:p>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Persistance MySQL : comptes, parties, réponses, scores</a:t>
            </a:r>
            <a:endParaRPr lang="en-US" sz="1200" dirty="0"/>
          </a:p>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Préparer la migration Spring Boot sans changer le contrat</a:t>
            </a:r>
            <a:endParaRPr lang="en-US" sz="1200" dirty="0"/>
          </a:p>
        </p:txBody>
      </p:sp>
      <p:sp>
        <p:nvSpPr>
          <p:cNvPr id="9" name="Shape 6"/>
          <p:cNvSpPr/>
          <p:nvPr/>
        </p:nvSpPr>
        <p:spPr>
          <a:xfrm>
            <a:off x="4754880" y="1005840"/>
            <a:ext cx="3886200" cy="1691640"/>
          </a:xfrm>
          <a:prstGeom prst="roundRect">
            <a:avLst>
              <a:gd name="adj" fmla="val 3784"/>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0" name="Shape 7"/>
          <p:cNvSpPr/>
          <p:nvPr/>
        </p:nvSpPr>
        <p:spPr>
          <a:xfrm>
            <a:off x="4937760" y="1152144"/>
            <a:ext cx="384048" cy="384048"/>
          </a:xfrm>
          <a:prstGeom prst="ellipse">
            <a:avLst/>
          </a:prstGeom>
          <a:solidFill>
            <a:srgbClr val="3D7BFD"/>
          </a:solidFill>
          <a:ln/>
        </p:spPr>
      </p:sp>
      <p:pic>
        <p:nvPicPr>
          <p:cNvPr id="11" name="Image 1" descr="preencoded.png">    </p:cNvPr>
          <p:cNvPicPr>
            <a:picLocks noChangeAspect="1"/>
          </p:cNvPicPr>
          <p:nvPr/>
        </p:nvPicPr>
        <p:blipFill>
          <a:blip r:embed="rId2"/>
          <a:stretch>
            <a:fillRect/>
          </a:stretch>
        </p:blipFill>
        <p:spPr>
          <a:xfrm>
            <a:off x="5026091" y="1240475"/>
            <a:ext cx="207386" cy="207386"/>
          </a:xfrm>
          <a:prstGeom prst="rect">
            <a:avLst/>
          </a:prstGeom>
        </p:spPr>
      </p:pic>
      <p:sp>
        <p:nvSpPr>
          <p:cNvPr id="12" name="Text 8"/>
          <p:cNvSpPr/>
          <p:nvPr/>
        </p:nvSpPr>
        <p:spPr>
          <a:xfrm>
            <a:off x="5440680" y="1188720"/>
            <a:ext cx="3017520" cy="292608"/>
          </a:xfrm>
          <a:prstGeom prst="rect">
            <a:avLst/>
          </a:prstGeom>
          <a:noFill/>
          <a:ln/>
        </p:spPr>
        <p:txBody>
          <a:bodyPr wrap="square" lIns="0" tIns="0" rIns="0" bIns="0" rtlCol="0" anchor="ctr"/>
          <a:lstStyle/>
          <a:p>
            <a:pPr indent="0" marL="0">
              <a:buNone/>
            </a:pPr>
            <a:r>
              <a:rPr lang="en-US" sz="1400" b="1" dirty="0">
                <a:solidFill>
                  <a:srgbClr val="EEF2FF"/>
                </a:solidFill>
                <a:latin typeface="Arial" pitchFamily="34" charset="0"/>
                <a:ea typeface="Arial" pitchFamily="34" charset="-122"/>
                <a:cs typeface="Arial" pitchFamily="34" charset="-120"/>
              </a:rPr>
              <a:t>Contraintes imposées</a:t>
            </a:r>
            <a:endParaRPr lang="en-US" sz="1400" dirty="0"/>
          </a:p>
        </p:txBody>
      </p:sp>
      <p:sp>
        <p:nvSpPr>
          <p:cNvPr id="13" name="Text 9"/>
          <p:cNvSpPr/>
          <p:nvPr/>
        </p:nvSpPr>
        <p:spPr>
          <a:xfrm>
            <a:off x="4983480" y="1591056"/>
            <a:ext cx="3474720" cy="105156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EEF2FF"/>
                </a:solidFill>
                <a:latin typeface="Arial" pitchFamily="34" charset="0"/>
                <a:ea typeface="Arial" pitchFamily="34" charset="-122"/>
                <a:cs typeface="Arial" pitchFamily="34" charset="-120"/>
              </a:rPr>
              <a:t>Frontend JavaFX (Java 17+), backend POC en PHP 8, base MySQL 8</a:t>
            </a:r>
            <a:endParaRPr lang="en-US" sz="1150" dirty="0"/>
          </a:p>
          <a:p>
            <a:pPr marL="342900" indent="-342900">
              <a:spcAft>
                <a:spcPts val="700"/>
              </a:spcAft>
              <a:buSzPct val="100000"/>
              <a:buChar char="•"/>
            </a:pPr>
            <a:r>
              <a:rPr lang="en-US" sz="1150" dirty="0">
                <a:solidFill>
                  <a:srgbClr val="EEF2FF"/>
                </a:solidFill>
                <a:latin typeface="Arial" pitchFamily="34" charset="0"/>
                <a:ea typeface="Arial" pitchFamily="34" charset="-122"/>
                <a:cs typeface="Arial" pitchFamily="34" charset="-120"/>
              </a:rPr>
              <a:t>Multijoueur synchrone par interrogations régulières (1 à 2 s)</a:t>
            </a:r>
            <a:endParaRPr lang="en-US" sz="1150" dirty="0"/>
          </a:p>
        </p:txBody>
      </p:sp>
      <p:sp>
        <p:nvSpPr>
          <p:cNvPr id="14" name="Shape 10"/>
          <p:cNvSpPr/>
          <p:nvPr/>
        </p:nvSpPr>
        <p:spPr>
          <a:xfrm>
            <a:off x="4754880" y="2880360"/>
            <a:ext cx="3886200" cy="1691640"/>
          </a:xfrm>
          <a:prstGeom prst="roundRect">
            <a:avLst>
              <a:gd name="adj" fmla="val 3784"/>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5" name="Shape 11"/>
          <p:cNvSpPr/>
          <p:nvPr/>
        </p:nvSpPr>
        <p:spPr>
          <a:xfrm>
            <a:off x="4937760" y="3026664"/>
            <a:ext cx="384048" cy="384048"/>
          </a:xfrm>
          <a:prstGeom prst="ellipse">
            <a:avLst/>
          </a:prstGeom>
          <a:solidFill>
            <a:srgbClr val="283252"/>
          </a:solidFill>
          <a:ln/>
        </p:spPr>
      </p:sp>
      <p:pic>
        <p:nvPicPr>
          <p:cNvPr id="16" name="Image 2" descr="preencoded.png">    </p:cNvPr>
          <p:cNvPicPr>
            <a:picLocks noChangeAspect="1"/>
          </p:cNvPicPr>
          <p:nvPr/>
        </p:nvPicPr>
        <p:blipFill>
          <a:blip r:embed="rId3"/>
          <a:stretch>
            <a:fillRect/>
          </a:stretch>
        </p:blipFill>
        <p:spPr>
          <a:xfrm>
            <a:off x="5026091" y="3114995"/>
            <a:ext cx="207386" cy="207386"/>
          </a:xfrm>
          <a:prstGeom prst="rect">
            <a:avLst/>
          </a:prstGeom>
        </p:spPr>
      </p:pic>
      <p:sp>
        <p:nvSpPr>
          <p:cNvPr id="17" name="Text 12"/>
          <p:cNvSpPr/>
          <p:nvPr/>
        </p:nvSpPr>
        <p:spPr>
          <a:xfrm>
            <a:off x="5440680" y="3063240"/>
            <a:ext cx="3017520" cy="292608"/>
          </a:xfrm>
          <a:prstGeom prst="rect">
            <a:avLst/>
          </a:prstGeom>
          <a:noFill/>
          <a:ln/>
        </p:spPr>
        <p:txBody>
          <a:bodyPr wrap="square" lIns="0" tIns="0" rIns="0" bIns="0" rtlCol="0" anchor="ctr"/>
          <a:lstStyle/>
          <a:p>
            <a:pPr indent="0" marL="0">
              <a:buNone/>
            </a:pPr>
            <a:r>
              <a:rPr lang="en-US" sz="1400" b="1" dirty="0">
                <a:solidFill>
                  <a:srgbClr val="EEF2FF"/>
                </a:solidFill>
                <a:latin typeface="Arial" pitchFamily="34" charset="0"/>
                <a:ea typeface="Arial" pitchFamily="34" charset="-122"/>
                <a:cs typeface="Arial" pitchFamily="34" charset="-120"/>
              </a:rPr>
              <a:t>Hors périmètre (assumé)</a:t>
            </a:r>
            <a:endParaRPr lang="en-US" sz="1400" dirty="0"/>
          </a:p>
        </p:txBody>
      </p:sp>
      <p:sp>
        <p:nvSpPr>
          <p:cNvPr id="18" name="Text 13"/>
          <p:cNvSpPr/>
          <p:nvPr/>
        </p:nvSpPr>
        <p:spPr>
          <a:xfrm>
            <a:off x="4983480" y="3465576"/>
            <a:ext cx="3474720" cy="105156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EEF2FF"/>
                </a:solidFill>
                <a:latin typeface="Arial" pitchFamily="34" charset="0"/>
                <a:ea typeface="Arial" pitchFamily="34" charset="-122"/>
                <a:cs typeface="Arial" pitchFamily="34" charset="-120"/>
              </a:rPr>
              <a:t>Chat vocal, matchmaking classé, jeu hors ligne</a:t>
            </a:r>
            <a:endParaRPr lang="en-US" sz="1150" dirty="0"/>
          </a:p>
          <a:p>
            <a:pPr marL="342900" indent="-342900">
              <a:spcAft>
                <a:spcPts val="700"/>
              </a:spcAft>
              <a:buSzPct val="100000"/>
              <a:buChar char="•"/>
            </a:pPr>
            <a:r>
              <a:rPr lang="en-US" sz="1150" dirty="0">
                <a:solidFill>
                  <a:srgbClr val="EEF2FF"/>
                </a:solidFill>
                <a:latin typeface="Arial" pitchFamily="34" charset="0"/>
                <a:ea typeface="Arial" pitchFamily="34" charset="-122"/>
                <a:cs typeface="Arial" pitchFamily="34" charset="-120"/>
              </a:rPr>
              <a:t>Paiements, publicité, boutique</a:t>
            </a:r>
            <a:endParaRPr lang="en-US" sz="1150" dirty="0"/>
          </a:p>
          <a:p>
            <a:pPr marL="342900" indent="-342900">
              <a:spcAft>
                <a:spcPts val="700"/>
              </a:spcAft>
              <a:buSzPct val="100000"/>
              <a:buChar char="•"/>
            </a:pPr>
            <a:r>
              <a:rPr lang="en-US" sz="1150" dirty="0">
                <a:solidFill>
                  <a:srgbClr val="EEF2FF"/>
                </a:solidFill>
                <a:latin typeface="Arial" pitchFamily="34" charset="0"/>
                <a:ea typeface="Arial" pitchFamily="34" charset="-122"/>
                <a:cs typeface="Arial" pitchFamily="34" charset="-120"/>
              </a:rPr>
              <a:t>WebSocket obligatoire — remplacé par un polling maîtrisé</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5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2 · Gestion de projet</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Organisation du travail</a:t>
            </a:r>
            <a:endParaRPr lang="en-US" sz="2700" dirty="0"/>
          </a:p>
        </p:txBody>
      </p:sp>
      <p:sp>
        <p:nvSpPr>
          <p:cNvPr id="5" name="Shape 3"/>
          <p:cNvSpPr/>
          <p:nvPr/>
        </p:nvSpPr>
        <p:spPr>
          <a:xfrm>
            <a:off x="1131570" y="1417320"/>
            <a:ext cx="6880860" cy="0"/>
          </a:xfrm>
          <a:prstGeom prst="line">
            <a:avLst/>
          </a:prstGeom>
          <a:noFill/>
          <a:ln w="31750">
            <a:solidFill>
              <a:srgbClr val="2B3660"/>
            </a:solidFill>
            <a:prstDash val="solid"/>
          </a:ln>
        </p:spPr>
      </p:sp>
      <p:sp>
        <p:nvSpPr>
          <p:cNvPr id="6" name="Shape 4"/>
          <p:cNvSpPr/>
          <p:nvPr/>
        </p:nvSpPr>
        <p:spPr>
          <a:xfrm>
            <a:off x="957834" y="1243584"/>
            <a:ext cx="347472" cy="347472"/>
          </a:xfrm>
          <a:prstGeom prst="ellipse">
            <a:avLst/>
          </a:prstGeom>
          <a:solidFill>
            <a:srgbClr val="3D7BFD"/>
          </a:solidFill>
          <a:ln/>
        </p:spPr>
      </p:sp>
      <p:sp>
        <p:nvSpPr>
          <p:cNvPr id="7" name="Text 5"/>
          <p:cNvSpPr/>
          <p:nvPr/>
        </p:nvSpPr>
        <p:spPr>
          <a:xfrm>
            <a:off x="957834" y="12435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J0</a:t>
            </a:r>
            <a:endParaRPr lang="en-US" sz="1100" dirty="0"/>
          </a:p>
        </p:txBody>
      </p:sp>
      <p:sp>
        <p:nvSpPr>
          <p:cNvPr id="8" name="Text 6"/>
          <p:cNvSpPr/>
          <p:nvPr/>
        </p:nvSpPr>
        <p:spPr>
          <a:xfrm>
            <a:off x="530352" y="1664208"/>
            <a:ext cx="1202436" cy="457200"/>
          </a:xfrm>
          <a:prstGeom prst="rect">
            <a:avLst/>
          </a:prstGeom>
          <a:noFill/>
          <a:ln/>
        </p:spPr>
        <p:txBody>
          <a:bodyPr wrap="square" lIns="0" tIns="0" rIns="0" bIns="0" rtlCol="0" anchor="ctr"/>
          <a:lstStyle/>
          <a:p>
            <a:pPr algn="ctr" indent="0" marL="0">
              <a:buNone/>
            </a:pPr>
            <a:r>
              <a:rPr lang="en-US" sz="950" dirty="0">
                <a:solidFill>
                  <a:srgbClr val="9AA7CC"/>
                </a:solidFill>
                <a:latin typeface="Arial" pitchFamily="34" charset="0"/>
                <a:ea typeface="Arial" pitchFamily="34" charset="-122"/>
                <a:cs typeface="Arial" pitchFamily="34" charset="-120"/>
              </a:rPr>
              <a:t>Cadrage</a:t>
            </a:r>
            <a:endParaRPr lang="en-US" sz="950" dirty="0"/>
          </a:p>
        </p:txBody>
      </p:sp>
      <p:sp>
        <p:nvSpPr>
          <p:cNvPr id="9" name="Shape 7"/>
          <p:cNvSpPr/>
          <p:nvPr/>
        </p:nvSpPr>
        <p:spPr>
          <a:xfrm>
            <a:off x="1940814" y="1243584"/>
            <a:ext cx="347472" cy="347472"/>
          </a:xfrm>
          <a:prstGeom prst="ellipse">
            <a:avLst/>
          </a:prstGeom>
          <a:solidFill>
            <a:srgbClr val="3D7BFD"/>
          </a:solidFill>
          <a:ln/>
        </p:spPr>
      </p:sp>
      <p:sp>
        <p:nvSpPr>
          <p:cNvPr id="10" name="Text 8"/>
          <p:cNvSpPr/>
          <p:nvPr/>
        </p:nvSpPr>
        <p:spPr>
          <a:xfrm>
            <a:off x="1940814" y="12435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J1</a:t>
            </a:r>
            <a:endParaRPr lang="en-US" sz="1100" dirty="0"/>
          </a:p>
        </p:txBody>
      </p:sp>
      <p:sp>
        <p:nvSpPr>
          <p:cNvPr id="11" name="Text 9"/>
          <p:cNvSpPr/>
          <p:nvPr/>
        </p:nvSpPr>
        <p:spPr>
          <a:xfrm>
            <a:off x="1513332" y="1664208"/>
            <a:ext cx="1202436" cy="457200"/>
          </a:xfrm>
          <a:prstGeom prst="rect">
            <a:avLst/>
          </a:prstGeom>
          <a:noFill/>
          <a:ln/>
        </p:spPr>
        <p:txBody>
          <a:bodyPr wrap="square" lIns="0" tIns="0" rIns="0" bIns="0" rtlCol="0" anchor="ctr"/>
          <a:lstStyle/>
          <a:p>
            <a:pPr algn="ctr" indent="0" marL="0">
              <a:buNone/>
            </a:pPr>
            <a:r>
              <a:rPr lang="en-US" sz="950" dirty="0">
                <a:solidFill>
                  <a:srgbClr val="9AA7CC"/>
                </a:solidFill>
                <a:latin typeface="Arial" pitchFamily="34" charset="0"/>
                <a:ea typeface="Arial" pitchFamily="34" charset="-122"/>
                <a:cs typeface="Arial" pitchFamily="34" charset="-120"/>
              </a:rPr>
              <a:t>Contrat</a:t>
            </a:r>
            <a:endParaRPr lang="en-US" sz="950" dirty="0"/>
          </a:p>
        </p:txBody>
      </p:sp>
      <p:sp>
        <p:nvSpPr>
          <p:cNvPr id="12" name="Shape 10"/>
          <p:cNvSpPr/>
          <p:nvPr/>
        </p:nvSpPr>
        <p:spPr>
          <a:xfrm>
            <a:off x="2923794" y="1243584"/>
            <a:ext cx="347472" cy="347472"/>
          </a:xfrm>
          <a:prstGeom prst="ellipse">
            <a:avLst/>
          </a:prstGeom>
          <a:solidFill>
            <a:srgbClr val="3D7BFD"/>
          </a:solidFill>
          <a:ln/>
        </p:spPr>
      </p:sp>
      <p:sp>
        <p:nvSpPr>
          <p:cNvPr id="13" name="Text 11"/>
          <p:cNvSpPr/>
          <p:nvPr/>
        </p:nvSpPr>
        <p:spPr>
          <a:xfrm>
            <a:off x="2923794" y="12435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J2</a:t>
            </a:r>
            <a:endParaRPr lang="en-US" sz="1100" dirty="0"/>
          </a:p>
        </p:txBody>
      </p:sp>
      <p:sp>
        <p:nvSpPr>
          <p:cNvPr id="14" name="Text 12"/>
          <p:cNvSpPr/>
          <p:nvPr/>
        </p:nvSpPr>
        <p:spPr>
          <a:xfrm>
            <a:off x="2496312" y="1664208"/>
            <a:ext cx="1202436" cy="457200"/>
          </a:xfrm>
          <a:prstGeom prst="rect">
            <a:avLst/>
          </a:prstGeom>
          <a:noFill/>
          <a:ln/>
        </p:spPr>
        <p:txBody>
          <a:bodyPr wrap="square" lIns="0" tIns="0" rIns="0" bIns="0" rtlCol="0" anchor="ctr"/>
          <a:lstStyle/>
          <a:p>
            <a:pPr algn="ctr" indent="0" marL="0">
              <a:buNone/>
            </a:pPr>
            <a:r>
              <a:rPr lang="en-US" sz="950" dirty="0">
                <a:solidFill>
                  <a:srgbClr val="9AA7CC"/>
                </a:solidFill>
                <a:latin typeface="Arial" pitchFamily="34" charset="0"/>
                <a:ea typeface="Arial" pitchFamily="34" charset="-122"/>
                <a:cs typeface="Arial" pitchFamily="34" charset="-120"/>
              </a:rPr>
              <a:t>Socle</a:t>
            </a:r>
            <a:endParaRPr lang="en-US" sz="950" dirty="0"/>
          </a:p>
        </p:txBody>
      </p:sp>
      <p:sp>
        <p:nvSpPr>
          <p:cNvPr id="15" name="Shape 13"/>
          <p:cNvSpPr/>
          <p:nvPr/>
        </p:nvSpPr>
        <p:spPr>
          <a:xfrm>
            <a:off x="3906774" y="1243584"/>
            <a:ext cx="347472" cy="347472"/>
          </a:xfrm>
          <a:prstGeom prst="ellipse">
            <a:avLst/>
          </a:prstGeom>
          <a:solidFill>
            <a:srgbClr val="3D7BFD"/>
          </a:solidFill>
          <a:ln/>
        </p:spPr>
      </p:sp>
      <p:sp>
        <p:nvSpPr>
          <p:cNvPr id="16" name="Text 14"/>
          <p:cNvSpPr/>
          <p:nvPr/>
        </p:nvSpPr>
        <p:spPr>
          <a:xfrm>
            <a:off x="3906774" y="12435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J3</a:t>
            </a:r>
            <a:endParaRPr lang="en-US" sz="1100" dirty="0"/>
          </a:p>
        </p:txBody>
      </p:sp>
      <p:sp>
        <p:nvSpPr>
          <p:cNvPr id="17" name="Text 15"/>
          <p:cNvSpPr/>
          <p:nvPr/>
        </p:nvSpPr>
        <p:spPr>
          <a:xfrm>
            <a:off x="3479292" y="1664208"/>
            <a:ext cx="1202436" cy="457200"/>
          </a:xfrm>
          <a:prstGeom prst="rect">
            <a:avLst/>
          </a:prstGeom>
          <a:noFill/>
          <a:ln/>
        </p:spPr>
        <p:txBody>
          <a:bodyPr wrap="square" lIns="0" tIns="0" rIns="0" bIns="0" rtlCol="0" anchor="ctr"/>
          <a:lstStyle/>
          <a:p>
            <a:pPr algn="ctr" indent="0" marL="0">
              <a:buNone/>
            </a:pPr>
            <a:r>
              <a:rPr lang="en-US" sz="950" dirty="0">
                <a:solidFill>
                  <a:srgbClr val="9AA7CC"/>
                </a:solidFill>
                <a:latin typeface="Arial" pitchFamily="34" charset="0"/>
                <a:ea typeface="Arial" pitchFamily="34" charset="-122"/>
                <a:cs typeface="Arial" pitchFamily="34" charset="-120"/>
              </a:rPr>
              <a:t>Lobby</a:t>
            </a:r>
            <a:endParaRPr lang="en-US" sz="950" dirty="0"/>
          </a:p>
        </p:txBody>
      </p:sp>
      <p:sp>
        <p:nvSpPr>
          <p:cNvPr id="18" name="Shape 16"/>
          <p:cNvSpPr/>
          <p:nvPr/>
        </p:nvSpPr>
        <p:spPr>
          <a:xfrm>
            <a:off x="4889754" y="1243584"/>
            <a:ext cx="347472" cy="347472"/>
          </a:xfrm>
          <a:prstGeom prst="ellipse">
            <a:avLst/>
          </a:prstGeom>
          <a:solidFill>
            <a:srgbClr val="3D7BFD"/>
          </a:solidFill>
          <a:ln/>
        </p:spPr>
      </p:sp>
      <p:sp>
        <p:nvSpPr>
          <p:cNvPr id="19" name="Text 17"/>
          <p:cNvSpPr/>
          <p:nvPr/>
        </p:nvSpPr>
        <p:spPr>
          <a:xfrm>
            <a:off x="4889754" y="12435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J4</a:t>
            </a:r>
            <a:endParaRPr lang="en-US" sz="1100" dirty="0"/>
          </a:p>
        </p:txBody>
      </p:sp>
      <p:sp>
        <p:nvSpPr>
          <p:cNvPr id="20" name="Text 18"/>
          <p:cNvSpPr/>
          <p:nvPr/>
        </p:nvSpPr>
        <p:spPr>
          <a:xfrm>
            <a:off x="4462272" y="1664208"/>
            <a:ext cx="1202436" cy="457200"/>
          </a:xfrm>
          <a:prstGeom prst="rect">
            <a:avLst/>
          </a:prstGeom>
          <a:noFill/>
          <a:ln/>
        </p:spPr>
        <p:txBody>
          <a:bodyPr wrap="square" lIns="0" tIns="0" rIns="0" bIns="0" rtlCol="0" anchor="ctr"/>
          <a:lstStyle/>
          <a:p>
            <a:pPr algn="ctr" indent="0" marL="0">
              <a:buNone/>
            </a:pPr>
            <a:r>
              <a:rPr lang="en-US" sz="950" dirty="0">
                <a:solidFill>
                  <a:srgbClr val="9AA7CC"/>
                </a:solidFill>
                <a:latin typeface="Arial" pitchFamily="34" charset="0"/>
                <a:ea typeface="Arial" pitchFamily="34" charset="-122"/>
                <a:cs typeface="Arial" pitchFamily="34" charset="-120"/>
              </a:rPr>
              <a:t>Boucle de jeu</a:t>
            </a:r>
            <a:endParaRPr lang="en-US" sz="950" dirty="0"/>
          </a:p>
        </p:txBody>
      </p:sp>
      <p:sp>
        <p:nvSpPr>
          <p:cNvPr id="21" name="Shape 19"/>
          <p:cNvSpPr/>
          <p:nvPr/>
        </p:nvSpPr>
        <p:spPr>
          <a:xfrm>
            <a:off x="5872734" y="1243584"/>
            <a:ext cx="347472" cy="347472"/>
          </a:xfrm>
          <a:prstGeom prst="ellipse">
            <a:avLst/>
          </a:prstGeom>
          <a:solidFill>
            <a:srgbClr val="3D7BFD"/>
          </a:solidFill>
          <a:ln/>
        </p:spPr>
      </p:sp>
      <p:sp>
        <p:nvSpPr>
          <p:cNvPr id="22" name="Text 20"/>
          <p:cNvSpPr/>
          <p:nvPr/>
        </p:nvSpPr>
        <p:spPr>
          <a:xfrm>
            <a:off x="5872734" y="12435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J5</a:t>
            </a:r>
            <a:endParaRPr lang="en-US" sz="1100" dirty="0"/>
          </a:p>
        </p:txBody>
      </p:sp>
      <p:sp>
        <p:nvSpPr>
          <p:cNvPr id="23" name="Text 21"/>
          <p:cNvSpPr/>
          <p:nvPr/>
        </p:nvSpPr>
        <p:spPr>
          <a:xfrm>
            <a:off x="5445252" y="1664208"/>
            <a:ext cx="1202436" cy="457200"/>
          </a:xfrm>
          <a:prstGeom prst="rect">
            <a:avLst/>
          </a:prstGeom>
          <a:noFill/>
          <a:ln/>
        </p:spPr>
        <p:txBody>
          <a:bodyPr wrap="square" lIns="0" tIns="0" rIns="0" bIns="0" rtlCol="0" anchor="ctr"/>
          <a:lstStyle/>
          <a:p>
            <a:pPr algn="ctr" indent="0" marL="0">
              <a:buNone/>
            </a:pPr>
            <a:r>
              <a:rPr lang="en-US" sz="950" dirty="0">
                <a:solidFill>
                  <a:srgbClr val="9AA7CC"/>
                </a:solidFill>
                <a:latin typeface="Arial" pitchFamily="34" charset="0"/>
                <a:ea typeface="Arial" pitchFamily="34" charset="-122"/>
                <a:cs typeface="Arial" pitchFamily="34" charset="-120"/>
              </a:rPr>
              <a:t>Finition</a:t>
            </a:r>
            <a:endParaRPr lang="en-US" sz="950" dirty="0"/>
          </a:p>
        </p:txBody>
      </p:sp>
      <p:sp>
        <p:nvSpPr>
          <p:cNvPr id="24" name="Shape 22"/>
          <p:cNvSpPr/>
          <p:nvPr/>
        </p:nvSpPr>
        <p:spPr>
          <a:xfrm>
            <a:off x="6855714" y="1243584"/>
            <a:ext cx="347472" cy="347472"/>
          </a:xfrm>
          <a:prstGeom prst="ellipse">
            <a:avLst/>
          </a:prstGeom>
          <a:solidFill>
            <a:srgbClr val="3D7BFD"/>
          </a:solidFill>
          <a:ln/>
        </p:spPr>
      </p:sp>
      <p:sp>
        <p:nvSpPr>
          <p:cNvPr id="25" name="Text 23"/>
          <p:cNvSpPr/>
          <p:nvPr/>
        </p:nvSpPr>
        <p:spPr>
          <a:xfrm>
            <a:off x="6855714" y="12435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J6</a:t>
            </a:r>
            <a:endParaRPr lang="en-US" sz="1100" dirty="0"/>
          </a:p>
        </p:txBody>
      </p:sp>
      <p:sp>
        <p:nvSpPr>
          <p:cNvPr id="26" name="Text 24"/>
          <p:cNvSpPr/>
          <p:nvPr/>
        </p:nvSpPr>
        <p:spPr>
          <a:xfrm>
            <a:off x="6428232" y="1664208"/>
            <a:ext cx="1202436" cy="457200"/>
          </a:xfrm>
          <a:prstGeom prst="rect">
            <a:avLst/>
          </a:prstGeom>
          <a:noFill/>
          <a:ln/>
        </p:spPr>
        <p:txBody>
          <a:bodyPr wrap="square" lIns="0" tIns="0" rIns="0" bIns="0" rtlCol="0" anchor="ctr"/>
          <a:lstStyle/>
          <a:p>
            <a:pPr algn="ctr" indent="0" marL="0">
              <a:buNone/>
            </a:pPr>
            <a:r>
              <a:rPr lang="en-US" sz="950" dirty="0">
                <a:solidFill>
                  <a:srgbClr val="9AA7CC"/>
                </a:solidFill>
                <a:latin typeface="Arial" pitchFamily="34" charset="0"/>
                <a:ea typeface="Arial" pitchFamily="34" charset="-122"/>
                <a:cs typeface="Arial" pitchFamily="34" charset="-120"/>
              </a:rPr>
              <a:t>Recette</a:t>
            </a:r>
            <a:endParaRPr lang="en-US" sz="950" dirty="0"/>
          </a:p>
        </p:txBody>
      </p:sp>
      <p:sp>
        <p:nvSpPr>
          <p:cNvPr id="27" name="Shape 25"/>
          <p:cNvSpPr/>
          <p:nvPr/>
        </p:nvSpPr>
        <p:spPr>
          <a:xfrm>
            <a:off x="7838694" y="1243584"/>
            <a:ext cx="347472" cy="347472"/>
          </a:xfrm>
          <a:prstGeom prst="ellipse">
            <a:avLst/>
          </a:prstGeom>
          <a:solidFill>
            <a:srgbClr val="FFD166"/>
          </a:solidFill>
          <a:ln/>
        </p:spPr>
      </p:sp>
      <p:sp>
        <p:nvSpPr>
          <p:cNvPr id="28" name="Text 26"/>
          <p:cNvSpPr/>
          <p:nvPr/>
        </p:nvSpPr>
        <p:spPr>
          <a:xfrm>
            <a:off x="7838694" y="1243584"/>
            <a:ext cx="347472" cy="347472"/>
          </a:xfrm>
          <a:prstGeom prst="rect">
            <a:avLst/>
          </a:prstGeom>
          <a:noFill/>
          <a:ln/>
        </p:spPr>
        <p:txBody>
          <a:bodyPr wrap="square" lIns="0" tIns="0" rIns="0" bIns="0" rtlCol="0" anchor="ctr"/>
          <a:lstStyle/>
          <a:p>
            <a:pPr algn="ctr" indent="0" marL="0">
              <a:buNone/>
            </a:pPr>
            <a:r>
              <a:rPr lang="en-US" sz="1100" b="1" dirty="0">
                <a:solidFill>
                  <a:srgbClr val="141A2E"/>
                </a:solidFill>
                <a:latin typeface="Arial" pitchFamily="34" charset="0"/>
                <a:ea typeface="Arial" pitchFamily="34" charset="-122"/>
                <a:cs typeface="Arial" pitchFamily="34" charset="-120"/>
              </a:rPr>
              <a:t>J7</a:t>
            </a:r>
            <a:endParaRPr lang="en-US" sz="1100" dirty="0"/>
          </a:p>
        </p:txBody>
      </p:sp>
      <p:sp>
        <p:nvSpPr>
          <p:cNvPr id="29" name="Text 27"/>
          <p:cNvSpPr/>
          <p:nvPr/>
        </p:nvSpPr>
        <p:spPr>
          <a:xfrm>
            <a:off x="7411212" y="1664208"/>
            <a:ext cx="1202436" cy="457200"/>
          </a:xfrm>
          <a:prstGeom prst="rect">
            <a:avLst/>
          </a:prstGeom>
          <a:noFill/>
          <a:ln/>
        </p:spPr>
        <p:txBody>
          <a:bodyPr wrap="square" lIns="0" tIns="0" rIns="0" bIns="0" rtlCol="0" anchor="ctr"/>
          <a:lstStyle/>
          <a:p>
            <a:pPr algn="ctr" indent="0" marL="0">
              <a:buNone/>
            </a:pPr>
            <a:r>
              <a:rPr lang="en-US" sz="950" dirty="0">
                <a:solidFill>
                  <a:srgbClr val="9AA7CC"/>
                </a:solidFill>
                <a:latin typeface="Arial" pitchFamily="34" charset="0"/>
                <a:ea typeface="Arial" pitchFamily="34" charset="-122"/>
                <a:cs typeface="Arial" pitchFamily="34" charset="-120"/>
              </a:rPr>
              <a:t>Soutenance</a:t>
            </a:r>
            <a:endParaRPr lang="en-US" sz="950" dirty="0"/>
          </a:p>
        </p:txBody>
      </p:sp>
      <p:sp>
        <p:nvSpPr>
          <p:cNvPr id="30" name="Shape 28"/>
          <p:cNvSpPr/>
          <p:nvPr/>
        </p:nvSpPr>
        <p:spPr>
          <a:xfrm>
            <a:off x="502920" y="2331720"/>
            <a:ext cx="4023360" cy="2240280"/>
          </a:xfrm>
          <a:prstGeom prst="roundRect">
            <a:avLst>
              <a:gd name="adj" fmla="val 2857"/>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31" name="Shape 29"/>
          <p:cNvSpPr/>
          <p:nvPr/>
        </p:nvSpPr>
        <p:spPr>
          <a:xfrm>
            <a:off x="685800" y="2487168"/>
            <a:ext cx="402336" cy="402336"/>
          </a:xfrm>
          <a:prstGeom prst="ellipse">
            <a:avLst/>
          </a:prstGeom>
          <a:solidFill>
            <a:srgbClr val="3D7BFD"/>
          </a:solidFill>
          <a:ln/>
        </p:spPr>
      </p:sp>
      <p:pic>
        <p:nvPicPr>
          <p:cNvPr id="32" name="Image 0" descr="preencoded.png">    </p:cNvPr>
          <p:cNvPicPr>
            <a:picLocks noChangeAspect="1"/>
          </p:cNvPicPr>
          <p:nvPr/>
        </p:nvPicPr>
        <p:blipFill>
          <a:blip r:embed="rId1"/>
          <a:stretch>
            <a:fillRect/>
          </a:stretch>
        </p:blipFill>
        <p:spPr>
          <a:xfrm>
            <a:off x="778337" y="2579705"/>
            <a:ext cx="217261" cy="217261"/>
          </a:xfrm>
          <a:prstGeom prst="rect">
            <a:avLst/>
          </a:prstGeom>
        </p:spPr>
      </p:pic>
      <p:sp>
        <p:nvSpPr>
          <p:cNvPr id="33" name="Text 30"/>
          <p:cNvSpPr/>
          <p:nvPr/>
        </p:nvSpPr>
        <p:spPr>
          <a:xfrm>
            <a:off x="1207008" y="2523744"/>
            <a:ext cx="3108960" cy="320040"/>
          </a:xfrm>
          <a:prstGeom prst="rect">
            <a:avLst/>
          </a:prstGeom>
          <a:noFill/>
          <a:ln/>
        </p:spPr>
        <p:txBody>
          <a:bodyPr wrap="square" lIns="0" tIns="0" rIns="0" bIns="0" rtlCol="0" anchor="ctr"/>
          <a:lstStyle/>
          <a:p>
            <a:pPr indent="0" marL="0">
              <a:buNone/>
            </a:pPr>
            <a:r>
              <a:rPr lang="en-US" sz="1450" b="1" dirty="0">
                <a:solidFill>
                  <a:srgbClr val="EEF2FF"/>
                </a:solidFill>
                <a:latin typeface="Arial" pitchFamily="34" charset="0"/>
                <a:ea typeface="Arial" pitchFamily="34" charset="-122"/>
                <a:cs typeface="Arial" pitchFamily="34" charset="-120"/>
              </a:rPr>
              <a:t>Répartition du binôme</a:t>
            </a:r>
            <a:endParaRPr lang="en-US" sz="1450" dirty="0"/>
          </a:p>
        </p:txBody>
      </p:sp>
      <p:sp>
        <p:nvSpPr>
          <p:cNvPr id="34" name="Text 31"/>
          <p:cNvSpPr/>
          <p:nvPr/>
        </p:nvSpPr>
        <p:spPr>
          <a:xfrm>
            <a:off x="749808" y="3017520"/>
            <a:ext cx="3566160" cy="1417320"/>
          </a:xfrm>
          <a:prstGeom prst="rect">
            <a:avLst/>
          </a:prstGeom>
          <a:noFill/>
          <a:ln/>
        </p:spPr>
        <p:txBody>
          <a:bodyPr wrap="square" lIns="0" tIns="0" rIns="0" bIns="0" rtlCol="0" anchor="ctr"/>
          <a:lstStyle/>
          <a:p>
            <a:pPr indent="0" marL="0">
              <a:spcAft>
                <a:spcPts val="800"/>
              </a:spcAft>
              <a:buNone/>
            </a:pPr>
            <a:r>
              <a:rPr lang="en-US" sz="1200" b="1" dirty="0">
                <a:solidFill>
                  <a:srgbClr val="7FB2FF"/>
                </a:solidFill>
                <a:latin typeface="Arial" pitchFamily="34" charset="0"/>
                <a:ea typeface="Arial" pitchFamily="34" charset="-122"/>
                <a:cs typeface="Arial" pitchFamily="34" charset="-120"/>
              </a:rPr>
              <a:t>Frontend : </a:t>
            </a:r>
            <a:pPr indent="0" marL="0">
              <a:spcAft>
                <a:spcPts val="800"/>
              </a:spcAft>
              <a:buNone/>
            </a:pPr>
            <a:r>
              <a:rPr lang="en-US" sz="1200" dirty="0">
                <a:solidFill>
                  <a:srgbClr val="EEF2FF"/>
                </a:solidFill>
                <a:latin typeface="Arial" pitchFamily="34" charset="0"/>
                <a:ea typeface="Arial" pitchFamily="34" charset="-122"/>
                <a:cs typeface="Arial" pitchFamily="34" charset="-120"/>
              </a:rPr>
              <a:t>écrans, navigation, services HTTP, animations</a:t>
            </a:r>
            <a:endParaRPr lang="en-US" sz="1200" dirty="0"/>
          </a:p>
          <a:p>
            <a:pPr indent="0" marL="0">
              <a:spcAft>
                <a:spcPts val="800"/>
              </a:spcAft>
              <a:buNone/>
            </a:pPr>
            <a:r>
              <a:rPr lang="en-US" sz="1200" b="1" dirty="0">
                <a:solidFill>
                  <a:srgbClr val="7FB2FF"/>
                </a:solidFill>
                <a:latin typeface="Arial" pitchFamily="34" charset="0"/>
                <a:ea typeface="Arial" pitchFamily="34" charset="-122"/>
                <a:cs typeface="Arial" pitchFamily="34" charset="-120"/>
              </a:rPr>
              <a:t>Backend : </a:t>
            </a:r>
            <a:pPr indent="0" marL="0">
              <a:spcAft>
                <a:spcPts val="800"/>
              </a:spcAft>
              <a:buNone/>
            </a:pPr>
            <a:r>
              <a:rPr lang="en-US" sz="1200" dirty="0">
                <a:solidFill>
                  <a:srgbClr val="EEF2FF"/>
                </a:solidFill>
                <a:latin typeface="Arial" pitchFamily="34" charset="0"/>
                <a:ea typeface="Arial" pitchFamily="34" charset="-122"/>
                <a:cs typeface="Arial" pitchFamily="34" charset="-120"/>
              </a:rPr>
              <a:t>API PHP, SQL, authentification, moteur de score</a:t>
            </a:r>
            <a:endParaRPr lang="en-US" sz="1200" dirty="0"/>
          </a:p>
          <a:p>
            <a:pPr indent="0" marL="0">
              <a:spcAft>
                <a:spcPts val="800"/>
              </a:spcAft>
              <a:buNone/>
            </a:pPr>
            <a:r>
              <a:rPr lang="en-US" sz="1200" b="1" dirty="0">
                <a:solidFill>
                  <a:srgbClr val="FFD166"/>
                </a:solidFill>
                <a:latin typeface="Arial" pitchFamily="34" charset="0"/>
                <a:ea typeface="Arial" pitchFamily="34" charset="-122"/>
                <a:cs typeface="Arial" pitchFamily="34" charset="-120"/>
              </a:rPr>
              <a:t>En commun : </a:t>
            </a:r>
            <a:pPr indent="0" marL="0">
              <a:spcAft>
                <a:spcPts val="800"/>
              </a:spcAft>
              <a:buNone/>
            </a:pPr>
            <a:r>
              <a:rPr lang="en-US" sz="1200" dirty="0">
                <a:solidFill>
                  <a:srgbClr val="EEF2FF"/>
                </a:solidFill>
                <a:latin typeface="Arial" pitchFamily="34" charset="0"/>
                <a:ea typeface="Arial" pitchFamily="34" charset="-122"/>
                <a:cs typeface="Arial" pitchFamily="34" charset="-120"/>
              </a:rPr>
              <a:t>contrat JSON, modèles, tests bout en bout, README, démo</a:t>
            </a:r>
            <a:endParaRPr lang="en-US" sz="1200" dirty="0"/>
          </a:p>
        </p:txBody>
      </p:sp>
      <p:sp>
        <p:nvSpPr>
          <p:cNvPr id="35" name="Shape 32"/>
          <p:cNvSpPr/>
          <p:nvPr/>
        </p:nvSpPr>
        <p:spPr>
          <a:xfrm>
            <a:off x="4754880" y="2331720"/>
            <a:ext cx="3886200" cy="2240280"/>
          </a:xfrm>
          <a:prstGeom prst="roundRect">
            <a:avLst>
              <a:gd name="adj" fmla="val 2857"/>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36" name="Shape 33"/>
          <p:cNvSpPr/>
          <p:nvPr/>
        </p:nvSpPr>
        <p:spPr>
          <a:xfrm>
            <a:off x="4937760" y="2487168"/>
            <a:ext cx="402336" cy="402336"/>
          </a:xfrm>
          <a:prstGeom prst="ellipse">
            <a:avLst/>
          </a:prstGeom>
          <a:solidFill>
            <a:srgbClr val="3D7BFD"/>
          </a:solidFill>
          <a:ln/>
        </p:spPr>
      </p:sp>
      <p:pic>
        <p:nvPicPr>
          <p:cNvPr id="37" name="Image 1" descr="preencoded.png">    </p:cNvPr>
          <p:cNvPicPr>
            <a:picLocks noChangeAspect="1"/>
          </p:cNvPicPr>
          <p:nvPr/>
        </p:nvPicPr>
        <p:blipFill>
          <a:blip r:embed="rId2"/>
          <a:stretch>
            <a:fillRect/>
          </a:stretch>
        </p:blipFill>
        <p:spPr>
          <a:xfrm>
            <a:off x="5030297" y="2579705"/>
            <a:ext cx="217261" cy="217261"/>
          </a:xfrm>
          <a:prstGeom prst="rect">
            <a:avLst/>
          </a:prstGeom>
        </p:spPr>
      </p:pic>
      <p:sp>
        <p:nvSpPr>
          <p:cNvPr id="38" name="Text 34"/>
          <p:cNvSpPr/>
          <p:nvPr/>
        </p:nvSpPr>
        <p:spPr>
          <a:xfrm>
            <a:off x="5458968" y="2523744"/>
            <a:ext cx="3017520" cy="320040"/>
          </a:xfrm>
          <a:prstGeom prst="rect">
            <a:avLst/>
          </a:prstGeom>
          <a:noFill/>
          <a:ln/>
        </p:spPr>
        <p:txBody>
          <a:bodyPr wrap="square" lIns="0" tIns="0" rIns="0" bIns="0" rtlCol="0" anchor="ctr"/>
          <a:lstStyle/>
          <a:p>
            <a:pPr indent="0" marL="0">
              <a:buNone/>
            </a:pPr>
            <a:r>
              <a:rPr lang="en-US" sz="1450" b="1" dirty="0">
                <a:solidFill>
                  <a:srgbClr val="EEF2FF"/>
                </a:solidFill>
                <a:latin typeface="Arial" pitchFamily="34" charset="0"/>
                <a:ea typeface="Arial" pitchFamily="34" charset="-122"/>
                <a:cs typeface="Arial" pitchFamily="34" charset="-120"/>
              </a:rPr>
              <a:t>Méthode et outillage</a:t>
            </a:r>
            <a:endParaRPr lang="en-US" sz="1450" dirty="0"/>
          </a:p>
        </p:txBody>
      </p:sp>
      <p:sp>
        <p:nvSpPr>
          <p:cNvPr id="39" name="Text 35"/>
          <p:cNvSpPr/>
          <p:nvPr/>
        </p:nvSpPr>
        <p:spPr>
          <a:xfrm>
            <a:off x="4983480" y="3017520"/>
            <a:ext cx="3474720" cy="1417320"/>
          </a:xfrm>
          <a:prstGeom prst="rect">
            <a:avLst/>
          </a:prstGeom>
          <a:noFill/>
          <a:ln/>
        </p:spPr>
        <p:txBody>
          <a:bodyPr wrap="square" lIns="0" tIns="0" rIns="0" bIns="0" rtlCol="0" anchor="ctr"/>
          <a:lstStyle/>
          <a:p>
            <a:pPr marL="342900" indent="-342900">
              <a:spcAft>
                <a:spcPts val="1000"/>
              </a:spcAft>
              <a:buSzPct val="100000"/>
              <a:buChar char="•"/>
            </a:pPr>
            <a:r>
              <a:rPr lang="en-US" sz="1200" dirty="0">
                <a:solidFill>
                  <a:srgbClr val="EEF2FF"/>
                </a:solidFill>
                <a:latin typeface="Arial" pitchFamily="34" charset="0"/>
                <a:ea typeface="Arial" pitchFamily="34" charset="-122"/>
                <a:cs typeface="Arial" pitchFamily="34" charset="-120"/>
              </a:rPr>
              <a:t>Contrat d'API figé dès J1 : chacun avance sans bloquer l'autre</a:t>
            </a:r>
            <a:endParaRPr lang="en-US" sz="1200" dirty="0"/>
          </a:p>
          <a:p>
            <a:pPr marL="342900" indent="-342900">
              <a:spcAft>
                <a:spcPts val="1000"/>
              </a:spcAft>
              <a:buSzPct val="100000"/>
              <a:buChar char="•"/>
            </a:pPr>
            <a:r>
              <a:rPr lang="en-US" sz="1200" dirty="0">
                <a:solidFill>
                  <a:srgbClr val="EEF2FF"/>
                </a:solidFill>
                <a:latin typeface="Arial" pitchFamily="34" charset="0"/>
                <a:ea typeface="Arial" pitchFamily="34" charset="-122"/>
                <a:cs typeface="Arial" pitchFamily="34" charset="-120"/>
              </a:rPr>
              <a:t>Git : branches courtes, commits réguliers, revue croisée</a:t>
            </a:r>
            <a:endParaRPr lang="en-US" sz="1200" dirty="0"/>
          </a:p>
          <a:p>
            <a:pPr marL="342900" indent="-342900">
              <a:spcAft>
                <a:spcPts val="1000"/>
              </a:spcAft>
              <a:buSzPct val="100000"/>
              <a:buChar char="•"/>
            </a:pPr>
            <a:r>
              <a:rPr lang="en-US" sz="1200" dirty="0">
                <a:solidFill>
                  <a:srgbClr val="EEF2FF"/>
                </a:solidFill>
                <a:latin typeface="Arial" pitchFamily="34" charset="0"/>
                <a:ea typeface="Arial" pitchFamily="34" charset="-122"/>
                <a:cs typeface="Arial" pitchFamily="34" charset="-120"/>
              </a:rPr>
              <a:t>Version soutenue taguée v1.0-demo, rendu par pull request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6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3 · Conception</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Architecture 3 couches</a:t>
            </a:r>
            <a:endParaRPr lang="en-US" sz="2700" dirty="0"/>
          </a:p>
        </p:txBody>
      </p:sp>
      <p:sp>
        <p:nvSpPr>
          <p:cNvPr id="5" name="Shape 3"/>
          <p:cNvSpPr/>
          <p:nvPr/>
        </p:nvSpPr>
        <p:spPr>
          <a:xfrm>
            <a:off x="502920" y="1097280"/>
            <a:ext cx="1956816" cy="1874520"/>
          </a:xfrm>
          <a:prstGeom prst="roundRect">
            <a:avLst>
              <a:gd name="adj" fmla="val 3415"/>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6" name="Shape 4"/>
          <p:cNvSpPr/>
          <p:nvPr/>
        </p:nvSpPr>
        <p:spPr>
          <a:xfrm>
            <a:off x="1252728" y="1261872"/>
            <a:ext cx="457200" cy="457200"/>
          </a:xfrm>
          <a:prstGeom prst="ellipse">
            <a:avLst/>
          </a:prstGeom>
          <a:solidFill>
            <a:srgbClr val="3D7BFD"/>
          </a:solidFill>
          <a:ln/>
        </p:spPr>
      </p:sp>
      <p:pic>
        <p:nvPicPr>
          <p:cNvPr id="7" name="Image 0" descr="preencoded.png">    </p:cNvPr>
          <p:cNvPicPr>
            <a:picLocks noChangeAspect="1"/>
          </p:cNvPicPr>
          <p:nvPr/>
        </p:nvPicPr>
        <p:blipFill>
          <a:blip r:embed="rId1"/>
          <a:stretch>
            <a:fillRect/>
          </a:stretch>
        </p:blipFill>
        <p:spPr>
          <a:xfrm>
            <a:off x="1357884" y="1367028"/>
            <a:ext cx="246888" cy="246888"/>
          </a:xfrm>
          <a:prstGeom prst="rect">
            <a:avLst/>
          </a:prstGeom>
        </p:spPr>
      </p:pic>
      <p:sp>
        <p:nvSpPr>
          <p:cNvPr id="8" name="Text 5"/>
          <p:cNvSpPr/>
          <p:nvPr/>
        </p:nvSpPr>
        <p:spPr>
          <a:xfrm>
            <a:off x="576072" y="1828800"/>
            <a:ext cx="1810512" cy="274320"/>
          </a:xfrm>
          <a:prstGeom prst="rect">
            <a:avLst/>
          </a:prstGeom>
          <a:noFill/>
          <a:ln/>
        </p:spPr>
        <p:txBody>
          <a:bodyPr wrap="square" lIns="0" tIns="0" rIns="0" bIns="0" rtlCol="0" anchor="ctr"/>
          <a:lstStyle/>
          <a:p>
            <a:pPr algn="ctr" indent="0" marL="0">
              <a:buNone/>
            </a:pPr>
            <a:r>
              <a:rPr lang="en-US" sz="1450" b="1" dirty="0">
                <a:solidFill>
                  <a:srgbClr val="EEF2FF"/>
                </a:solidFill>
                <a:latin typeface="Arial" pitchFamily="34" charset="0"/>
                <a:ea typeface="Arial" pitchFamily="34" charset="-122"/>
                <a:cs typeface="Arial" pitchFamily="34" charset="-120"/>
              </a:rPr>
              <a:t>Client JavaFX</a:t>
            </a:r>
            <a:endParaRPr lang="en-US" sz="1450" dirty="0"/>
          </a:p>
        </p:txBody>
      </p:sp>
      <p:sp>
        <p:nvSpPr>
          <p:cNvPr id="9" name="Text 6"/>
          <p:cNvSpPr/>
          <p:nvPr/>
        </p:nvSpPr>
        <p:spPr>
          <a:xfrm>
            <a:off x="576072" y="2103120"/>
            <a:ext cx="1810512" cy="237744"/>
          </a:xfrm>
          <a:prstGeom prst="rect">
            <a:avLst/>
          </a:prstGeom>
          <a:noFill/>
          <a:ln/>
        </p:spPr>
        <p:txBody>
          <a:bodyPr wrap="square" lIns="0" tIns="0" rIns="0" bIns="0" rtlCol="0" anchor="ctr"/>
          <a:lstStyle/>
          <a:p>
            <a:pPr algn="ctr" indent="0" marL="0">
              <a:buNone/>
            </a:pPr>
            <a:r>
              <a:rPr lang="en-US" sz="1050" dirty="0">
                <a:solidFill>
                  <a:srgbClr val="7FB2FF"/>
                </a:solidFill>
                <a:latin typeface="Arial" pitchFamily="34" charset="0"/>
                <a:ea typeface="Arial" pitchFamily="34" charset="-122"/>
                <a:cs typeface="Arial" pitchFamily="34" charset="-120"/>
              </a:rPr>
              <a:t>Java 17+ / JavaFX 21</a:t>
            </a:r>
            <a:endParaRPr lang="en-US" sz="1050" dirty="0"/>
          </a:p>
        </p:txBody>
      </p:sp>
      <p:sp>
        <p:nvSpPr>
          <p:cNvPr id="10" name="Text 7"/>
          <p:cNvSpPr/>
          <p:nvPr/>
        </p:nvSpPr>
        <p:spPr>
          <a:xfrm>
            <a:off x="576072" y="2359152"/>
            <a:ext cx="1810512" cy="566928"/>
          </a:xfrm>
          <a:prstGeom prst="rect">
            <a:avLst/>
          </a:prstGeom>
          <a:noFill/>
          <a:ln/>
        </p:spPr>
        <p:txBody>
          <a:bodyPr wrap="square" lIns="0" tIns="0" rIns="0" bIns="0" rtlCol="0" anchor="ctr"/>
          <a:lstStyle/>
          <a:p>
            <a:pPr algn="ctr" indent="0" marL="0">
              <a:buNone/>
            </a:pPr>
            <a:r>
              <a:rPr lang="en-US" sz="1000" dirty="0">
                <a:solidFill>
                  <a:srgbClr val="9AA7CC"/>
                </a:solidFill>
                <a:latin typeface="Arial" pitchFamily="34" charset="0"/>
                <a:ea typeface="Arial" pitchFamily="34" charset="-122"/>
                <a:cs typeface="Arial" pitchFamily="34" charset="-120"/>
              </a:rPr>
              <a:t>8 écrans FXML, animations,</a:t>
            </a:r>
            <a:endParaRPr lang="en-US" sz="1000" dirty="0"/>
          </a:p>
          <a:p>
            <a:pPr algn="ctr" indent="0" marL="0">
              <a:buNone/>
            </a:pPr>
            <a:r>
              <a:rPr lang="en-US" sz="1000" dirty="0">
                <a:solidFill>
                  <a:srgbClr val="9AA7CC"/>
                </a:solidFill>
                <a:latin typeface="Arial" pitchFamily="34" charset="0"/>
                <a:ea typeface="Arial" pitchFamily="34" charset="-122"/>
                <a:cs typeface="Arial" pitchFamily="34" charset="-120"/>
              </a:rPr>
              <a:t>session locale, polling 1,2 s</a:t>
            </a:r>
            <a:endParaRPr lang="en-US" sz="1000" dirty="0"/>
          </a:p>
        </p:txBody>
      </p:sp>
      <p:sp>
        <p:nvSpPr>
          <p:cNvPr id="11" name="Shape 8"/>
          <p:cNvSpPr/>
          <p:nvPr/>
        </p:nvSpPr>
        <p:spPr>
          <a:xfrm>
            <a:off x="3593592" y="1097280"/>
            <a:ext cx="1956816" cy="1874520"/>
          </a:xfrm>
          <a:prstGeom prst="roundRect">
            <a:avLst>
              <a:gd name="adj" fmla="val 3415"/>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2" name="Shape 9"/>
          <p:cNvSpPr/>
          <p:nvPr/>
        </p:nvSpPr>
        <p:spPr>
          <a:xfrm>
            <a:off x="4343400" y="1261872"/>
            <a:ext cx="457200" cy="457200"/>
          </a:xfrm>
          <a:prstGeom prst="ellipse">
            <a:avLst/>
          </a:prstGeom>
          <a:solidFill>
            <a:srgbClr val="3D7BFD"/>
          </a:solidFill>
          <a:ln/>
        </p:spPr>
      </p:sp>
      <p:pic>
        <p:nvPicPr>
          <p:cNvPr id="13" name="Image 1" descr="preencoded.png">    </p:cNvPr>
          <p:cNvPicPr>
            <a:picLocks noChangeAspect="1"/>
          </p:cNvPicPr>
          <p:nvPr/>
        </p:nvPicPr>
        <p:blipFill>
          <a:blip r:embed="rId2"/>
          <a:stretch>
            <a:fillRect/>
          </a:stretch>
        </p:blipFill>
        <p:spPr>
          <a:xfrm>
            <a:off x="4448556" y="1367028"/>
            <a:ext cx="246888" cy="246888"/>
          </a:xfrm>
          <a:prstGeom prst="rect">
            <a:avLst/>
          </a:prstGeom>
        </p:spPr>
      </p:pic>
      <p:sp>
        <p:nvSpPr>
          <p:cNvPr id="14" name="Text 10"/>
          <p:cNvSpPr/>
          <p:nvPr/>
        </p:nvSpPr>
        <p:spPr>
          <a:xfrm>
            <a:off x="3666744" y="1828800"/>
            <a:ext cx="1810512" cy="274320"/>
          </a:xfrm>
          <a:prstGeom prst="rect">
            <a:avLst/>
          </a:prstGeom>
          <a:noFill/>
          <a:ln/>
        </p:spPr>
        <p:txBody>
          <a:bodyPr wrap="square" lIns="0" tIns="0" rIns="0" bIns="0" rtlCol="0" anchor="ctr"/>
          <a:lstStyle/>
          <a:p>
            <a:pPr algn="ctr" indent="0" marL="0">
              <a:buNone/>
            </a:pPr>
            <a:r>
              <a:rPr lang="en-US" sz="1450" b="1" dirty="0">
                <a:solidFill>
                  <a:srgbClr val="EEF2FF"/>
                </a:solidFill>
                <a:latin typeface="Arial" pitchFamily="34" charset="0"/>
                <a:ea typeface="Arial" pitchFamily="34" charset="-122"/>
                <a:cs typeface="Arial" pitchFamily="34" charset="-120"/>
              </a:rPr>
              <a:t>API REST PHP 8</a:t>
            </a:r>
            <a:endParaRPr lang="en-US" sz="1450" dirty="0"/>
          </a:p>
        </p:txBody>
      </p:sp>
      <p:sp>
        <p:nvSpPr>
          <p:cNvPr id="15" name="Text 11"/>
          <p:cNvSpPr/>
          <p:nvPr/>
        </p:nvSpPr>
        <p:spPr>
          <a:xfrm>
            <a:off x="3666744" y="2103120"/>
            <a:ext cx="1810512" cy="237744"/>
          </a:xfrm>
          <a:prstGeom prst="rect">
            <a:avLst/>
          </a:prstGeom>
          <a:noFill/>
          <a:ln/>
        </p:spPr>
        <p:txBody>
          <a:bodyPr wrap="square" lIns="0" tIns="0" rIns="0" bIns="0" rtlCol="0" anchor="ctr"/>
          <a:lstStyle/>
          <a:p>
            <a:pPr algn="ctr" indent="0" marL="0">
              <a:buNone/>
            </a:pPr>
            <a:r>
              <a:rPr lang="en-US" sz="1050" dirty="0">
                <a:solidFill>
                  <a:srgbClr val="7FB2FF"/>
                </a:solidFill>
                <a:latin typeface="Arial" pitchFamily="34" charset="0"/>
                <a:ea typeface="Arial" pitchFamily="34" charset="-122"/>
                <a:cs typeface="Arial" pitchFamily="34" charset="-120"/>
              </a:rPr>
              <a:t>/api/v1 — POC</a:t>
            </a:r>
            <a:endParaRPr lang="en-US" sz="1050" dirty="0"/>
          </a:p>
        </p:txBody>
      </p:sp>
      <p:sp>
        <p:nvSpPr>
          <p:cNvPr id="16" name="Text 12"/>
          <p:cNvSpPr/>
          <p:nvPr/>
        </p:nvSpPr>
        <p:spPr>
          <a:xfrm>
            <a:off x="3666744" y="2359152"/>
            <a:ext cx="1810512" cy="566928"/>
          </a:xfrm>
          <a:prstGeom prst="rect">
            <a:avLst/>
          </a:prstGeom>
          <a:noFill/>
          <a:ln/>
        </p:spPr>
        <p:txBody>
          <a:bodyPr wrap="square" lIns="0" tIns="0" rIns="0" bIns="0" rtlCol="0" anchor="ctr"/>
          <a:lstStyle/>
          <a:p>
            <a:pPr algn="ctr" indent="0" marL="0">
              <a:buNone/>
            </a:pPr>
            <a:r>
              <a:rPr lang="en-US" sz="1000" dirty="0">
                <a:solidFill>
                  <a:srgbClr val="9AA7CC"/>
                </a:solidFill>
                <a:latin typeface="Arial" pitchFamily="34" charset="0"/>
                <a:ea typeface="Arial" pitchFamily="34" charset="-122"/>
                <a:cs typeface="Arial" pitchFamily="34" charset="-120"/>
              </a:rPr>
              <a:t>validation, moteur de partie,</a:t>
            </a:r>
            <a:endParaRPr lang="en-US" sz="1000" dirty="0"/>
          </a:p>
          <a:p>
            <a:pPr algn="ctr" indent="0" marL="0">
              <a:buNone/>
            </a:pPr>
            <a:r>
              <a:rPr lang="en-US" sz="1000" dirty="0">
                <a:solidFill>
                  <a:srgbClr val="9AA7CC"/>
                </a:solidFill>
                <a:latin typeface="Arial" pitchFamily="34" charset="0"/>
                <a:ea typeface="Arial" pitchFamily="34" charset="-122"/>
                <a:cs typeface="Arial" pitchFamily="34" charset="-120"/>
              </a:rPr>
              <a:t>jetons Bearer, scores serveur</a:t>
            </a:r>
            <a:endParaRPr lang="en-US" sz="1000" dirty="0"/>
          </a:p>
        </p:txBody>
      </p:sp>
      <p:sp>
        <p:nvSpPr>
          <p:cNvPr id="17" name="Shape 13"/>
          <p:cNvSpPr/>
          <p:nvPr/>
        </p:nvSpPr>
        <p:spPr>
          <a:xfrm>
            <a:off x="6684264" y="1097280"/>
            <a:ext cx="1956816" cy="1874520"/>
          </a:xfrm>
          <a:prstGeom prst="roundRect">
            <a:avLst>
              <a:gd name="adj" fmla="val 3415"/>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8" name="Shape 14"/>
          <p:cNvSpPr/>
          <p:nvPr/>
        </p:nvSpPr>
        <p:spPr>
          <a:xfrm>
            <a:off x="7434072" y="1261872"/>
            <a:ext cx="457200" cy="457200"/>
          </a:xfrm>
          <a:prstGeom prst="ellipse">
            <a:avLst/>
          </a:prstGeom>
          <a:solidFill>
            <a:srgbClr val="3D7BFD"/>
          </a:solidFill>
          <a:ln/>
        </p:spPr>
      </p:sp>
      <p:pic>
        <p:nvPicPr>
          <p:cNvPr id="19" name="Image 2" descr="preencoded.png">    </p:cNvPr>
          <p:cNvPicPr>
            <a:picLocks noChangeAspect="1"/>
          </p:cNvPicPr>
          <p:nvPr/>
        </p:nvPicPr>
        <p:blipFill>
          <a:blip r:embed="rId3"/>
          <a:stretch>
            <a:fillRect/>
          </a:stretch>
        </p:blipFill>
        <p:spPr>
          <a:xfrm>
            <a:off x="7539228" y="1367028"/>
            <a:ext cx="246888" cy="246888"/>
          </a:xfrm>
          <a:prstGeom prst="rect">
            <a:avLst/>
          </a:prstGeom>
        </p:spPr>
      </p:pic>
      <p:sp>
        <p:nvSpPr>
          <p:cNvPr id="20" name="Text 15"/>
          <p:cNvSpPr/>
          <p:nvPr/>
        </p:nvSpPr>
        <p:spPr>
          <a:xfrm>
            <a:off x="6757416" y="1828800"/>
            <a:ext cx="1810512" cy="274320"/>
          </a:xfrm>
          <a:prstGeom prst="rect">
            <a:avLst/>
          </a:prstGeom>
          <a:noFill/>
          <a:ln/>
        </p:spPr>
        <p:txBody>
          <a:bodyPr wrap="square" lIns="0" tIns="0" rIns="0" bIns="0" rtlCol="0" anchor="ctr"/>
          <a:lstStyle/>
          <a:p>
            <a:pPr algn="ctr" indent="0" marL="0">
              <a:buNone/>
            </a:pPr>
            <a:r>
              <a:rPr lang="en-US" sz="1450" b="1" dirty="0">
                <a:solidFill>
                  <a:srgbClr val="EEF2FF"/>
                </a:solidFill>
                <a:latin typeface="Arial" pitchFamily="34" charset="0"/>
                <a:ea typeface="Arial" pitchFamily="34" charset="-122"/>
                <a:cs typeface="Arial" pitchFamily="34" charset="-120"/>
              </a:rPr>
              <a:t>MySQL 8</a:t>
            </a:r>
            <a:endParaRPr lang="en-US" sz="1450" dirty="0"/>
          </a:p>
        </p:txBody>
      </p:sp>
      <p:sp>
        <p:nvSpPr>
          <p:cNvPr id="21" name="Text 16"/>
          <p:cNvSpPr/>
          <p:nvPr/>
        </p:nvSpPr>
        <p:spPr>
          <a:xfrm>
            <a:off x="6757416" y="2103120"/>
            <a:ext cx="1810512" cy="237744"/>
          </a:xfrm>
          <a:prstGeom prst="rect">
            <a:avLst/>
          </a:prstGeom>
          <a:noFill/>
          <a:ln/>
        </p:spPr>
        <p:txBody>
          <a:bodyPr wrap="square" lIns="0" tIns="0" rIns="0" bIns="0" rtlCol="0" anchor="ctr"/>
          <a:lstStyle/>
          <a:p>
            <a:pPr algn="ctr" indent="0" marL="0">
              <a:buNone/>
            </a:pPr>
            <a:r>
              <a:rPr lang="en-US" sz="1050" dirty="0">
                <a:solidFill>
                  <a:srgbClr val="7FB2FF"/>
                </a:solidFill>
                <a:latin typeface="Arial" pitchFamily="34" charset="0"/>
                <a:ea typeface="Arial" pitchFamily="34" charset="-122"/>
                <a:cs typeface="Arial" pitchFamily="34" charset="-120"/>
              </a:rPr>
              <a:t>base quizarena</a:t>
            </a:r>
            <a:endParaRPr lang="en-US" sz="1050" dirty="0"/>
          </a:p>
        </p:txBody>
      </p:sp>
      <p:sp>
        <p:nvSpPr>
          <p:cNvPr id="22" name="Text 17"/>
          <p:cNvSpPr/>
          <p:nvPr/>
        </p:nvSpPr>
        <p:spPr>
          <a:xfrm>
            <a:off x="6757416" y="2359152"/>
            <a:ext cx="1810512" cy="566928"/>
          </a:xfrm>
          <a:prstGeom prst="rect">
            <a:avLst/>
          </a:prstGeom>
          <a:noFill/>
          <a:ln/>
        </p:spPr>
        <p:txBody>
          <a:bodyPr wrap="square" lIns="0" tIns="0" rIns="0" bIns="0" rtlCol="0" anchor="ctr"/>
          <a:lstStyle/>
          <a:p>
            <a:pPr algn="ctr" indent="0" marL="0">
              <a:buNone/>
            </a:pPr>
            <a:r>
              <a:rPr lang="en-US" sz="1000" dirty="0">
                <a:solidFill>
                  <a:srgbClr val="9AA7CC"/>
                </a:solidFill>
                <a:latin typeface="Arial" pitchFamily="34" charset="0"/>
                <a:ea typeface="Arial" pitchFamily="34" charset="-122"/>
                <a:cs typeface="Arial" pitchFamily="34" charset="-120"/>
              </a:rPr>
              <a:t>7 tables, transactions,</a:t>
            </a:r>
            <a:endParaRPr lang="en-US" sz="1000" dirty="0"/>
          </a:p>
          <a:p>
            <a:pPr algn="ctr" indent="0" marL="0">
              <a:buNone/>
            </a:pPr>
            <a:r>
              <a:rPr lang="en-US" sz="1000" dirty="0">
                <a:solidFill>
                  <a:srgbClr val="9AA7CC"/>
                </a:solidFill>
                <a:latin typeface="Arial" pitchFamily="34" charset="0"/>
                <a:ea typeface="Arial" pitchFamily="34" charset="-122"/>
                <a:cs typeface="Arial" pitchFamily="34" charset="-120"/>
              </a:rPr>
              <a:t>requêtes préparées (PDO)</a:t>
            </a:r>
            <a:endParaRPr lang="en-US" sz="1000" dirty="0"/>
          </a:p>
        </p:txBody>
      </p:sp>
      <p:sp>
        <p:nvSpPr>
          <p:cNvPr id="23" name="Shape 18"/>
          <p:cNvSpPr/>
          <p:nvPr/>
        </p:nvSpPr>
        <p:spPr>
          <a:xfrm>
            <a:off x="2514600" y="2029968"/>
            <a:ext cx="1024128" cy="0"/>
          </a:xfrm>
          <a:prstGeom prst="line">
            <a:avLst/>
          </a:prstGeom>
          <a:noFill/>
          <a:ln w="31750">
            <a:solidFill>
              <a:srgbClr val="FFD166"/>
            </a:solidFill>
            <a:prstDash val="solid"/>
            <a:headEnd type="triangle"/>
            <a:tailEnd type="triangle"/>
          </a:ln>
        </p:spPr>
      </p:sp>
      <p:sp>
        <p:nvSpPr>
          <p:cNvPr id="24" name="Text 19"/>
          <p:cNvSpPr/>
          <p:nvPr/>
        </p:nvSpPr>
        <p:spPr>
          <a:xfrm>
            <a:off x="2240280" y="2121408"/>
            <a:ext cx="1572768" cy="502920"/>
          </a:xfrm>
          <a:prstGeom prst="rect">
            <a:avLst/>
          </a:prstGeom>
          <a:noFill/>
          <a:ln/>
        </p:spPr>
        <p:txBody>
          <a:bodyPr wrap="square" lIns="0" tIns="0" rIns="0" bIns="0" rtlCol="0" anchor="ctr"/>
          <a:lstStyle/>
          <a:p>
            <a:pPr algn="ctr" indent="0" marL="0">
              <a:buNone/>
            </a:pPr>
            <a:r>
              <a:rPr lang="en-US" sz="900" dirty="0">
                <a:solidFill>
                  <a:srgbClr val="FFD166"/>
                </a:solidFill>
                <a:latin typeface="Arial" pitchFamily="34" charset="0"/>
                <a:ea typeface="Arial" pitchFamily="34" charset="-122"/>
                <a:cs typeface="Arial" pitchFamily="34" charset="-120"/>
              </a:rPr>
              <a:t>HTTP JSON</a:t>
            </a:r>
            <a:endParaRPr lang="en-US" sz="900" dirty="0"/>
          </a:p>
          <a:p>
            <a:pPr algn="ctr" indent="0" marL="0">
              <a:buNone/>
            </a:pPr>
            <a:r>
              <a:rPr lang="en-US" sz="900" dirty="0">
                <a:solidFill>
                  <a:srgbClr val="FFD166"/>
                </a:solidFill>
                <a:latin typeface="Arial" pitchFamily="34" charset="0"/>
                <a:ea typeface="Arial" pitchFamily="34" charset="-122"/>
                <a:cs typeface="Arial" pitchFamily="34" charset="-120"/>
              </a:rPr>
              <a:t>jeton Bearer</a:t>
            </a:r>
            <a:endParaRPr lang="en-US" sz="900" dirty="0"/>
          </a:p>
        </p:txBody>
      </p:sp>
      <p:sp>
        <p:nvSpPr>
          <p:cNvPr id="25" name="Shape 20"/>
          <p:cNvSpPr/>
          <p:nvPr/>
        </p:nvSpPr>
        <p:spPr>
          <a:xfrm>
            <a:off x="5605272" y="2029968"/>
            <a:ext cx="1024128" cy="0"/>
          </a:xfrm>
          <a:prstGeom prst="line">
            <a:avLst/>
          </a:prstGeom>
          <a:noFill/>
          <a:ln w="31750">
            <a:solidFill>
              <a:srgbClr val="FFD166"/>
            </a:solidFill>
            <a:prstDash val="solid"/>
            <a:headEnd type="triangle"/>
            <a:tailEnd type="triangle"/>
          </a:ln>
        </p:spPr>
      </p:sp>
      <p:sp>
        <p:nvSpPr>
          <p:cNvPr id="26" name="Text 21"/>
          <p:cNvSpPr/>
          <p:nvPr/>
        </p:nvSpPr>
        <p:spPr>
          <a:xfrm>
            <a:off x="5330952" y="2121408"/>
            <a:ext cx="1572768" cy="502920"/>
          </a:xfrm>
          <a:prstGeom prst="rect">
            <a:avLst/>
          </a:prstGeom>
          <a:noFill/>
          <a:ln/>
        </p:spPr>
        <p:txBody>
          <a:bodyPr wrap="square" lIns="0" tIns="0" rIns="0" bIns="0" rtlCol="0" anchor="ctr"/>
          <a:lstStyle/>
          <a:p>
            <a:pPr algn="ctr" indent="0" marL="0">
              <a:buNone/>
            </a:pPr>
            <a:r>
              <a:rPr lang="en-US" sz="900" dirty="0">
                <a:solidFill>
                  <a:srgbClr val="FFD166"/>
                </a:solidFill>
                <a:latin typeface="Arial" pitchFamily="34" charset="0"/>
                <a:ea typeface="Arial" pitchFamily="34" charset="-122"/>
                <a:cs typeface="Arial" pitchFamily="34" charset="-120"/>
              </a:rPr>
              <a:t>PDO</a:t>
            </a:r>
            <a:endParaRPr lang="en-US" sz="900" dirty="0"/>
          </a:p>
          <a:p>
            <a:pPr algn="ctr" indent="0" marL="0">
              <a:buNone/>
            </a:pPr>
            <a:r>
              <a:rPr lang="en-US" sz="900" dirty="0">
                <a:solidFill>
                  <a:srgbClr val="FFD166"/>
                </a:solidFill>
                <a:latin typeface="Arial" pitchFamily="34" charset="0"/>
                <a:ea typeface="Arial" pitchFamily="34" charset="-122"/>
                <a:cs typeface="Arial" pitchFamily="34" charset="-120"/>
              </a:rPr>
              <a:t>requêtes préparées</a:t>
            </a:r>
            <a:endParaRPr lang="en-US" sz="900" dirty="0"/>
          </a:p>
        </p:txBody>
      </p:sp>
      <p:sp>
        <p:nvSpPr>
          <p:cNvPr id="27" name="Shape 22"/>
          <p:cNvSpPr/>
          <p:nvPr/>
        </p:nvSpPr>
        <p:spPr>
          <a:xfrm>
            <a:off x="502920" y="3246120"/>
            <a:ext cx="8138160" cy="713232"/>
          </a:xfrm>
          <a:prstGeom prst="roundRect">
            <a:avLst>
              <a:gd name="adj" fmla="val 8974"/>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28" name="Shape 23"/>
          <p:cNvSpPr/>
          <p:nvPr/>
        </p:nvSpPr>
        <p:spPr>
          <a:xfrm>
            <a:off x="685800" y="3392424"/>
            <a:ext cx="420624" cy="420624"/>
          </a:xfrm>
          <a:prstGeom prst="ellipse">
            <a:avLst/>
          </a:prstGeom>
          <a:solidFill>
            <a:srgbClr val="3D7BFD"/>
          </a:solidFill>
          <a:ln/>
        </p:spPr>
      </p:sp>
      <p:pic>
        <p:nvPicPr>
          <p:cNvPr id="29" name="Image 3" descr="preencoded.png">    </p:cNvPr>
          <p:cNvPicPr>
            <a:picLocks noChangeAspect="1"/>
          </p:cNvPicPr>
          <p:nvPr/>
        </p:nvPicPr>
        <p:blipFill>
          <a:blip r:embed="rId4"/>
          <a:stretch>
            <a:fillRect/>
          </a:stretch>
        </p:blipFill>
        <p:spPr>
          <a:xfrm>
            <a:off x="782544" y="3489168"/>
            <a:ext cx="227137" cy="227137"/>
          </a:xfrm>
          <a:prstGeom prst="rect">
            <a:avLst/>
          </a:prstGeom>
        </p:spPr>
      </p:pic>
      <p:sp>
        <p:nvSpPr>
          <p:cNvPr id="30" name="Text 24"/>
          <p:cNvSpPr/>
          <p:nvPr/>
        </p:nvSpPr>
        <p:spPr>
          <a:xfrm>
            <a:off x="1261872" y="3246120"/>
            <a:ext cx="7223760" cy="713232"/>
          </a:xfrm>
          <a:prstGeom prst="rect">
            <a:avLst/>
          </a:prstGeom>
          <a:noFill/>
          <a:ln/>
        </p:spPr>
        <p:txBody>
          <a:bodyPr wrap="square" lIns="0" tIns="0" rIns="0" bIns="0" rtlCol="0" anchor="ctr"/>
          <a:lstStyle/>
          <a:p>
            <a:pPr indent="0" marL="0">
              <a:buNone/>
            </a:pPr>
            <a:r>
              <a:rPr lang="en-US" sz="1250" b="1" dirty="0">
                <a:solidFill>
                  <a:srgbClr val="FFD166"/>
                </a:solidFill>
                <a:latin typeface="Arial" pitchFamily="34" charset="0"/>
                <a:ea typeface="Arial" pitchFamily="34" charset="-122"/>
                <a:cs typeface="Arial" pitchFamily="34" charset="-120"/>
              </a:rPr>
              <a:t>Réponse à la problématique : </a:t>
            </a:r>
            <a:pPr indent="0" marL="0">
              <a:buNone/>
            </a:pPr>
            <a:r>
              <a:rPr lang="en-US" sz="1250" dirty="0">
                <a:solidFill>
                  <a:srgbClr val="EEF2FF"/>
                </a:solidFill>
                <a:latin typeface="Arial" pitchFamily="34" charset="0"/>
                <a:ea typeface="Arial" pitchFamily="34" charset="-122"/>
                <a:cs typeface="Arial" pitchFamily="34" charset="-120"/>
              </a:rPr>
              <a:t>le client ne se connecte jamais à la base. Scores, échéances et éliminations sont calculés côté API — l'état serveur est l'unique source de vérité.</a:t>
            </a:r>
            <a:endParaRPr lang="en-US" sz="1250" dirty="0"/>
          </a:p>
        </p:txBody>
      </p:sp>
      <p:sp>
        <p:nvSpPr>
          <p:cNvPr id="31" name="Text 25"/>
          <p:cNvSpPr/>
          <p:nvPr/>
        </p:nvSpPr>
        <p:spPr>
          <a:xfrm>
            <a:off x="502920" y="4224528"/>
            <a:ext cx="8138160" cy="365760"/>
          </a:xfrm>
          <a:prstGeom prst="rect">
            <a:avLst/>
          </a:prstGeom>
          <a:noFill/>
          <a:ln/>
        </p:spPr>
        <p:txBody>
          <a:bodyPr wrap="square" lIns="0" tIns="0" rIns="0" bIns="0" rtlCol="0" anchor="ctr"/>
          <a:lstStyle/>
          <a:p>
            <a:pPr indent="0" marL="0">
              <a:buNone/>
            </a:pPr>
            <a:r>
              <a:rPr lang="en-US" sz="1250" b="1" dirty="0">
                <a:solidFill>
                  <a:srgbClr val="7FB2FF"/>
                </a:solidFill>
                <a:latin typeface="Arial" pitchFamily="34" charset="0"/>
                <a:ea typeface="Arial" pitchFamily="34" charset="-122"/>
                <a:cs typeface="Arial" pitchFamily="34" charset="-120"/>
              </a:rPr>
              <a:t>Évolution prévue : </a:t>
            </a:r>
            <a:pPr indent="0" marL="0">
              <a:buNone/>
            </a:pPr>
            <a:r>
              <a:rPr lang="en-US" sz="1250" dirty="0">
                <a:solidFill>
                  <a:srgbClr val="9AA7CC"/>
                </a:solidFill>
                <a:latin typeface="Arial" pitchFamily="34" charset="0"/>
                <a:ea typeface="Arial" pitchFamily="34" charset="-122"/>
                <a:cs typeface="Arial" pitchFamily="34" charset="-120"/>
              </a:rPr>
              <a:t>réécriture du backend en Spring Boot avec le même contrat REST (docs/openapi.yaml) — zéro changement côté client.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7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3 · Conception</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Modèle de données — 7 tables</a:t>
            </a:r>
            <a:endParaRPr lang="en-US" sz="2700" dirty="0"/>
          </a:p>
        </p:txBody>
      </p:sp>
      <p:sp>
        <p:nvSpPr>
          <p:cNvPr id="5" name="Shape 3"/>
          <p:cNvSpPr/>
          <p:nvPr/>
        </p:nvSpPr>
        <p:spPr>
          <a:xfrm>
            <a:off x="502920" y="1024128"/>
            <a:ext cx="1947672" cy="749808"/>
          </a:xfrm>
          <a:prstGeom prst="roundRect">
            <a:avLst>
              <a:gd name="adj" fmla="val 8537"/>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640080" y="1115568"/>
            <a:ext cx="1691640" cy="256032"/>
          </a:xfrm>
          <a:prstGeom prst="rect">
            <a:avLst/>
          </a:prstGeom>
          <a:noFill/>
          <a:ln/>
        </p:spPr>
        <p:txBody>
          <a:bodyPr wrap="square" lIns="0" tIns="0" rIns="0" bIns="0" rtlCol="0" anchor="ctr"/>
          <a:lstStyle/>
          <a:p>
            <a:pPr indent="0" marL="0">
              <a:buNone/>
            </a:pPr>
            <a:r>
              <a:rPr lang="en-US" sz="1250" b="1" dirty="0">
                <a:solidFill>
                  <a:srgbClr val="7FB2FF"/>
                </a:solidFill>
                <a:latin typeface="Courier New" pitchFamily="34" charset="0"/>
                <a:ea typeface="Courier New" pitchFamily="34" charset="-122"/>
                <a:cs typeface="Courier New" pitchFamily="34" charset="-120"/>
              </a:rPr>
              <a:t>players</a:t>
            </a:r>
            <a:endParaRPr lang="en-US" sz="1250" dirty="0"/>
          </a:p>
        </p:txBody>
      </p:sp>
      <p:sp>
        <p:nvSpPr>
          <p:cNvPr id="7" name="Text 5"/>
          <p:cNvSpPr/>
          <p:nvPr/>
        </p:nvSpPr>
        <p:spPr>
          <a:xfrm>
            <a:off x="640080" y="1389888"/>
            <a:ext cx="1691640" cy="310896"/>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comptes, avatar, score cumulé</a:t>
            </a:r>
            <a:endParaRPr lang="en-US" sz="950" dirty="0"/>
          </a:p>
        </p:txBody>
      </p:sp>
      <p:sp>
        <p:nvSpPr>
          <p:cNvPr id="8" name="Shape 6"/>
          <p:cNvSpPr/>
          <p:nvPr/>
        </p:nvSpPr>
        <p:spPr>
          <a:xfrm>
            <a:off x="2633472" y="1024128"/>
            <a:ext cx="1947672" cy="749808"/>
          </a:xfrm>
          <a:prstGeom prst="roundRect">
            <a:avLst>
              <a:gd name="adj" fmla="val 8537"/>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2770632" y="1115568"/>
            <a:ext cx="1691640" cy="256032"/>
          </a:xfrm>
          <a:prstGeom prst="rect">
            <a:avLst/>
          </a:prstGeom>
          <a:noFill/>
          <a:ln/>
        </p:spPr>
        <p:txBody>
          <a:bodyPr wrap="square" lIns="0" tIns="0" rIns="0" bIns="0" rtlCol="0" anchor="ctr"/>
          <a:lstStyle/>
          <a:p>
            <a:pPr indent="0" marL="0">
              <a:buNone/>
            </a:pPr>
            <a:r>
              <a:rPr lang="en-US" sz="1250" b="1" dirty="0">
                <a:solidFill>
                  <a:srgbClr val="7FB2FF"/>
                </a:solidFill>
                <a:latin typeface="Courier New" pitchFamily="34" charset="0"/>
                <a:ea typeface="Courier New" pitchFamily="34" charset="-122"/>
                <a:cs typeface="Courier New" pitchFamily="34" charset="-120"/>
              </a:rPr>
              <a:t>categories</a:t>
            </a:r>
            <a:endParaRPr lang="en-US" sz="1250" dirty="0"/>
          </a:p>
        </p:txBody>
      </p:sp>
      <p:sp>
        <p:nvSpPr>
          <p:cNvPr id="10" name="Text 8"/>
          <p:cNvSpPr/>
          <p:nvPr/>
        </p:nvSpPr>
        <p:spPr>
          <a:xfrm>
            <a:off x="2770632" y="1389888"/>
            <a:ext cx="1691640" cy="310896"/>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4 catégories actives</a:t>
            </a:r>
            <a:endParaRPr lang="en-US" sz="950" dirty="0"/>
          </a:p>
        </p:txBody>
      </p:sp>
      <p:sp>
        <p:nvSpPr>
          <p:cNvPr id="11" name="Shape 9"/>
          <p:cNvSpPr/>
          <p:nvPr/>
        </p:nvSpPr>
        <p:spPr>
          <a:xfrm>
            <a:off x="502920" y="1920240"/>
            <a:ext cx="1947672" cy="749808"/>
          </a:xfrm>
          <a:prstGeom prst="roundRect">
            <a:avLst>
              <a:gd name="adj" fmla="val 8537"/>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2" name="Text 10"/>
          <p:cNvSpPr/>
          <p:nvPr/>
        </p:nvSpPr>
        <p:spPr>
          <a:xfrm>
            <a:off x="640080" y="2011680"/>
            <a:ext cx="1691640" cy="256032"/>
          </a:xfrm>
          <a:prstGeom prst="rect">
            <a:avLst/>
          </a:prstGeom>
          <a:noFill/>
          <a:ln/>
        </p:spPr>
        <p:txBody>
          <a:bodyPr wrap="square" lIns="0" tIns="0" rIns="0" bIns="0" rtlCol="0" anchor="ctr"/>
          <a:lstStyle/>
          <a:p>
            <a:pPr indent="0" marL="0">
              <a:buNone/>
            </a:pPr>
            <a:r>
              <a:rPr lang="en-US" sz="1250" b="1" dirty="0">
                <a:solidFill>
                  <a:srgbClr val="7FB2FF"/>
                </a:solidFill>
                <a:latin typeface="Courier New" pitchFamily="34" charset="0"/>
                <a:ea typeface="Courier New" pitchFamily="34" charset="-122"/>
                <a:cs typeface="Courier New" pitchFamily="34" charset="-120"/>
              </a:rPr>
              <a:t>questions</a:t>
            </a:r>
            <a:endParaRPr lang="en-US" sz="1250" dirty="0"/>
          </a:p>
        </p:txBody>
      </p:sp>
      <p:sp>
        <p:nvSpPr>
          <p:cNvPr id="13" name="Text 11"/>
          <p:cNvSpPr/>
          <p:nvPr/>
        </p:nvSpPr>
        <p:spPr>
          <a:xfrm>
            <a:off x="640080" y="2286000"/>
            <a:ext cx="1691640" cy="310896"/>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60 QCM, choix en JSON</a:t>
            </a:r>
            <a:endParaRPr lang="en-US" sz="950" dirty="0"/>
          </a:p>
        </p:txBody>
      </p:sp>
      <p:sp>
        <p:nvSpPr>
          <p:cNvPr id="14" name="Shape 12"/>
          <p:cNvSpPr/>
          <p:nvPr/>
        </p:nvSpPr>
        <p:spPr>
          <a:xfrm>
            <a:off x="2633472" y="1920240"/>
            <a:ext cx="1947672" cy="749808"/>
          </a:xfrm>
          <a:prstGeom prst="roundRect">
            <a:avLst>
              <a:gd name="adj" fmla="val 8537"/>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5" name="Text 13"/>
          <p:cNvSpPr/>
          <p:nvPr/>
        </p:nvSpPr>
        <p:spPr>
          <a:xfrm>
            <a:off x="2770632" y="2011680"/>
            <a:ext cx="1691640" cy="256032"/>
          </a:xfrm>
          <a:prstGeom prst="rect">
            <a:avLst/>
          </a:prstGeom>
          <a:noFill/>
          <a:ln/>
        </p:spPr>
        <p:txBody>
          <a:bodyPr wrap="square" lIns="0" tIns="0" rIns="0" bIns="0" rtlCol="0" anchor="ctr"/>
          <a:lstStyle/>
          <a:p>
            <a:pPr indent="0" marL="0">
              <a:buNone/>
            </a:pPr>
            <a:r>
              <a:rPr lang="en-US" sz="1250" b="1" dirty="0">
                <a:solidFill>
                  <a:srgbClr val="7FB2FF"/>
                </a:solidFill>
                <a:latin typeface="Courier New" pitchFamily="34" charset="0"/>
                <a:ea typeface="Courier New" pitchFamily="34" charset="-122"/>
                <a:cs typeface="Courier New" pitchFamily="34" charset="-120"/>
              </a:rPr>
              <a:t>games</a:t>
            </a:r>
            <a:endParaRPr lang="en-US" sz="1250" dirty="0"/>
          </a:p>
        </p:txBody>
      </p:sp>
      <p:sp>
        <p:nvSpPr>
          <p:cNvPr id="16" name="Text 14"/>
          <p:cNvSpPr/>
          <p:nvPr/>
        </p:nvSpPr>
        <p:spPr>
          <a:xfrm>
            <a:off x="2770632" y="2286000"/>
            <a:ext cx="1691640" cy="310896"/>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salles : hôte, statut, manches</a:t>
            </a:r>
            <a:endParaRPr lang="en-US" sz="950" dirty="0"/>
          </a:p>
        </p:txBody>
      </p:sp>
      <p:sp>
        <p:nvSpPr>
          <p:cNvPr id="17" name="Shape 15"/>
          <p:cNvSpPr/>
          <p:nvPr/>
        </p:nvSpPr>
        <p:spPr>
          <a:xfrm>
            <a:off x="502920" y="2816352"/>
            <a:ext cx="1947672" cy="749808"/>
          </a:xfrm>
          <a:prstGeom prst="roundRect">
            <a:avLst>
              <a:gd name="adj" fmla="val 8537"/>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8" name="Text 16"/>
          <p:cNvSpPr/>
          <p:nvPr/>
        </p:nvSpPr>
        <p:spPr>
          <a:xfrm>
            <a:off x="640080" y="2907792"/>
            <a:ext cx="1691640" cy="256032"/>
          </a:xfrm>
          <a:prstGeom prst="rect">
            <a:avLst/>
          </a:prstGeom>
          <a:noFill/>
          <a:ln/>
        </p:spPr>
        <p:txBody>
          <a:bodyPr wrap="square" lIns="0" tIns="0" rIns="0" bIns="0" rtlCol="0" anchor="ctr"/>
          <a:lstStyle/>
          <a:p>
            <a:pPr indent="0" marL="0">
              <a:buNone/>
            </a:pPr>
            <a:r>
              <a:rPr lang="en-US" sz="1250" b="1" dirty="0">
                <a:solidFill>
                  <a:srgbClr val="7FB2FF"/>
                </a:solidFill>
                <a:latin typeface="Courier New" pitchFamily="34" charset="0"/>
                <a:ea typeface="Courier New" pitchFamily="34" charset="-122"/>
                <a:cs typeface="Courier New" pitchFamily="34" charset="-120"/>
              </a:rPr>
              <a:t>game_players</a:t>
            </a:r>
            <a:endParaRPr lang="en-US" sz="1250" dirty="0"/>
          </a:p>
        </p:txBody>
      </p:sp>
      <p:sp>
        <p:nvSpPr>
          <p:cNvPr id="19" name="Text 17"/>
          <p:cNvSpPr/>
          <p:nvPr/>
        </p:nvSpPr>
        <p:spPr>
          <a:xfrm>
            <a:off x="640080" y="3182112"/>
            <a:ext cx="1691640" cy="310896"/>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score, prêt, éliminé, rang</a:t>
            </a:r>
            <a:endParaRPr lang="en-US" sz="950" dirty="0"/>
          </a:p>
        </p:txBody>
      </p:sp>
      <p:sp>
        <p:nvSpPr>
          <p:cNvPr id="20" name="Shape 18"/>
          <p:cNvSpPr/>
          <p:nvPr/>
        </p:nvSpPr>
        <p:spPr>
          <a:xfrm>
            <a:off x="2633472" y="2816352"/>
            <a:ext cx="1947672" cy="749808"/>
          </a:xfrm>
          <a:prstGeom prst="roundRect">
            <a:avLst>
              <a:gd name="adj" fmla="val 8537"/>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21" name="Text 19"/>
          <p:cNvSpPr/>
          <p:nvPr/>
        </p:nvSpPr>
        <p:spPr>
          <a:xfrm>
            <a:off x="2770632" y="2907792"/>
            <a:ext cx="1691640" cy="256032"/>
          </a:xfrm>
          <a:prstGeom prst="rect">
            <a:avLst/>
          </a:prstGeom>
          <a:noFill/>
          <a:ln/>
        </p:spPr>
        <p:txBody>
          <a:bodyPr wrap="square" lIns="0" tIns="0" rIns="0" bIns="0" rtlCol="0" anchor="ctr"/>
          <a:lstStyle/>
          <a:p>
            <a:pPr indent="0" marL="0">
              <a:buNone/>
            </a:pPr>
            <a:r>
              <a:rPr lang="en-US" sz="1250" b="1" dirty="0">
                <a:solidFill>
                  <a:srgbClr val="7FB2FF"/>
                </a:solidFill>
                <a:latin typeface="Courier New" pitchFamily="34" charset="0"/>
                <a:ea typeface="Courier New" pitchFamily="34" charset="-122"/>
                <a:cs typeface="Courier New" pitchFamily="34" charset="-120"/>
              </a:rPr>
              <a:t>rounds</a:t>
            </a:r>
            <a:endParaRPr lang="en-US" sz="1250" dirty="0"/>
          </a:p>
        </p:txBody>
      </p:sp>
      <p:sp>
        <p:nvSpPr>
          <p:cNvPr id="22" name="Text 20"/>
          <p:cNvSpPr/>
          <p:nvPr/>
        </p:nvSpPr>
        <p:spPr>
          <a:xfrm>
            <a:off x="2770632" y="3182112"/>
            <a:ext cx="1691640" cy="310896"/>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n°, question, échéance, clôture</a:t>
            </a:r>
            <a:endParaRPr lang="en-US" sz="950" dirty="0"/>
          </a:p>
        </p:txBody>
      </p:sp>
      <p:sp>
        <p:nvSpPr>
          <p:cNvPr id="23" name="Shape 21"/>
          <p:cNvSpPr/>
          <p:nvPr/>
        </p:nvSpPr>
        <p:spPr>
          <a:xfrm>
            <a:off x="502920" y="3712464"/>
            <a:ext cx="1947672" cy="749808"/>
          </a:xfrm>
          <a:prstGeom prst="roundRect">
            <a:avLst>
              <a:gd name="adj" fmla="val 8537"/>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24" name="Text 22"/>
          <p:cNvSpPr/>
          <p:nvPr/>
        </p:nvSpPr>
        <p:spPr>
          <a:xfrm>
            <a:off x="640080" y="3803904"/>
            <a:ext cx="1691640" cy="256032"/>
          </a:xfrm>
          <a:prstGeom prst="rect">
            <a:avLst/>
          </a:prstGeom>
          <a:noFill/>
          <a:ln/>
        </p:spPr>
        <p:txBody>
          <a:bodyPr wrap="square" lIns="0" tIns="0" rIns="0" bIns="0" rtlCol="0" anchor="ctr"/>
          <a:lstStyle/>
          <a:p>
            <a:pPr indent="0" marL="0">
              <a:buNone/>
            </a:pPr>
            <a:r>
              <a:rPr lang="en-US" sz="1250" b="1" dirty="0">
                <a:solidFill>
                  <a:srgbClr val="7FB2FF"/>
                </a:solidFill>
                <a:latin typeface="Courier New" pitchFamily="34" charset="0"/>
                <a:ea typeface="Courier New" pitchFamily="34" charset="-122"/>
                <a:cs typeface="Courier New" pitchFamily="34" charset="-120"/>
              </a:rPr>
              <a:t>answers</a:t>
            </a:r>
            <a:endParaRPr lang="en-US" sz="1250" dirty="0"/>
          </a:p>
        </p:txBody>
      </p:sp>
      <p:sp>
        <p:nvSpPr>
          <p:cNvPr id="25" name="Text 23"/>
          <p:cNvSpPr/>
          <p:nvPr/>
        </p:nvSpPr>
        <p:spPr>
          <a:xfrm>
            <a:off x="640080" y="4078224"/>
            <a:ext cx="1691640" cy="310896"/>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choix, temps de réponse, points</a:t>
            </a:r>
            <a:endParaRPr lang="en-US" sz="950" dirty="0"/>
          </a:p>
        </p:txBody>
      </p:sp>
      <p:sp>
        <p:nvSpPr>
          <p:cNvPr id="26" name="Shape 24"/>
          <p:cNvSpPr/>
          <p:nvPr/>
        </p:nvSpPr>
        <p:spPr>
          <a:xfrm>
            <a:off x="2633472" y="3712464"/>
            <a:ext cx="1947672" cy="749808"/>
          </a:xfrm>
          <a:prstGeom prst="roundRect">
            <a:avLst>
              <a:gd name="adj" fmla="val 8537"/>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27" name="Text 25"/>
          <p:cNvSpPr/>
          <p:nvPr/>
        </p:nvSpPr>
        <p:spPr>
          <a:xfrm>
            <a:off x="2770632" y="3803904"/>
            <a:ext cx="1691640" cy="256032"/>
          </a:xfrm>
          <a:prstGeom prst="rect">
            <a:avLst/>
          </a:prstGeom>
          <a:noFill/>
          <a:ln/>
        </p:spPr>
        <p:txBody>
          <a:bodyPr wrap="square" lIns="0" tIns="0" rIns="0" bIns="0" rtlCol="0" anchor="ctr"/>
          <a:lstStyle/>
          <a:p>
            <a:pPr indent="0" marL="0">
              <a:buNone/>
            </a:pPr>
            <a:r>
              <a:rPr lang="en-US" sz="1250" b="1" dirty="0">
                <a:solidFill>
                  <a:srgbClr val="7FB2FF"/>
                </a:solidFill>
                <a:latin typeface="Courier New" pitchFamily="34" charset="0"/>
                <a:ea typeface="Courier New" pitchFamily="34" charset="-122"/>
                <a:cs typeface="Courier New" pitchFamily="34" charset="-120"/>
              </a:rPr>
              <a:t>tokens</a:t>
            </a:r>
            <a:endParaRPr lang="en-US" sz="1250" dirty="0"/>
          </a:p>
        </p:txBody>
      </p:sp>
      <p:sp>
        <p:nvSpPr>
          <p:cNvPr id="28" name="Text 26"/>
          <p:cNvSpPr/>
          <p:nvPr/>
        </p:nvSpPr>
        <p:spPr>
          <a:xfrm>
            <a:off x="2770632" y="4078224"/>
            <a:ext cx="1691640" cy="310896"/>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sessions Bearer (24 h)</a:t>
            </a:r>
            <a:endParaRPr lang="en-US" sz="950" dirty="0"/>
          </a:p>
        </p:txBody>
      </p:sp>
      <p:sp>
        <p:nvSpPr>
          <p:cNvPr id="29" name="Shape 27"/>
          <p:cNvSpPr/>
          <p:nvPr/>
        </p:nvSpPr>
        <p:spPr>
          <a:xfrm>
            <a:off x="4892040" y="1024128"/>
            <a:ext cx="3749040" cy="3566160"/>
          </a:xfrm>
          <a:prstGeom prst="roundRect">
            <a:avLst>
              <a:gd name="adj" fmla="val 1795"/>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30" name="Shape 28"/>
          <p:cNvSpPr/>
          <p:nvPr/>
        </p:nvSpPr>
        <p:spPr>
          <a:xfrm>
            <a:off x="5074920" y="1188720"/>
            <a:ext cx="402336" cy="402336"/>
          </a:xfrm>
          <a:prstGeom prst="ellipse">
            <a:avLst/>
          </a:prstGeom>
          <a:solidFill>
            <a:srgbClr val="3D7BFD"/>
          </a:solidFill>
          <a:ln/>
        </p:spPr>
      </p:sp>
      <p:pic>
        <p:nvPicPr>
          <p:cNvPr id="31" name="Image 0" descr="preencoded.png">    </p:cNvPr>
          <p:cNvPicPr>
            <a:picLocks noChangeAspect="1"/>
          </p:cNvPicPr>
          <p:nvPr/>
        </p:nvPicPr>
        <p:blipFill>
          <a:blip r:embed="rId1"/>
          <a:stretch>
            <a:fillRect/>
          </a:stretch>
        </p:blipFill>
        <p:spPr>
          <a:xfrm>
            <a:off x="5167457" y="1281257"/>
            <a:ext cx="217261" cy="217261"/>
          </a:xfrm>
          <a:prstGeom prst="rect">
            <a:avLst/>
          </a:prstGeom>
        </p:spPr>
      </p:pic>
      <p:sp>
        <p:nvSpPr>
          <p:cNvPr id="32" name="Text 29"/>
          <p:cNvSpPr/>
          <p:nvPr/>
        </p:nvSpPr>
        <p:spPr>
          <a:xfrm>
            <a:off x="5596128" y="1225296"/>
            <a:ext cx="2926080" cy="320040"/>
          </a:xfrm>
          <a:prstGeom prst="rect">
            <a:avLst/>
          </a:prstGeom>
          <a:noFill/>
          <a:ln/>
        </p:spPr>
        <p:txBody>
          <a:bodyPr wrap="square" lIns="0" tIns="0" rIns="0" bIns="0" rtlCol="0" anchor="ctr"/>
          <a:lstStyle/>
          <a:p>
            <a:pPr indent="0" marL="0">
              <a:buNone/>
            </a:pPr>
            <a:r>
              <a:rPr lang="en-US" sz="1500" b="1" dirty="0">
                <a:solidFill>
                  <a:srgbClr val="EEF2FF"/>
                </a:solidFill>
                <a:latin typeface="Arial" pitchFamily="34" charset="0"/>
                <a:ea typeface="Arial" pitchFamily="34" charset="-122"/>
                <a:cs typeface="Arial" pitchFamily="34" charset="-120"/>
              </a:rPr>
              <a:t>Intégrité garantie en base</a:t>
            </a:r>
            <a:endParaRPr lang="en-US" sz="1500" dirty="0"/>
          </a:p>
        </p:txBody>
      </p:sp>
      <p:sp>
        <p:nvSpPr>
          <p:cNvPr id="33" name="Text 30"/>
          <p:cNvSpPr/>
          <p:nvPr/>
        </p:nvSpPr>
        <p:spPr>
          <a:xfrm>
            <a:off x="5138928" y="1700784"/>
            <a:ext cx="3291840" cy="2743200"/>
          </a:xfrm>
          <a:prstGeom prst="rect">
            <a:avLst/>
          </a:prstGeom>
          <a:noFill/>
          <a:ln/>
        </p:spPr>
        <p:txBody>
          <a:bodyPr wrap="square" lIns="0" tIns="0" rIns="0" bIns="0" rtlCol="0" anchor="ctr"/>
          <a:lstStyle/>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Pseudo et email uniques, insensibles à la casse</a:t>
            </a:r>
            <a:endParaRPr lang="en-US" sz="1200" dirty="0"/>
          </a:p>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Mot de passe : password_hash / password_verify — jamais en clair</a:t>
            </a:r>
            <a:endParaRPr lang="en-US" sz="1200" dirty="0"/>
          </a:p>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UNIQUE (round_id, player_id) : la double réponse est impossible en base</a:t>
            </a:r>
            <a:endParaRPr lang="en-US" sz="1200" dirty="0"/>
          </a:p>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Clôture de manche et calcul des scores dans une transaction</a:t>
            </a:r>
            <a:endParaRPr lang="en-US" sz="1200" dirty="0"/>
          </a:p>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Questions déjà jouées jamais resservies dans une partie</a:t>
            </a:r>
            <a:endParaRPr lang="en-US" sz="1200" dirty="0"/>
          </a:p>
          <a:p>
            <a:pPr marL="342900" indent="-342900">
              <a:spcAft>
                <a:spcPts val="900"/>
              </a:spcAft>
              <a:buSzPct val="100000"/>
              <a:buChar char="•"/>
            </a:pPr>
            <a:r>
              <a:rPr lang="en-US" sz="1200" dirty="0">
                <a:solidFill>
                  <a:srgbClr val="EEF2FF"/>
                </a:solidFill>
                <a:latin typeface="Arial" pitchFamily="34" charset="0"/>
                <a:ea typeface="Arial" pitchFamily="34" charset="-122"/>
                <a:cs typeface="Arial" pitchFamily="34" charset="-120"/>
              </a:rPr>
              <a:t>Suppression logique des questions (active = false)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8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3 · Conception</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Le contrat REST — /api/v1</a:t>
            </a:r>
            <a:endParaRPr lang="en-US" sz="2700" dirty="0"/>
          </a:p>
        </p:txBody>
      </p:sp>
      <p:sp>
        <p:nvSpPr>
          <p:cNvPr id="5" name="Shape 3"/>
          <p:cNvSpPr/>
          <p:nvPr/>
        </p:nvSpPr>
        <p:spPr>
          <a:xfrm>
            <a:off x="502920" y="1005840"/>
            <a:ext cx="4114800" cy="3063240"/>
          </a:xfrm>
          <a:prstGeom prst="roundRect">
            <a:avLst>
              <a:gd name="adj" fmla="val 209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731520" y="1170432"/>
            <a:ext cx="3657600" cy="274320"/>
          </a:xfrm>
          <a:prstGeom prst="rect">
            <a:avLst/>
          </a:prstGeom>
          <a:noFill/>
          <a:ln/>
        </p:spPr>
        <p:txBody>
          <a:bodyPr wrap="square" lIns="0" tIns="0" rIns="0" bIns="0" rtlCol="0" anchor="ctr"/>
          <a:lstStyle/>
          <a:p>
            <a:pPr indent="0" marL="0">
              <a:buNone/>
            </a:pPr>
            <a:r>
              <a:rPr lang="en-US" sz="1250" b="1" dirty="0">
                <a:solidFill>
                  <a:srgbClr val="7FB2FF"/>
                </a:solidFill>
                <a:latin typeface="Arial" pitchFamily="34" charset="0"/>
                <a:ea typeface="Arial" pitchFamily="34" charset="-122"/>
                <a:cs typeface="Arial" pitchFamily="34" charset="-120"/>
              </a:rPr>
              <a:t>Exemple : soumettre une réponse</a:t>
            </a:r>
            <a:endParaRPr lang="en-US" sz="1250" dirty="0"/>
          </a:p>
        </p:txBody>
      </p:sp>
      <p:sp>
        <p:nvSpPr>
          <p:cNvPr id="7" name="Text 5"/>
          <p:cNvSpPr/>
          <p:nvPr/>
        </p:nvSpPr>
        <p:spPr>
          <a:xfrm>
            <a:off x="731520" y="1481328"/>
            <a:ext cx="3703320" cy="2468880"/>
          </a:xfrm>
          <a:prstGeom prst="rect">
            <a:avLst/>
          </a:prstGeom>
          <a:noFill/>
          <a:ln/>
        </p:spPr>
        <p:txBody>
          <a:bodyPr wrap="square" lIns="0" tIns="0" rIns="0" bIns="0" rtlCol="0" anchor="t"/>
          <a:lstStyle/>
          <a:p>
            <a:pPr indent="0" marL="0">
              <a:buNone/>
            </a:pPr>
            <a:r>
              <a:rPr lang="en-US" sz="1200" dirty="0">
                <a:solidFill>
                  <a:srgbClr val="FFD166"/>
                </a:solidFill>
                <a:latin typeface="Courier New" pitchFamily="34" charset="0"/>
                <a:ea typeface="Courier New" pitchFamily="34" charset="-122"/>
                <a:cs typeface="Courier New" pitchFamily="34" charset="-120"/>
              </a:rPr>
              <a:t>POST /api/v1/games/42/answers</a:t>
            </a:r>
            <a:endParaRPr lang="en-US" sz="1200" dirty="0"/>
          </a:p>
          <a:p>
            <a:pPr indent="0" marL="0">
              <a:buNone/>
            </a:pPr>
            <a:r>
              <a:rPr lang="en-US" sz="1200" dirty="0">
                <a:solidFill>
                  <a:srgbClr val="EEF2FF"/>
                </a:solidFill>
                <a:latin typeface="Courier New" pitchFamily="34" charset="0"/>
                <a:ea typeface="Courier New" pitchFamily="34" charset="-122"/>
                <a:cs typeface="Courier New" pitchFamily="34" charset="-120"/>
              </a:rPr>
              <a:t>{ "questionId": 7, "choiceIndex": 2 }</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34D399"/>
                </a:solidFill>
                <a:latin typeface="Courier New" pitchFamily="34" charset="0"/>
                <a:ea typeface="Courier New" pitchFamily="34" charset="-122"/>
                <a:cs typeface="Courier New" pitchFamily="34" charset="-120"/>
              </a:rPr>
              <a:t>201  { "data": { "accepted": true } }</a:t>
            </a:r>
            <a:endParaRPr lang="en-US" sz="1200" dirty="0"/>
          </a:p>
          <a:p>
            <a:pPr indent="0" marL="0">
              <a:buNone/>
            </a:pPr>
            <a:r>
              <a:rPr lang="en-US" sz="1200" dirty="0">
                <a:solidFill>
                  <a:srgbClr val="FF7B7B"/>
                </a:solidFill>
                <a:latin typeface="Courier New" pitchFamily="34" charset="0"/>
                <a:ea typeface="Courier New" pitchFamily="34" charset="-122"/>
                <a:cs typeface="Courier New" pitchFamily="34" charset="-120"/>
              </a:rPr>
              <a:t>409  { "error": {</a:t>
            </a:r>
            <a:endParaRPr lang="en-US" sz="1200" dirty="0"/>
          </a:p>
          <a:p>
            <a:pPr indent="0" marL="0">
              <a:buNone/>
            </a:pPr>
            <a:r>
              <a:rPr lang="en-US" sz="1200" dirty="0">
                <a:solidFill>
                  <a:srgbClr val="FF7B7B"/>
                </a:solidFill>
                <a:latin typeface="Courier New" pitchFamily="34" charset="0"/>
                <a:ea typeface="Courier New" pitchFamily="34" charset="-122"/>
                <a:cs typeface="Courier New" pitchFamily="34" charset="-120"/>
              </a:rPr>
              <a:t>       "code": "ALREADY_ANSWERED" } }</a:t>
            </a:r>
            <a:endParaRPr lang="en-US" sz="1200" dirty="0"/>
          </a:p>
          <a:p>
            <a:pPr indent="0" marL="0">
              <a:buNone/>
            </a:pPr>
            <a:r>
              <a:rPr lang="en-US" sz="1200" dirty="0">
                <a:solidFill>
                  <a:srgbClr val="FF7B7B"/>
                </a:solidFill>
                <a:latin typeface="Courier New" pitchFamily="34" charset="0"/>
                <a:ea typeface="Courier New" pitchFamily="34" charset="-122"/>
                <a:cs typeface="Courier New" pitchFamily="34" charset="-120"/>
              </a:rPr>
              <a:t>409  idem pour "DEADLINE_PASSED"</a:t>
            </a:r>
            <a:endParaRPr lang="en-US" sz="1200" dirty="0"/>
          </a:p>
          <a:p>
            <a:pPr indent="0" marL="0">
              <a:buNone/>
            </a:pPr>
            <a:r>
              <a:rPr lang="en-US" sz="1200" dirty="0">
                <a:solidFill>
                  <a:srgbClr val="FF7B7B"/>
                </a:solidFill>
                <a:latin typeface="Courier New" pitchFamily="34" charset="0"/>
                <a:ea typeface="Courier New" pitchFamily="34" charset="-122"/>
                <a:cs typeface="Courier New" pitchFamily="34" charset="-120"/>
              </a:rPr>
              <a:t>       (réponse hors délai refusée)</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9AA7CC"/>
                </a:solidFill>
                <a:latin typeface="Courier New" pitchFamily="34" charset="0"/>
                <a:ea typeface="Courier New" pitchFamily="34" charset="-122"/>
                <a:cs typeface="Courier New" pitchFamily="34" charset="-120"/>
              </a:rPr>
              <a:t>La correction n'est révélée</a:t>
            </a:r>
            <a:endParaRPr lang="en-US" sz="1200" dirty="0"/>
          </a:p>
          <a:p>
            <a:pPr indent="0" marL="0">
              <a:buNone/>
            </a:pPr>
            <a:r>
              <a:rPr lang="en-US" sz="1200" i="1" dirty="0">
                <a:solidFill>
                  <a:srgbClr val="9AA7CC"/>
                </a:solidFill>
                <a:latin typeface="Courier New" pitchFamily="34" charset="0"/>
                <a:ea typeface="Courier New" pitchFamily="34" charset="-122"/>
                <a:cs typeface="Courier New" pitchFamily="34" charset="-120"/>
              </a:rPr>
              <a:t>qu'à la clôture de la manche.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892040" y="1005840"/>
          <a:ext cx="3749040" cy="914400"/>
        </p:xfrm>
        <a:graphic>
          <a:graphicData uri="http://schemas.openxmlformats.org/drawingml/2006/table">
            <a:tbl>
              <a:tblPr/>
              <a:tblGrid>
                <a:gridCol w="2286000"/>
                <a:gridCol w="1463040"/>
              </a:tblGrid>
              <a:tr h="347472">
                <a:tc>
                  <a:txBody>
                    <a:bodyPr/>
                    <a:lstStyle/>
                    <a:p>
                      <a:pPr indent="0" marL="0">
                        <a:buNone/>
                      </a:pPr>
                      <a:r>
                        <a:rPr lang="en-US" sz="950" b="1" dirty="0">
                          <a:solidFill>
                            <a:srgbClr val="7FB2FF"/>
                          </a:solidFill>
                          <a:latin typeface="Arial" pitchFamily="34" charset="0"/>
                          <a:ea typeface="Arial" pitchFamily="34" charset="-122"/>
                          <a:cs typeface="Arial" pitchFamily="34" charset="-120"/>
                        </a:rPr>
                        <a:t>Route</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c>
                  <a:txBody>
                    <a:bodyPr/>
                    <a:lstStyle/>
                    <a:p>
                      <a:pPr indent="0" marL="0">
                        <a:buNone/>
                      </a:pPr>
                      <a:r>
                        <a:rPr lang="en-US" sz="950" b="1" dirty="0">
                          <a:solidFill>
                            <a:srgbClr val="7FB2FF"/>
                          </a:solidFill>
                          <a:latin typeface="Arial" pitchFamily="34" charset="0"/>
                          <a:ea typeface="Arial" pitchFamily="34" charset="-122"/>
                          <a:cs typeface="Arial" pitchFamily="34" charset="-120"/>
                        </a:rPr>
                        <a:t>Rôle</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r>
              <a:tr h="347472">
                <a:tc>
                  <a:txBody>
                    <a:bodyPr/>
                    <a:lstStyle/>
                    <a:p>
                      <a:pPr indent="0" marL="0">
                        <a:buNone/>
                      </a:pPr>
                      <a:r>
                        <a:rPr lang="en-US" sz="950" dirty="0">
                          <a:solidFill>
                            <a:srgbClr val="EEF2FF"/>
                          </a:solidFill>
                          <a:latin typeface="Arial" pitchFamily="34" charset="0"/>
                          <a:ea typeface="Arial" pitchFamily="34" charset="-122"/>
                          <a:cs typeface="Arial" pitchFamily="34" charset="-120"/>
                        </a:rPr>
                        <a:t>POST /auth/register · /auth/login</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c>
                  <a:txBody>
                    <a:bodyPr/>
                    <a:lstStyle/>
                    <a:p>
                      <a:pPr indent="0" marL="0">
                        <a:buNone/>
                      </a:pPr>
                      <a:r>
                        <a:rPr lang="en-US" sz="950" dirty="0">
                          <a:solidFill>
                            <a:srgbClr val="EEF2FF"/>
                          </a:solidFill>
                          <a:latin typeface="Arial" pitchFamily="34" charset="0"/>
                          <a:ea typeface="Arial" pitchFamily="34" charset="-122"/>
                          <a:cs typeface="Arial" pitchFamily="34" charset="-120"/>
                        </a:rPr>
                        <a:t>compte + jeton (24 h)</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r>
              <a:tr h="347472">
                <a:tc>
                  <a:txBody>
                    <a:bodyPr/>
                    <a:lstStyle/>
                    <a:p>
                      <a:pPr indent="0" marL="0">
                        <a:buNone/>
                      </a:pPr>
                      <a:r>
                        <a:rPr lang="en-US" sz="950" dirty="0">
                          <a:solidFill>
                            <a:srgbClr val="EEF2FF"/>
                          </a:solidFill>
                          <a:latin typeface="Arial" pitchFamily="34" charset="0"/>
                          <a:ea typeface="Arial" pitchFamily="34" charset="-122"/>
                          <a:cs typeface="Arial" pitchFamily="34" charset="-120"/>
                        </a:rPr>
                        <a:t>GET/POST /games · join · ready · start</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c>
                  <a:txBody>
                    <a:bodyPr/>
                    <a:lstStyle/>
                    <a:p>
                      <a:pPr indent="0" marL="0">
                        <a:buNone/>
                      </a:pPr>
                      <a:r>
                        <a:rPr lang="en-US" sz="950" dirty="0">
                          <a:solidFill>
                            <a:srgbClr val="EEF2FF"/>
                          </a:solidFill>
                          <a:latin typeface="Arial" pitchFamily="34" charset="0"/>
                          <a:ea typeface="Arial" pitchFamily="34" charset="-122"/>
                          <a:cs typeface="Arial" pitchFamily="34" charset="-120"/>
                        </a:rPr>
                        <a:t>lobby et salles</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r>
              <a:tr h="347472">
                <a:tc>
                  <a:txBody>
                    <a:bodyPr/>
                    <a:lstStyle/>
                    <a:p>
                      <a:pPr indent="0" marL="0">
                        <a:buNone/>
                      </a:pPr>
                      <a:r>
                        <a:rPr lang="en-US" sz="950" dirty="0">
                          <a:solidFill>
                            <a:srgbClr val="EEF2FF"/>
                          </a:solidFill>
                          <a:latin typeface="Arial" pitchFamily="34" charset="0"/>
                          <a:ea typeface="Arial" pitchFamily="34" charset="-122"/>
                          <a:cs typeface="Arial" pitchFamily="34" charset="-120"/>
                        </a:rPr>
                        <a:t>GET /games/{id}/state</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c>
                  <a:txBody>
                    <a:bodyPr/>
                    <a:lstStyle/>
                    <a:p>
                      <a:pPr indent="0" marL="0">
                        <a:buNone/>
                      </a:pPr>
                      <a:r>
                        <a:rPr lang="en-US" sz="950" dirty="0">
                          <a:solidFill>
                            <a:srgbClr val="EEF2FF"/>
                          </a:solidFill>
                          <a:latin typeface="Arial" pitchFamily="34" charset="0"/>
                          <a:ea typeface="Arial" pitchFamily="34" charset="-122"/>
                          <a:cs typeface="Arial" pitchFamily="34" charset="-120"/>
                        </a:rPr>
                        <a:t>polling : l'état complet</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r>
              <a:tr h="347472">
                <a:tc>
                  <a:txBody>
                    <a:bodyPr/>
                    <a:lstStyle/>
                    <a:p>
                      <a:pPr indent="0" marL="0">
                        <a:buNone/>
                      </a:pPr>
                      <a:r>
                        <a:rPr lang="en-US" sz="950" dirty="0">
                          <a:solidFill>
                            <a:srgbClr val="EEF2FF"/>
                          </a:solidFill>
                          <a:latin typeface="Arial" pitchFamily="34" charset="0"/>
                          <a:ea typeface="Arial" pitchFamily="34" charset="-122"/>
                          <a:cs typeface="Arial" pitchFamily="34" charset="-120"/>
                        </a:rPr>
                        <a:t>GET /games/{id}/question</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c>
                  <a:txBody>
                    <a:bodyPr/>
                    <a:lstStyle/>
                    <a:p>
                      <a:pPr indent="0" marL="0">
                        <a:buNone/>
                      </a:pPr>
                      <a:r>
                        <a:rPr lang="en-US" sz="950" dirty="0">
                          <a:solidFill>
                            <a:srgbClr val="EEF2FF"/>
                          </a:solidFill>
                          <a:latin typeface="Arial" pitchFamily="34" charset="0"/>
                          <a:ea typeface="Arial" pitchFamily="34" charset="-122"/>
                          <a:cs typeface="Arial" pitchFamily="34" charset="-120"/>
                        </a:rPr>
                        <a:t>question sans la solution</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r>
              <a:tr h="347472">
                <a:tc>
                  <a:txBody>
                    <a:bodyPr/>
                    <a:lstStyle/>
                    <a:p>
                      <a:pPr indent="0" marL="0">
                        <a:buNone/>
                      </a:pPr>
                      <a:r>
                        <a:rPr lang="en-US" sz="950" dirty="0">
                          <a:solidFill>
                            <a:srgbClr val="EEF2FF"/>
                          </a:solidFill>
                          <a:latin typeface="Arial" pitchFamily="34" charset="0"/>
                          <a:ea typeface="Arial" pitchFamily="34" charset="-122"/>
                          <a:cs typeface="Arial" pitchFamily="34" charset="-120"/>
                        </a:rPr>
                        <a:t>POST /games/{id}/answers</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c>
                  <a:txBody>
                    <a:bodyPr/>
                    <a:lstStyle/>
                    <a:p>
                      <a:pPr indent="0" marL="0">
                        <a:buNone/>
                      </a:pPr>
                      <a:r>
                        <a:rPr lang="en-US" sz="950" dirty="0">
                          <a:solidFill>
                            <a:srgbClr val="EEF2FF"/>
                          </a:solidFill>
                          <a:latin typeface="Arial" pitchFamily="34" charset="0"/>
                          <a:ea typeface="Arial" pitchFamily="34" charset="-122"/>
                          <a:cs typeface="Arial" pitchFamily="34" charset="-120"/>
                        </a:rPr>
                        <a:t>réponse unique de la manche</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r>
              <a:tr h="347472">
                <a:tc>
                  <a:txBody>
                    <a:bodyPr/>
                    <a:lstStyle/>
                    <a:p>
                      <a:pPr indent="0" marL="0">
                        <a:buNone/>
                      </a:pPr>
                      <a:r>
                        <a:rPr lang="en-US" sz="950" dirty="0">
                          <a:solidFill>
                            <a:srgbClr val="EEF2FF"/>
                          </a:solidFill>
                          <a:latin typeface="Arial" pitchFamily="34" charset="0"/>
                          <a:ea typeface="Arial" pitchFamily="34" charset="-122"/>
                          <a:cs typeface="Arial" pitchFamily="34" charset="-120"/>
                        </a:rPr>
                        <a:t>GET /games/{id}/scores</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c>
                  <a:txBody>
                    <a:bodyPr/>
                    <a:lstStyle/>
                    <a:p>
                      <a:pPr indent="0" marL="0">
                        <a:buNone/>
                      </a:pPr>
                      <a:r>
                        <a:rPr lang="en-US" sz="950" dirty="0">
                          <a:solidFill>
                            <a:srgbClr val="EEF2FF"/>
                          </a:solidFill>
                          <a:latin typeface="Arial" pitchFamily="34" charset="0"/>
                          <a:ea typeface="Arial" pitchFamily="34" charset="-122"/>
                          <a:cs typeface="Arial" pitchFamily="34" charset="-120"/>
                        </a:rPr>
                        <a:t>classement + correction</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r>
              <a:tr h="347472">
                <a:tc>
                  <a:txBody>
                    <a:bodyPr/>
                    <a:lstStyle/>
                    <a:p>
                      <a:pPr indent="0" marL="0">
                        <a:buNone/>
                      </a:pPr>
                      <a:r>
                        <a:rPr lang="en-US" sz="950" dirty="0">
                          <a:solidFill>
                            <a:srgbClr val="EEF2FF"/>
                          </a:solidFill>
                          <a:latin typeface="Arial" pitchFamily="34" charset="0"/>
                          <a:ea typeface="Arial" pitchFamily="34" charset="-122"/>
                          <a:cs typeface="Arial" pitchFamily="34" charset="-120"/>
                        </a:rPr>
                        <a:t>GET /players/me · history · leaderboard</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c>
                  <a:txBody>
                    <a:bodyPr/>
                    <a:lstStyle/>
                    <a:p>
                      <a:pPr indent="0" marL="0">
                        <a:buNone/>
                      </a:pPr>
                      <a:r>
                        <a:rPr lang="en-US" sz="950" dirty="0">
                          <a:solidFill>
                            <a:srgbClr val="EEF2FF"/>
                          </a:solidFill>
                          <a:latin typeface="Arial" pitchFamily="34" charset="0"/>
                          <a:ea typeface="Arial" pitchFamily="34" charset="-122"/>
                          <a:cs typeface="Arial" pitchFamily="34" charset="-120"/>
                        </a:rPr>
                        <a:t>profil, historique, top 20</a:t>
                      </a:r>
                      <a:endParaRPr lang="en-US" sz="950" dirty="0">
                        <a:latin typeface="Arial" charset="0"/>
                        <a:ea typeface="Arial" charset="0"/>
                        <a:cs typeface="Arial" charset="0"/>
                      </a:endParaRPr>
                    </a:p>
                  </a:txBody>
                  <a:tcPr marL="54864" marR="54864" marT="54864" marB="54864" anchor="ctr">
                    <a:lnL w="9525" cap="flat" cmpd="sng" algn="ctr">
                      <a:solidFill>
                        <a:srgbClr val="2B3660"/>
                      </a:solidFill>
                      <a:prstDash val="solid"/>
                      <a:round/>
                      <a:headEnd type="none" w="med" len="med"/>
                      <a:tailEnd type="none" w="med" len="med"/>
                    </a:lnL>
                    <a:lnR w="9525" cap="flat" cmpd="sng" algn="ctr">
                      <a:solidFill>
                        <a:srgbClr val="2B3660"/>
                      </a:solidFill>
                      <a:prstDash val="solid"/>
                      <a:round/>
                      <a:headEnd type="none" w="med" len="med"/>
                      <a:tailEnd type="none" w="med" len="med"/>
                    </a:lnR>
                    <a:lnT w="9525" cap="flat" cmpd="sng" algn="ctr">
                      <a:solidFill>
                        <a:srgbClr val="2B3660"/>
                      </a:solidFill>
                      <a:prstDash val="solid"/>
                      <a:round/>
                      <a:headEnd type="none" w="med" len="med"/>
                      <a:tailEnd type="none" w="med" len="med"/>
                    </a:lnT>
                    <a:lnB w="9525" cap="flat" cmpd="sng" algn="ctr">
                      <a:solidFill>
                        <a:srgbClr val="2B3660"/>
                      </a:solidFill>
                      <a:prstDash val="solid"/>
                      <a:round/>
                      <a:headEnd type="none" w="med" len="med"/>
                      <a:tailEnd type="none" w="med" len="med"/>
                    </a:lnB>
                    <a:solidFill>
                      <a:srgbClr val="202942"/>
                    </a:solidFill>
                  </a:tcPr>
                </a:tc>
              </a:tr>
            </a:tbl>
          </a:graphicData>
        </a:graphic>
      </p:graphicFrame>
      <p:sp>
        <p:nvSpPr>
          <p:cNvPr id="9" name="Text 6"/>
          <p:cNvSpPr/>
          <p:nvPr/>
        </p:nvSpPr>
        <p:spPr>
          <a:xfrm>
            <a:off x="502920" y="4343400"/>
            <a:ext cx="8138160" cy="320040"/>
          </a:xfrm>
          <a:prstGeom prst="rect">
            <a:avLst/>
          </a:prstGeom>
          <a:noFill/>
          <a:ln/>
        </p:spPr>
        <p:txBody>
          <a:bodyPr wrap="square" lIns="0" tIns="0" rIns="0" bIns="0" rtlCol="0" anchor="ctr"/>
          <a:lstStyle/>
          <a:p>
            <a:pPr algn="ctr" indent="0" marL="0">
              <a:buNone/>
            </a:pPr>
            <a:r>
              <a:rPr lang="en-US" sz="1200" dirty="0">
                <a:solidFill>
                  <a:srgbClr val="9AA7CC"/>
                </a:solidFill>
                <a:latin typeface="Arial" pitchFamily="34" charset="0"/>
                <a:ea typeface="Arial" pitchFamily="34" charset="-122"/>
                <a:cs typeface="Arial" pitchFamily="34" charset="-120"/>
              </a:rPr>
              <a:t>16 routes  •  JSON UTF-8  •  enveloppe data / error  •  codes 200 · 201 · 400 · 401 · 403 · 404 · 409 · 500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9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4 · Réalisation</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Le moteur de jeu serveur</a:t>
            </a:r>
            <a:endParaRPr lang="en-US" sz="2700" dirty="0"/>
          </a:p>
        </p:txBody>
      </p:sp>
      <p:sp>
        <p:nvSpPr>
          <p:cNvPr id="5" name="Shape 3"/>
          <p:cNvSpPr/>
          <p:nvPr/>
        </p:nvSpPr>
        <p:spPr>
          <a:xfrm>
            <a:off x="502920" y="1005840"/>
            <a:ext cx="4114800" cy="1828800"/>
          </a:xfrm>
          <a:prstGeom prst="roundRect">
            <a:avLst>
              <a:gd name="adj" fmla="val 350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731520" y="1152144"/>
            <a:ext cx="3657600" cy="274320"/>
          </a:xfrm>
          <a:prstGeom prst="rect">
            <a:avLst/>
          </a:prstGeom>
          <a:noFill/>
          <a:ln/>
        </p:spPr>
        <p:txBody>
          <a:bodyPr wrap="square" lIns="0" tIns="0" rIns="0" bIns="0" rtlCol="0" anchor="ctr"/>
          <a:lstStyle/>
          <a:p>
            <a:pPr indent="0" marL="0">
              <a:buNone/>
            </a:pPr>
            <a:r>
              <a:rPr lang="en-US" sz="1250" b="1" dirty="0">
                <a:solidFill>
                  <a:srgbClr val="7FB2FF"/>
                </a:solidFill>
                <a:latin typeface="Arial" pitchFamily="34" charset="0"/>
                <a:ea typeface="Arial" pitchFamily="34" charset="-122"/>
                <a:cs typeface="Arial" pitchFamily="34" charset="-120"/>
              </a:rPr>
              <a:t>Score d'une manche</a:t>
            </a:r>
            <a:endParaRPr lang="en-US" sz="1250" dirty="0"/>
          </a:p>
        </p:txBody>
      </p:sp>
      <p:sp>
        <p:nvSpPr>
          <p:cNvPr id="7" name="Text 5"/>
          <p:cNvSpPr/>
          <p:nvPr/>
        </p:nvSpPr>
        <p:spPr>
          <a:xfrm>
            <a:off x="731520" y="1463040"/>
            <a:ext cx="3657600" cy="685800"/>
          </a:xfrm>
          <a:prstGeom prst="rect">
            <a:avLst/>
          </a:prstGeom>
          <a:noFill/>
          <a:ln/>
        </p:spPr>
        <p:txBody>
          <a:bodyPr wrap="square" lIns="0" tIns="0" rIns="0" bIns="0" rtlCol="0" anchor="ctr"/>
          <a:lstStyle/>
          <a:p>
            <a:pPr indent="0" marL="0">
              <a:buNone/>
            </a:pPr>
            <a:r>
              <a:rPr lang="en-US" sz="3000" b="1" dirty="0">
                <a:solidFill>
                  <a:srgbClr val="FFD166"/>
                </a:solidFill>
                <a:latin typeface="Arial" pitchFamily="34" charset="0"/>
                <a:ea typeface="Arial" pitchFamily="34" charset="-122"/>
                <a:cs typeface="Arial" pitchFamily="34" charset="-120"/>
              </a:rPr>
              <a:t>700</a:t>
            </a:r>
            <a:pPr indent="0" marL="0">
              <a:buNone/>
            </a:pPr>
            <a:r>
              <a:rPr lang="en-US" sz="1300" dirty="0">
                <a:solidFill>
                  <a:srgbClr val="EEF2FF"/>
                </a:solidFill>
                <a:latin typeface="Arial" pitchFamily="34" charset="0"/>
                <a:ea typeface="Arial" pitchFamily="34" charset="-122"/>
                <a:cs typeface="Arial" pitchFamily="34" charset="-120"/>
              </a:rPr>
              <a:t> exactitude </a:t>
            </a:r>
            <a:pPr indent="0" marL="0">
              <a:buNone/>
            </a:pPr>
            <a:r>
              <a:rPr lang="en-US" sz="3000" b="1" dirty="0">
                <a:solidFill>
                  <a:srgbClr val="FFD166"/>
                </a:solidFill>
                <a:latin typeface="Arial" pitchFamily="34" charset="0"/>
                <a:ea typeface="Arial" pitchFamily="34" charset="-122"/>
                <a:cs typeface="Arial" pitchFamily="34" charset="-120"/>
              </a:rPr>
              <a:t>+ 300</a:t>
            </a:r>
            <a:pPr indent="0" marL="0">
              <a:buNone/>
            </a:pPr>
            <a:r>
              <a:rPr lang="en-US" sz="1300" dirty="0">
                <a:solidFill>
                  <a:srgbClr val="EEF2FF"/>
                </a:solidFill>
                <a:latin typeface="Arial" pitchFamily="34" charset="0"/>
                <a:ea typeface="Arial" pitchFamily="34" charset="-122"/>
                <a:cs typeface="Arial" pitchFamily="34" charset="-120"/>
              </a:rPr>
              <a:t> rapidité</a:t>
            </a:r>
            <a:endParaRPr lang="en-US" sz="3000" dirty="0"/>
          </a:p>
        </p:txBody>
      </p:sp>
      <p:sp>
        <p:nvSpPr>
          <p:cNvPr id="8" name="Text 6"/>
          <p:cNvSpPr/>
          <p:nvPr/>
        </p:nvSpPr>
        <p:spPr>
          <a:xfrm>
            <a:off x="731520" y="2212848"/>
            <a:ext cx="3657600" cy="548640"/>
          </a:xfrm>
          <a:prstGeom prst="rect">
            <a:avLst/>
          </a:prstGeom>
          <a:noFill/>
          <a:ln/>
        </p:spPr>
        <p:txBody>
          <a:bodyPr wrap="square" lIns="0" tIns="0" rIns="0" bIns="0" rtlCol="0" anchor="ctr"/>
          <a:lstStyle/>
          <a:p>
            <a:pPr indent="0" marL="0">
              <a:buNone/>
            </a:pPr>
            <a:r>
              <a:rPr lang="en-US" sz="1100" dirty="0">
                <a:solidFill>
                  <a:srgbClr val="9AA7CC"/>
                </a:solidFill>
                <a:latin typeface="Arial" pitchFamily="34" charset="0"/>
                <a:ea typeface="Arial" pitchFamily="34" charset="-122"/>
                <a:cs typeface="Arial" pitchFamily="34" charset="-120"/>
              </a:rPr>
              <a:t>bonus proportionnel au temps restant : 1 000 pts en instantané, 850 à mi-temps, 700 à la dernière seconde — 0 si faux ou absent</a:t>
            </a:r>
            <a:endParaRPr lang="en-US" sz="1100" dirty="0"/>
          </a:p>
        </p:txBody>
      </p:sp>
      <p:sp>
        <p:nvSpPr>
          <p:cNvPr id="9" name="Shape 7"/>
          <p:cNvSpPr/>
          <p:nvPr/>
        </p:nvSpPr>
        <p:spPr>
          <a:xfrm>
            <a:off x="502920" y="3035808"/>
            <a:ext cx="4114800" cy="1572768"/>
          </a:xfrm>
          <a:prstGeom prst="roundRect">
            <a:avLst>
              <a:gd name="adj" fmla="val 407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0" name="Shape 8"/>
          <p:cNvSpPr/>
          <p:nvPr/>
        </p:nvSpPr>
        <p:spPr>
          <a:xfrm>
            <a:off x="685800" y="3200400"/>
            <a:ext cx="402336" cy="402336"/>
          </a:xfrm>
          <a:prstGeom prst="ellipse">
            <a:avLst/>
          </a:prstGeom>
          <a:solidFill>
            <a:srgbClr val="FF7B7B"/>
          </a:solidFill>
          <a:ln/>
        </p:spPr>
      </p:sp>
      <p:pic>
        <p:nvPicPr>
          <p:cNvPr id="11" name="Image 0" descr="preencoded.png">    </p:cNvPr>
          <p:cNvPicPr>
            <a:picLocks noChangeAspect="1"/>
          </p:cNvPicPr>
          <p:nvPr/>
        </p:nvPicPr>
        <p:blipFill>
          <a:blip r:embed="rId1"/>
          <a:stretch>
            <a:fillRect/>
          </a:stretch>
        </p:blipFill>
        <p:spPr>
          <a:xfrm>
            <a:off x="778337" y="3292937"/>
            <a:ext cx="217261" cy="217261"/>
          </a:xfrm>
          <a:prstGeom prst="rect">
            <a:avLst/>
          </a:prstGeom>
        </p:spPr>
      </p:pic>
      <p:sp>
        <p:nvSpPr>
          <p:cNvPr id="12" name="Text 9"/>
          <p:cNvSpPr/>
          <p:nvPr/>
        </p:nvSpPr>
        <p:spPr>
          <a:xfrm>
            <a:off x="1207008" y="3236976"/>
            <a:ext cx="3291840" cy="292608"/>
          </a:xfrm>
          <a:prstGeom prst="rect">
            <a:avLst/>
          </a:prstGeom>
          <a:noFill/>
          <a:ln/>
        </p:spPr>
        <p:txBody>
          <a:bodyPr wrap="square" lIns="0" tIns="0" rIns="0" bIns="0" rtlCol="0" anchor="ctr"/>
          <a:lstStyle/>
          <a:p>
            <a:pPr indent="0" marL="0">
              <a:buNone/>
            </a:pPr>
            <a:r>
              <a:rPr lang="en-US" sz="1250" b="1" dirty="0">
                <a:solidFill>
                  <a:srgbClr val="7FB2FF"/>
                </a:solidFill>
                <a:latin typeface="Arial" pitchFamily="34" charset="0"/>
                <a:ea typeface="Arial" pitchFamily="34" charset="-122"/>
                <a:cs typeface="Arial" pitchFamily="34" charset="-120"/>
              </a:rPr>
              <a:t>Élimination (dès la manche 3)</a:t>
            </a:r>
            <a:endParaRPr lang="en-US" sz="1250" dirty="0"/>
          </a:p>
        </p:txBody>
      </p:sp>
      <p:sp>
        <p:nvSpPr>
          <p:cNvPr id="13" name="Text 10"/>
          <p:cNvSpPr/>
          <p:nvPr/>
        </p:nvSpPr>
        <p:spPr>
          <a:xfrm>
            <a:off x="731520" y="3639312"/>
            <a:ext cx="3657600" cy="868680"/>
          </a:xfrm>
          <a:prstGeom prst="rect">
            <a:avLst/>
          </a:prstGeom>
          <a:noFill/>
          <a:ln/>
        </p:spPr>
        <p:txBody>
          <a:bodyPr wrap="square" lIns="0" tIns="0" rIns="0" bIns="0" rtlCol="0" anchor="ctr"/>
          <a:lstStyle/>
          <a:p>
            <a:pPr indent="0" marL="0">
              <a:buNone/>
            </a:pPr>
            <a:r>
              <a:rPr lang="en-US" sz="1150" dirty="0">
                <a:solidFill>
                  <a:srgbClr val="EEF2FF"/>
                </a:solidFill>
                <a:latin typeface="Arial" pitchFamily="34" charset="0"/>
                <a:ea typeface="Arial" pitchFamily="34" charset="-122"/>
                <a:cs typeface="Arial" pitchFamily="34" charset="-120"/>
              </a:rPr>
              <a:t>Le dernier quart des joueurs actifs est éliminé — au minimum un joueur dès qu'ils sont 4. Ex æquo départagés au temps de réponse cumulé.</a:t>
            </a:r>
            <a:endParaRPr lang="en-US" sz="1150" dirty="0"/>
          </a:p>
        </p:txBody>
      </p:sp>
      <p:sp>
        <p:nvSpPr>
          <p:cNvPr id="14" name="Shape 11"/>
          <p:cNvSpPr/>
          <p:nvPr/>
        </p:nvSpPr>
        <p:spPr>
          <a:xfrm>
            <a:off x="4892040" y="1005840"/>
            <a:ext cx="3749040" cy="3602736"/>
          </a:xfrm>
          <a:prstGeom prst="roundRect">
            <a:avLst>
              <a:gd name="adj" fmla="val 1777"/>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5" name="Shape 12"/>
          <p:cNvSpPr/>
          <p:nvPr/>
        </p:nvSpPr>
        <p:spPr>
          <a:xfrm>
            <a:off x="5074920" y="1170432"/>
            <a:ext cx="402336" cy="402336"/>
          </a:xfrm>
          <a:prstGeom prst="ellipse">
            <a:avLst/>
          </a:prstGeom>
          <a:solidFill>
            <a:srgbClr val="3D7BFD"/>
          </a:solidFill>
          <a:ln/>
        </p:spPr>
      </p:sp>
      <p:pic>
        <p:nvPicPr>
          <p:cNvPr id="16" name="Image 1" descr="preencoded.png">    </p:cNvPr>
          <p:cNvPicPr>
            <a:picLocks noChangeAspect="1"/>
          </p:cNvPicPr>
          <p:nvPr/>
        </p:nvPicPr>
        <p:blipFill>
          <a:blip r:embed="rId2"/>
          <a:stretch>
            <a:fillRect/>
          </a:stretch>
        </p:blipFill>
        <p:spPr>
          <a:xfrm>
            <a:off x="5167457" y="1262969"/>
            <a:ext cx="217261" cy="217261"/>
          </a:xfrm>
          <a:prstGeom prst="rect">
            <a:avLst/>
          </a:prstGeom>
        </p:spPr>
      </p:pic>
      <p:sp>
        <p:nvSpPr>
          <p:cNvPr id="17" name="Text 13"/>
          <p:cNvSpPr/>
          <p:nvPr/>
        </p:nvSpPr>
        <p:spPr>
          <a:xfrm>
            <a:off x="5596128" y="1207008"/>
            <a:ext cx="2971800" cy="320040"/>
          </a:xfrm>
          <a:prstGeom prst="rect">
            <a:avLst/>
          </a:prstGeom>
          <a:noFill/>
          <a:ln/>
        </p:spPr>
        <p:txBody>
          <a:bodyPr wrap="square" lIns="0" tIns="0" rIns="0" bIns="0" rtlCol="0" anchor="ctr"/>
          <a:lstStyle/>
          <a:p>
            <a:pPr indent="0" marL="0">
              <a:buNone/>
            </a:pPr>
            <a:r>
              <a:rPr lang="en-US" sz="1500" b="1" dirty="0">
                <a:solidFill>
                  <a:srgbClr val="EEF2FF"/>
                </a:solidFill>
                <a:latin typeface="Arial" pitchFamily="34" charset="0"/>
                <a:ea typeface="Arial" pitchFamily="34" charset="-122"/>
                <a:cs typeface="Arial" pitchFamily="34" charset="-120"/>
              </a:rPr>
              <a:t>Anti-triche et synchronisation</a:t>
            </a:r>
            <a:endParaRPr lang="en-US" sz="1500" dirty="0"/>
          </a:p>
        </p:txBody>
      </p:sp>
      <p:sp>
        <p:nvSpPr>
          <p:cNvPr id="18" name="Text 14"/>
          <p:cNvSpPr/>
          <p:nvPr/>
        </p:nvSpPr>
        <p:spPr>
          <a:xfrm>
            <a:off x="5138928" y="1682496"/>
            <a:ext cx="3291840" cy="2834640"/>
          </a:xfrm>
          <a:prstGeom prst="rect">
            <a:avLst/>
          </a:prstGeom>
          <a:noFill/>
          <a:ln/>
        </p:spPr>
        <p:txBody>
          <a:bodyPr wrap="square" lIns="0" tIns="0" rIns="0" bIns="0" rtlCol="0" anchor="ctr"/>
          <a:lstStyle/>
          <a:p>
            <a:pPr marL="342900" indent="-342900">
              <a:spcAft>
                <a:spcPts val="1000"/>
              </a:spcAft>
              <a:buSzPct val="100000"/>
              <a:buChar char="•"/>
            </a:pPr>
            <a:r>
              <a:rPr lang="en-US" sz="1200" dirty="0">
                <a:solidFill>
                  <a:srgbClr val="EEF2FF"/>
                </a:solidFill>
                <a:latin typeface="Arial" pitchFamily="34" charset="0"/>
                <a:ea typeface="Arial" pitchFamily="34" charset="-122"/>
                <a:cs typeface="Arial" pitchFamily="34" charset="-120"/>
              </a:rPr>
              <a:t>L'horodatage serveur fait foi — le client ne calcule jamais un score</a:t>
            </a:r>
            <a:endParaRPr lang="en-US" sz="1200" dirty="0"/>
          </a:p>
          <a:p>
            <a:pPr marL="342900" indent="-342900">
              <a:spcAft>
                <a:spcPts val="1000"/>
              </a:spcAft>
              <a:buSzPct val="100000"/>
              <a:buChar char="•"/>
            </a:pPr>
            <a:r>
              <a:rPr lang="en-US" sz="1200" dirty="0">
                <a:solidFill>
                  <a:srgbClr val="EEF2FF"/>
                </a:solidFill>
                <a:latin typeface="Arial" pitchFamily="34" charset="0"/>
                <a:ea typeface="Arial" pitchFamily="34" charset="-122"/>
                <a:cs typeface="Arial" pitchFamily="34" charset="-120"/>
              </a:rPr>
              <a:t>Réponse en retard ou doublée : refusée (HTTP 409)</a:t>
            </a:r>
            <a:endParaRPr lang="en-US" sz="1200" dirty="0"/>
          </a:p>
          <a:p>
            <a:pPr marL="342900" indent="-342900">
              <a:spcAft>
                <a:spcPts val="1000"/>
              </a:spcAft>
              <a:buSzPct val="100000"/>
              <a:buChar char="•"/>
            </a:pPr>
            <a:r>
              <a:rPr lang="en-US" sz="1200" dirty="0">
                <a:solidFill>
                  <a:srgbClr val="EEF2FF"/>
                </a:solidFill>
                <a:latin typeface="Arial" pitchFamily="34" charset="0"/>
                <a:ea typeface="Arial" pitchFamily="34" charset="-122"/>
                <a:cs typeface="Arial" pitchFamily="34" charset="-120"/>
              </a:rPr>
              <a:t>La bonne réponse n'est transmise qu'après la clôture</a:t>
            </a:r>
            <a:endParaRPr lang="en-US" sz="1200" dirty="0"/>
          </a:p>
          <a:p>
            <a:pPr marL="342900" indent="-342900">
              <a:spcAft>
                <a:spcPts val="1000"/>
              </a:spcAft>
              <a:buSzPct val="100000"/>
              <a:buChar char="•"/>
            </a:pPr>
            <a:r>
              <a:rPr lang="en-US" sz="1200" dirty="0">
                <a:solidFill>
                  <a:srgbClr val="EEF2FF"/>
                </a:solidFill>
                <a:latin typeface="Arial" pitchFamily="34" charset="0"/>
                <a:ea typeface="Arial" pitchFamily="34" charset="-122"/>
                <a:cs typeface="Arial" pitchFamily="34" charset="-120"/>
              </a:rPr>
              <a:t>Avancement « lazy » : chaque requête fait un tick() serveur — clôture à l'échéance, manche suivante, fin de partie</a:t>
            </a:r>
            <a:endParaRPr lang="en-US" sz="1200" dirty="0"/>
          </a:p>
          <a:p>
            <a:pPr marL="342900" indent="-342900">
              <a:spcAft>
                <a:spcPts val="1000"/>
              </a:spcAft>
              <a:buSzPct val="100000"/>
              <a:buChar char="•"/>
            </a:pPr>
            <a:r>
              <a:rPr lang="en-US" sz="1200" dirty="0">
                <a:solidFill>
                  <a:srgbClr val="EEF2FF"/>
                </a:solidFill>
                <a:latin typeface="Arial" pitchFamily="34" charset="0"/>
                <a:ea typeface="Arial" pitchFamily="34" charset="-122"/>
                <a:cs typeface="Arial" pitchFamily="34" charset="-120"/>
              </a:rPr>
              <a:t>Aucun cron : le polling des clients suffit, sous verrous et transactions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10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4 · Réalisation</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Le client JavaFX</a:t>
            </a:r>
            <a:endParaRPr lang="en-US" sz="2700" dirty="0"/>
          </a:p>
        </p:txBody>
      </p:sp>
      <p:sp>
        <p:nvSpPr>
          <p:cNvPr id="5" name="Shape 3"/>
          <p:cNvSpPr/>
          <p:nvPr/>
        </p:nvSpPr>
        <p:spPr>
          <a:xfrm>
            <a:off x="502920" y="1005840"/>
            <a:ext cx="4224528" cy="3063240"/>
          </a:xfrm>
          <a:prstGeom prst="roundRect">
            <a:avLst>
              <a:gd name="adj" fmla="val 209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pic>
        <p:nvPicPr>
          <p:cNvPr id="6" name="Image 0" descr="C:\Users\lenovo\AppData\Local\Temp\claude\C--Users-lenovo-Desktop-java-mobile-app\1730b24d-2221-43ce-a8ed-650604e53c12\scratchpad\pptx-build/screenshot_login_crop.png">    </p:cNvPr>
          <p:cNvPicPr>
            <a:picLocks noChangeAspect="1"/>
          </p:cNvPicPr>
          <p:nvPr/>
        </p:nvPicPr>
        <p:blipFill>
          <a:blip r:embed="rId1"/>
          <a:stretch>
            <a:fillRect/>
          </a:stretch>
        </p:blipFill>
        <p:spPr>
          <a:xfrm>
            <a:off x="932688" y="1188720"/>
            <a:ext cx="3374136" cy="2592324"/>
          </a:xfrm>
          <a:prstGeom prst="rect">
            <a:avLst/>
          </a:prstGeom>
        </p:spPr>
      </p:pic>
      <p:sp>
        <p:nvSpPr>
          <p:cNvPr id="7" name="Text 4"/>
          <p:cNvSpPr/>
          <p:nvPr/>
        </p:nvSpPr>
        <p:spPr>
          <a:xfrm>
            <a:off x="694944" y="3785616"/>
            <a:ext cx="3840480" cy="237744"/>
          </a:xfrm>
          <a:prstGeom prst="rect">
            <a:avLst/>
          </a:prstGeom>
          <a:noFill/>
          <a:ln/>
        </p:spPr>
        <p:txBody>
          <a:bodyPr wrap="square" lIns="0" tIns="0" rIns="0" bIns="0" rtlCol="0" anchor="ctr"/>
          <a:lstStyle/>
          <a:p>
            <a:pPr algn="ctr" indent="0" marL="0">
              <a:buNone/>
            </a:pPr>
            <a:r>
              <a:rPr lang="en-US" sz="1050" i="1" dirty="0">
                <a:solidFill>
                  <a:srgbClr val="9AA7CC"/>
                </a:solidFill>
                <a:latin typeface="Arial" pitchFamily="34" charset="0"/>
                <a:ea typeface="Arial" pitchFamily="34" charset="-122"/>
                <a:cs typeface="Arial" pitchFamily="34" charset="-120"/>
              </a:rPr>
              <a:t>L'écran de connexion — thème sombre unifié (CSS)</a:t>
            </a:r>
            <a:endParaRPr lang="en-US" sz="1050" dirty="0"/>
          </a:p>
        </p:txBody>
      </p:sp>
      <p:sp>
        <p:nvSpPr>
          <p:cNvPr id="8" name="Shape 5"/>
          <p:cNvSpPr/>
          <p:nvPr/>
        </p:nvSpPr>
        <p:spPr>
          <a:xfrm>
            <a:off x="4956048" y="1005840"/>
            <a:ext cx="3685032" cy="1828800"/>
          </a:xfrm>
          <a:prstGeom prst="roundRect">
            <a:avLst>
              <a:gd name="adj" fmla="val 350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9" name="Text 6"/>
          <p:cNvSpPr/>
          <p:nvPr/>
        </p:nvSpPr>
        <p:spPr>
          <a:xfrm>
            <a:off x="5166360" y="1133856"/>
            <a:ext cx="3200400" cy="274320"/>
          </a:xfrm>
          <a:prstGeom prst="rect">
            <a:avLst/>
          </a:prstGeom>
          <a:noFill/>
          <a:ln/>
        </p:spPr>
        <p:txBody>
          <a:bodyPr wrap="square" lIns="0" tIns="0" rIns="0" bIns="0" rtlCol="0" anchor="ctr"/>
          <a:lstStyle/>
          <a:p>
            <a:pPr indent="0" marL="0">
              <a:buNone/>
            </a:pPr>
            <a:r>
              <a:rPr lang="en-US" sz="1300" b="1" dirty="0">
                <a:solidFill>
                  <a:srgbClr val="7FB2FF"/>
                </a:solidFill>
                <a:latin typeface="Arial" pitchFamily="34" charset="0"/>
                <a:ea typeface="Arial" pitchFamily="34" charset="-122"/>
                <a:cs typeface="Arial" pitchFamily="34" charset="-120"/>
              </a:rPr>
              <a:t>8 écrans</a:t>
            </a:r>
            <a:endParaRPr lang="en-US" sz="1300" dirty="0"/>
          </a:p>
        </p:txBody>
      </p:sp>
      <p:sp>
        <p:nvSpPr>
          <p:cNvPr id="10" name="Text 7"/>
          <p:cNvSpPr/>
          <p:nvPr/>
        </p:nvSpPr>
        <p:spPr>
          <a:xfrm>
            <a:off x="5166360" y="1463040"/>
            <a:ext cx="3291840" cy="1280160"/>
          </a:xfrm>
          <a:prstGeom prst="rect">
            <a:avLst/>
          </a:prstGeom>
          <a:noFill/>
          <a:ln/>
        </p:spPr>
        <p:txBody>
          <a:bodyPr wrap="square" lIns="0" tIns="0" rIns="0" bIns="0" rtlCol="0" anchor="ctr"/>
          <a:lstStyle/>
          <a:p>
            <a:pPr indent="0" marL="0">
              <a:spcAft>
                <a:spcPts val="500"/>
              </a:spcAft>
              <a:buNone/>
            </a:pPr>
            <a:r>
              <a:rPr lang="en-US" sz="1150" dirty="0">
                <a:solidFill>
                  <a:srgbClr val="EEF2FF"/>
                </a:solidFill>
                <a:latin typeface="Arial" pitchFamily="34" charset="0"/>
                <a:ea typeface="Arial" pitchFamily="34" charset="-122"/>
                <a:cs typeface="Arial" pitchFamily="34" charset="-120"/>
              </a:rPr>
              <a:t>Connexion · Accueil / profil · Lobby · Salle d'attente</a:t>
            </a:r>
            <a:endParaRPr lang="en-US" sz="1150" dirty="0"/>
          </a:p>
          <a:p>
            <a:pPr indent="0" marL="0">
              <a:spcAft>
                <a:spcPts val="500"/>
              </a:spcAft>
              <a:buNone/>
            </a:pPr>
            <a:r>
              <a:rPr lang="en-US" sz="1150" dirty="0">
                <a:solidFill>
                  <a:srgbClr val="EEF2FF"/>
                </a:solidFill>
                <a:latin typeface="Arial" pitchFamily="34" charset="0"/>
                <a:ea typeface="Arial" pitchFamily="34" charset="-122"/>
                <a:cs typeface="Arial" pitchFamily="34" charset="-120"/>
              </a:rPr>
              <a:t>Question · Résultats · Podium · Historique</a:t>
            </a:r>
            <a:endParaRPr lang="en-US" sz="1150" dirty="0"/>
          </a:p>
          <a:p>
            <a:pPr indent="0" marL="0">
              <a:spcAft>
                <a:spcPts val="500"/>
              </a:spcAft>
              <a:buNone/>
            </a:pPr>
            <a:r>
              <a:rPr lang="en-US" sz="500" dirty="0">
                <a:solidFill>
                  <a:srgbClr val="000000"/>
                </a:solidFill>
                <a:latin typeface="Arial" pitchFamily="34" charset="0"/>
                <a:ea typeface="Arial" pitchFamily="34" charset="-122"/>
                <a:cs typeface="Arial" pitchFamily="34" charset="-120"/>
              </a:rPr>
              <a:t> </a:t>
            </a:r>
            <a:endParaRPr lang="en-US" sz="1150" dirty="0"/>
          </a:p>
          <a:p>
            <a:pPr indent="0" marL="0">
              <a:spcAft>
                <a:spcPts val="500"/>
              </a:spcAft>
              <a:buNone/>
            </a:pPr>
            <a:r>
              <a:rPr lang="en-US" sz="1150" i="1" dirty="0">
                <a:solidFill>
                  <a:srgbClr val="9AA7CC"/>
                </a:solidFill>
                <a:latin typeface="Arial" pitchFamily="34" charset="0"/>
                <a:ea typeface="Arial" pitchFamily="34" charset="-122"/>
                <a:cs typeface="Arial" pitchFamily="34" charset="-120"/>
              </a:rPr>
              <a:t>avec les composants imposés : ListView, ComboBox, TreeView, ProgressBar, TableView, dialogues, animations</a:t>
            </a:r>
            <a:endParaRPr lang="en-US" sz="1150" dirty="0"/>
          </a:p>
        </p:txBody>
      </p:sp>
      <p:sp>
        <p:nvSpPr>
          <p:cNvPr id="11" name="Shape 8"/>
          <p:cNvSpPr/>
          <p:nvPr/>
        </p:nvSpPr>
        <p:spPr>
          <a:xfrm>
            <a:off x="4956048" y="3017520"/>
            <a:ext cx="3685032" cy="1572768"/>
          </a:xfrm>
          <a:prstGeom prst="roundRect">
            <a:avLst>
              <a:gd name="adj" fmla="val 4070"/>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2" name="Text 9"/>
          <p:cNvSpPr/>
          <p:nvPr/>
        </p:nvSpPr>
        <p:spPr>
          <a:xfrm>
            <a:off x="5166360" y="3145536"/>
            <a:ext cx="3200400" cy="274320"/>
          </a:xfrm>
          <a:prstGeom prst="rect">
            <a:avLst/>
          </a:prstGeom>
          <a:noFill/>
          <a:ln/>
        </p:spPr>
        <p:txBody>
          <a:bodyPr wrap="square" lIns="0" tIns="0" rIns="0" bIns="0" rtlCol="0" anchor="ctr"/>
          <a:lstStyle/>
          <a:p>
            <a:pPr indent="0" marL="0">
              <a:buNone/>
            </a:pPr>
            <a:r>
              <a:rPr lang="en-US" sz="1300" b="1" dirty="0">
                <a:solidFill>
                  <a:srgbClr val="7FB2FF"/>
                </a:solidFill>
                <a:latin typeface="Arial" pitchFamily="34" charset="0"/>
                <a:ea typeface="Arial" pitchFamily="34" charset="-122"/>
                <a:cs typeface="Arial" pitchFamily="34" charset="-120"/>
              </a:rPr>
              <a:t>Sous le capot</a:t>
            </a:r>
            <a:endParaRPr lang="en-US" sz="1300" dirty="0"/>
          </a:p>
        </p:txBody>
      </p:sp>
      <p:sp>
        <p:nvSpPr>
          <p:cNvPr id="13" name="Text 10"/>
          <p:cNvSpPr/>
          <p:nvPr/>
        </p:nvSpPr>
        <p:spPr>
          <a:xfrm>
            <a:off x="5166360" y="3474720"/>
            <a:ext cx="3291840" cy="105156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EEF2FF"/>
                </a:solidFill>
                <a:latin typeface="Arial" pitchFamily="34" charset="0"/>
                <a:ea typeface="Arial" pitchFamily="34" charset="-122"/>
                <a:cs typeface="Arial" pitchFamily="34" charset="-120"/>
              </a:rPr>
              <a:t>Appels HTTP hors du thread UI, polling 1,2 s</a:t>
            </a:r>
            <a:endParaRPr lang="en-US" sz="1100" dirty="0"/>
          </a:p>
          <a:p>
            <a:pPr marL="342900" indent="-342900">
              <a:spcAft>
                <a:spcPts val="600"/>
              </a:spcAft>
              <a:buSzPct val="100000"/>
              <a:buChar char="•"/>
            </a:pPr>
            <a:r>
              <a:rPr lang="en-US" sz="1100" dirty="0">
                <a:solidFill>
                  <a:srgbClr val="EEF2FF"/>
                </a:solidFill>
                <a:latin typeface="Arial" pitchFamily="34" charset="0"/>
                <a:ea typeface="Arial" pitchFamily="34" charset="-122"/>
                <a:cs typeface="Arial" pitchFamily="34" charset="-120"/>
              </a:rPr>
              <a:t>Compte à rebours recalé sur l'horloge serveur</a:t>
            </a:r>
            <a:endParaRPr lang="en-US" sz="1100" dirty="0"/>
          </a:p>
          <a:p>
            <a:pPr marL="342900" indent="-342900">
              <a:spcAft>
                <a:spcPts val="600"/>
              </a:spcAft>
              <a:buSzPct val="100000"/>
              <a:buChar char="•"/>
            </a:pPr>
            <a:r>
              <a:rPr lang="en-US" sz="1100" dirty="0">
                <a:solidFill>
                  <a:srgbClr val="EEF2FF"/>
                </a:solidFill>
                <a:latin typeface="Arial" pitchFamily="34" charset="0"/>
                <a:ea typeface="Arial" pitchFamily="34" charset="-122"/>
                <a:cs typeface="Arial" pitchFamily="34" charset="-120"/>
              </a:rPr>
              <a:t>Session restaurée au lancement, erreurs réseau non bloquantes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11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4 · Réalisation</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Difficultés rencontrées</a:t>
            </a:r>
            <a:endParaRPr lang="en-US" sz="2700" dirty="0"/>
          </a:p>
        </p:txBody>
      </p:sp>
      <p:sp>
        <p:nvSpPr>
          <p:cNvPr id="5" name="Shape 3"/>
          <p:cNvSpPr/>
          <p:nvPr/>
        </p:nvSpPr>
        <p:spPr>
          <a:xfrm>
            <a:off x="502920" y="1024128"/>
            <a:ext cx="3108960" cy="603504"/>
          </a:xfrm>
          <a:prstGeom prst="roundRect">
            <a:avLst>
              <a:gd name="adj" fmla="val 10606"/>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pic>
        <p:nvPicPr>
          <p:cNvPr id="6" name="Image 0" descr="preencoded.png">    </p:cNvPr>
          <p:cNvPicPr>
            <a:picLocks noChangeAspect="1"/>
          </p:cNvPicPr>
          <p:nvPr/>
        </p:nvPicPr>
        <p:blipFill>
          <a:blip r:embed="rId1"/>
          <a:stretch>
            <a:fillRect/>
          </a:stretch>
        </p:blipFill>
        <p:spPr>
          <a:xfrm>
            <a:off x="658368" y="1197864"/>
            <a:ext cx="256032" cy="256032"/>
          </a:xfrm>
          <a:prstGeom prst="rect">
            <a:avLst/>
          </a:prstGeom>
        </p:spPr>
      </p:pic>
      <p:sp>
        <p:nvSpPr>
          <p:cNvPr id="7" name="Text 4"/>
          <p:cNvSpPr/>
          <p:nvPr/>
        </p:nvSpPr>
        <p:spPr>
          <a:xfrm>
            <a:off x="1024128" y="1024128"/>
            <a:ext cx="2514600" cy="603504"/>
          </a:xfrm>
          <a:prstGeom prst="rect">
            <a:avLst/>
          </a:prstGeom>
          <a:noFill/>
          <a:ln/>
        </p:spPr>
        <p:txBody>
          <a:bodyPr wrap="square" lIns="0" tIns="0" rIns="0" bIns="0" rtlCol="0" anchor="ctr"/>
          <a:lstStyle/>
          <a:p>
            <a:pPr indent="0" marL="0">
              <a:buNone/>
            </a:pPr>
            <a:r>
              <a:rPr lang="en-US" sz="1150" b="1" dirty="0">
                <a:solidFill>
                  <a:srgbClr val="EEF2FF"/>
                </a:solidFill>
                <a:latin typeface="Arial" pitchFamily="34" charset="0"/>
                <a:ea typeface="Arial" pitchFamily="34" charset="-122"/>
                <a:cs typeface="Arial" pitchFamily="34" charset="-120"/>
              </a:rPr>
              <a:t>Synchroniser sans WebSocket</a:t>
            </a:r>
            <a:endParaRPr lang="en-US" sz="1150" dirty="0"/>
          </a:p>
        </p:txBody>
      </p:sp>
      <p:sp>
        <p:nvSpPr>
          <p:cNvPr id="8" name="Shape 5"/>
          <p:cNvSpPr/>
          <p:nvPr/>
        </p:nvSpPr>
        <p:spPr>
          <a:xfrm>
            <a:off x="3675888" y="1325880"/>
            <a:ext cx="457200" cy="0"/>
          </a:xfrm>
          <a:prstGeom prst="line">
            <a:avLst/>
          </a:prstGeom>
          <a:noFill/>
          <a:ln w="25400">
            <a:solidFill>
              <a:srgbClr val="FFD166"/>
            </a:solidFill>
            <a:prstDash val="solid"/>
            <a:tailEnd type="triangle"/>
          </a:ln>
        </p:spPr>
      </p:sp>
      <p:sp>
        <p:nvSpPr>
          <p:cNvPr id="9" name="Shape 6"/>
          <p:cNvSpPr/>
          <p:nvPr/>
        </p:nvSpPr>
        <p:spPr>
          <a:xfrm>
            <a:off x="4206240" y="1024128"/>
            <a:ext cx="4434840" cy="603504"/>
          </a:xfrm>
          <a:prstGeom prst="roundRect">
            <a:avLst>
              <a:gd name="adj" fmla="val 10606"/>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0" name="Text 7"/>
          <p:cNvSpPr/>
          <p:nvPr/>
        </p:nvSpPr>
        <p:spPr>
          <a:xfrm>
            <a:off x="4370832" y="1024128"/>
            <a:ext cx="4114800" cy="603504"/>
          </a:xfrm>
          <a:prstGeom prst="rect">
            <a:avLst/>
          </a:prstGeom>
          <a:noFill/>
          <a:ln/>
        </p:spPr>
        <p:txBody>
          <a:bodyPr wrap="square" lIns="0" tIns="0" rIns="0" bIns="0" rtlCol="0" anchor="ctr"/>
          <a:lstStyle/>
          <a:p>
            <a:pPr indent="0" marL="0">
              <a:buNone/>
            </a:pPr>
            <a:r>
              <a:rPr lang="en-US" sz="1050" dirty="0">
                <a:solidFill>
                  <a:srgbClr val="EEF2FF"/>
                </a:solidFill>
                <a:latin typeface="Arial" pitchFamily="34" charset="0"/>
                <a:ea typeface="Arial" pitchFamily="34" charset="-122"/>
                <a:cs typeface="Arial" pitchFamily="34" charset="-120"/>
              </a:rPr>
              <a:t>polling 1-2 s + avancement « lazy » : chaque requête fait progresser la partie côté serveur</a:t>
            </a:r>
            <a:endParaRPr lang="en-US" sz="1050" dirty="0"/>
          </a:p>
        </p:txBody>
      </p:sp>
      <p:sp>
        <p:nvSpPr>
          <p:cNvPr id="11" name="Shape 8"/>
          <p:cNvSpPr/>
          <p:nvPr/>
        </p:nvSpPr>
        <p:spPr>
          <a:xfrm>
            <a:off x="502920" y="1755648"/>
            <a:ext cx="3108960" cy="603504"/>
          </a:xfrm>
          <a:prstGeom prst="roundRect">
            <a:avLst>
              <a:gd name="adj" fmla="val 10606"/>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pic>
        <p:nvPicPr>
          <p:cNvPr id="12" name="Image 1" descr="preencoded.png">    </p:cNvPr>
          <p:cNvPicPr>
            <a:picLocks noChangeAspect="1"/>
          </p:cNvPicPr>
          <p:nvPr/>
        </p:nvPicPr>
        <p:blipFill>
          <a:blip r:embed="rId2"/>
          <a:stretch>
            <a:fillRect/>
          </a:stretch>
        </p:blipFill>
        <p:spPr>
          <a:xfrm>
            <a:off x="658368" y="1929384"/>
            <a:ext cx="256032" cy="256032"/>
          </a:xfrm>
          <a:prstGeom prst="rect">
            <a:avLst/>
          </a:prstGeom>
        </p:spPr>
      </p:pic>
      <p:sp>
        <p:nvSpPr>
          <p:cNvPr id="13" name="Text 9"/>
          <p:cNvSpPr/>
          <p:nvPr/>
        </p:nvSpPr>
        <p:spPr>
          <a:xfrm>
            <a:off x="1024128" y="1755648"/>
            <a:ext cx="2514600" cy="603504"/>
          </a:xfrm>
          <a:prstGeom prst="rect">
            <a:avLst/>
          </a:prstGeom>
          <a:noFill/>
          <a:ln/>
        </p:spPr>
        <p:txBody>
          <a:bodyPr wrap="square" lIns="0" tIns="0" rIns="0" bIns="0" rtlCol="0" anchor="ctr"/>
          <a:lstStyle/>
          <a:p>
            <a:pPr indent="0" marL="0">
              <a:buNone/>
            </a:pPr>
            <a:r>
              <a:rPr lang="en-US" sz="1150" b="1" dirty="0">
                <a:solidFill>
                  <a:srgbClr val="EEF2FF"/>
                </a:solidFill>
                <a:latin typeface="Arial" pitchFamily="34" charset="0"/>
                <a:ea typeface="Arial" pitchFamily="34" charset="-122"/>
                <a:cs typeface="Arial" pitchFamily="34" charset="-120"/>
              </a:rPr>
              <a:t>Horloges client ≠ serveur</a:t>
            </a:r>
            <a:endParaRPr lang="en-US" sz="1150" dirty="0"/>
          </a:p>
        </p:txBody>
      </p:sp>
      <p:sp>
        <p:nvSpPr>
          <p:cNvPr id="14" name="Shape 10"/>
          <p:cNvSpPr/>
          <p:nvPr/>
        </p:nvSpPr>
        <p:spPr>
          <a:xfrm>
            <a:off x="3675888" y="2057400"/>
            <a:ext cx="457200" cy="0"/>
          </a:xfrm>
          <a:prstGeom prst="line">
            <a:avLst/>
          </a:prstGeom>
          <a:noFill/>
          <a:ln w="25400">
            <a:solidFill>
              <a:srgbClr val="FFD166"/>
            </a:solidFill>
            <a:prstDash val="solid"/>
            <a:tailEnd type="triangle"/>
          </a:ln>
        </p:spPr>
      </p:sp>
      <p:sp>
        <p:nvSpPr>
          <p:cNvPr id="15" name="Shape 11"/>
          <p:cNvSpPr/>
          <p:nvPr/>
        </p:nvSpPr>
        <p:spPr>
          <a:xfrm>
            <a:off x="4206240" y="1755648"/>
            <a:ext cx="4434840" cy="603504"/>
          </a:xfrm>
          <a:prstGeom prst="roundRect">
            <a:avLst>
              <a:gd name="adj" fmla="val 10606"/>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6" name="Text 12"/>
          <p:cNvSpPr/>
          <p:nvPr/>
        </p:nvSpPr>
        <p:spPr>
          <a:xfrm>
            <a:off x="4370832" y="1755648"/>
            <a:ext cx="4114800" cy="603504"/>
          </a:xfrm>
          <a:prstGeom prst="rect">
            <a:avLst/>
          </a:prstGeom>
          <a:noFill/>
          <a:ln/>
        </p:spPr>
        <p:txBody>
          <a:bodyPr wrap="square" lIns="0" tIns="0" rIns="0" bIns="0" rtlCol="0" anchor="ctr"/>
          <a:lstStyle/>
          <a:p>
            <a:pPr indent="0" marL="0">
              <a:buNone/>
            </a:pPr>
            <a:r>
              <a:rPr lang="en-US" sz="1050" dirty="0">
                <a:solidFill>
                  <a:srgbClr val="EEF2FF"/>
                </a:solidFill>
                <a:latin typeface="Arial" pitchFamily="34" charset="0"/>
                <a:ea typeface="Arial" pitchFamily="34" charset="-122"/>
                <a:cs typeface="Arial" pitchFamily="34" charset="-120"/>
              </a:rPr>
              <a:t>le serveur envoie serverNow avec chaque échéance : le client recale son compte à rebours</a:t>
            </a:r>
            <a:endParaRPr lang="en-US" sz="1050" dirty="0"/>
          </a:p>
        </p:txBody>
      </p:sp>
      <p:sp>
        <p:nvSpPr>
          <p:cNvPr id="17" name="Shape 13"/>
          <p:cNvSpPr/>
          <p:nvPr/>
        </p:nvSpPr>
        <p:spPr>
          <a:xfrm>
            <a:off x="502920" y="2487168"/>
            <a:ext cx="3108960" cy="603504"/>
          </a:xfrm>
          <a:prstGeom prst="roundRect">
            <a:avLst>
              <a:gd name="adj" fmla="val 10606"/>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pic>
        <p:nvPicPr>
          <p:cNvPr id="18" name="Image 2" descr="preencoded.png">    </p:cNvPr>
          <p:cNvPicPr>
            <a:picLocks noChangeAspect="1"/>
          </p:cNvPicPr>
          <p:nvPr/>
        </p:nvPicPr>
        <p:blipFill>
          <a:blip r:embed="rId3"/>
          <a:stretch>
            <a:fillRect/>
          </a:stretch>
        </p:blipFill>
        <p:spPr>
          <a:xfrm>
            <a:off x="658368" y="2660904"/>
            <a:ext cx="256032" cy="256032"/>
          </a:xfrm>
          <a:prstGeom prst="rect">
            <a:avLst/>
          </a:prstGeom>
        </p:spPr>
      </p:pic>
      <p:sp>
        <p:nvSpPr>
          <p:cNvPr id="19" name="Text 14"/>
          <p:cNvSpPr/>
          <p:nvPr/>
        </p:nvSpPr>
        <p:spPr>
          <a:xfrm>
            <a:off x="1024128" y="2487168"/>
            <a:ext cx="2514600" cy="603504"/>
          </a:xfrm>
          <a:prstGeom prst="rect">
            <a:avLst/>
          </a:prstGeom>
          <a:noFill/>
          <a:ln/>
        </p:spPr>
        <p:txBody>
          <a:bodyPr wrap="square" lIns="0" tIns="0" rIns="0" bIns="0" rtlCol="0" anchor="ctr"/>
          <a:lstStyle/>
          <a:p>
            <a:pPr indent="0" marL="0">
              <a:buNone/>
            </a:pPr>
            <a:r>
              <a:rPr lang="en-US" sz="1150" b="1" dirty="0">
                <a:solidFill>
                  <a:srgbClr val="EEF2FF"/>
                </a:solidFill>
                <a:latin typeface="Arial" pitchFamily="34" charset="0"/>
                <a:ea typeface="Arial" pitchFamily="34" charset="-122"/>
                <a:cs typeface="Arial" pitchFamily="34" charset="-120"/>
              </a:rPr>
              <a:t>Requêtes concurrentes du polling</a:t>
            </a:r>
            <a:endParaRPr lang="en-US" sz="1150" dirty="0"/>
          </a:p>
        </p:txBody>
      </p:sp>
      <p:sp>
        <p:nvSpPr>
          <p:cNvPr id="20" name="Shape 15"/>
          <p:cNvSpPr/>
          <p:nvPr/>
        </p:nvSpPr>
        <p:spPr>
          <a:xfrm>
            <a:off x="3675888" y="2788920"/>
            <a:ext cx="457200" cy="0"/>
          </a:xfrm>
          <a:prstGeom prst="line">
            <a:avLst/>
          </a:prstGeom>
          <a:noFill/>
          <a:ln w="25400">
            <a:solidFill>
              <a:srgbClr val="FFD166"/>
            </a:solidFill>
            <a:prstDash val="solid"/>
            <a:tailEnd type="triangle"/>
          </a:ln>
        </p:spPr>
      </p:sp>
      <p:sp>
        <p:nvSpPr>
          <p:cNvPr id="21" name="Shape 16"/>
          <p:cNvSpPr/>
          <p:nvPr/>
        </p:nvSpPr>
        <p:spPr>
          <a:xfrm>
            <a:off x="4206240" y="2487168"/>
            <a:ext cx="4434840" cy="603504"/>
          </a:xfrm>
          <a:prstGeom prst="roundRect">
            <a:avLst>
              <a:gd name="adj" fmla="val 10606"/>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22" name="Text 17"/>
          <p:cNvSpPr/>
          <p:nvPr/>
        </p:nvSpPr>
        <p:spPr>
          <a:xfrm>
            <a:off x="4370832" y="2487168"/>
            <a:ext cx="4114800" cy="603504"/>
          </a:xfrm>
          <a:prstGeom prst="rect">
            <a:avLst/>
          </a:prstGeom>
          <a:noFill/>
          <a:ln/>
        </p:spPr>
        <p:txBody>
          <a:bodyPr wrap="square" lIns="0" tIns="0" rIns="0" bIns="0" rtlCol="0" anchor="ctr"/>
          <a:lstStyle/>
          <a:p>
            <a:pPr indent="0" marL="0">
              <a:buNone/>
            </a:pPr>
            <a:r>
              <a:rPr lang="en-US" sz="1050" dirty="0">
                <a:solidFill>
                  <a:srgbClr val="EEF2FF"/>
                </a:solidFill>
                <a:latin typeface="Arial" pitchFamily="34" charset="0"/>
                <a:ea typeface="Arial" pitchFamily="34" charset="-122"/>
                <a:cs typeface="Arial" pitchFamily="34" charset="-120"/>
              </a:rPr>
              <a:t>transactions, verrous SELECT … FOR UPDATE, contraintes uniques traduites en 409</a:t>
            </a:r>
            <a:endParaRPr lang="en-US" sz="1050" dirty="0"/>
          </a:p>
        </p:txBody>
      </p:sp>
      <p:sp>
        <p:nvSpPr>
          <p:cNvPr id="23" name="Shape 18"/>
          <p:cNvSpPr/>
          <p:nvPr/>
        </p:nvSpPr>
        <p:spPr>
          <a:xfrm>
            <a:off x="502920" y="3218688"/>
            <a:ext cx="3108960" cy="603504"/>
          </a:xfrm>
          <a:prstGeom prst="roundRect">
            <a:avLst>
              <a:gd name="adj" fmla="val 10606"/>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pic>
        <p:nvPicPr>
          <p:cNvPr id="24" name="Image 3" descr="preencoded.png">    </p:cNvPr>
          <p:cNvPicPr>
            <a:picLocks noChangeAspect="1"/>
          </p:cNvPicPr>
          <p:nvPr/>
        </p:nvPicPr>
        <p:blipFill>
          <a:blip r:embed="rId4"/>
          <a:stretch>
            <a:fillRect/>
          </a:stretch>
        </p:blipFill>
        <p:spPr>
          <a:xfrm>
            <a:off x="658368" y="3392424"/>
            <a:ext cx="256032" cy="256032"/>
          </a:xfrm>
          <a:prstGeom prst="rect">
            <a:avLst/>
          </a:prstGeom>
        </p:spPr>
      </p:pic>
      <p:sp>
        <p:nvSpPr>
          <p:cNvPr id="25" name="Text 19"/>
          <p:cNvSpPr/>
          <p:nvPr/>
        </p:nvSpPr>
        <p:spPr>
          <a:xfrm>
            <a:off x="1024128" y="3218688"/>
            <a:ext cx="2514600" cy="603504"/>
          </a:xfrm>
          <a:prstGeom prst="rect">
            <a:avLst/>
          </a:prstGeom>
          <a:noFill/>
          <a:ln/>
        </p:spPr>
        <p:txBody>
          <a:bodyPr wrap="square" lIns="0" tIns="0" rIns="0" bIns="0" rtlCol="0" anchor="ctr"/>
          <a:lstStyle/>
          <a:p>
            <a:pPr indent="0" marL="0">
              <a:buNone/>
            </a:pPr>
            <a:r>
              <a:rPr lang="en-US" sz="1150" b="1" dirty="0">
                <a:solidFill>
                  <a:srgbClr val="EEF2FF"/>
                </a:solidFill>
                <a:latin typeface="Arial" pitchFamily="34" charset="0"/>
                <a:ea typeface="Arial" pitchFamily="34" charset="-122"/>
                <a:cs typeface="Arial" pitchFamily="34" charset="-120"/>
              </a:rPr>
              <a:t>Triche par inspection de l'API</a:t>
            </a:r>
            <a:endParaRPr lang="en-US" sz="1150" dirty="0"/>
          </a:p>
        </p:txBody>
      </p:sp>
      <p:sp>
        <p:nvSpPr>
          <p:cNvPr id="26" name="Shape 20"/>
          <p:cNvSpPr/>
          <p:nvPr/>
        </p:nvSpPr>
        <p:spPr>
          <a:xfrm>
            <a:off x="3675888" y="3520440"/>
            <a:ext cx="457200" cy="0"/>
          </a:xfrm>
          <a:prstGeom prst="line">
            <a:avLst/>
          </a:prstGeom>
          <a:noFill/>
          <a:ln w="25400">
            <a:solidFill>
              <a:srgbClr val="FFD166"/>
            </a:solidFill>
            <a:prstDash val="solid"/>
            <a:tailEnd type="triangle"/>
          </a:ln>
        </p:spPr>
      </p:sp>
      <p:sp>
        <p:nvSpPr>
          <p:cNvPr id="27" name="Shape 21"/>
          <p:cNvSpPr/>
          <p:nvPr/>
        </p:nvSpPr>
        <p:spPr>
          <a:xfrm>
            <a:off x="4206240" y="3218688"/>
            <a:ext cx="4434840" cy="603504"/>
          </a:xfrm>
          <a:prstGeom prst="roundRect">
            <a:avLst>
              <a:gd name="adj" fmla="val 10606"/>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28" name="Text 22"/>
          <p:cNvSpPr/>
          <p:nvPr/>
        </p:nvSpPr>
        <p:spPr>
          <a:xfrm>
            <a:off x="4370832" y="3218688"/>
            <a:ext cx="4114800" cy="603504"/>
          </a:xfrm>
          <a:prstGeom prst="rect">
            <a:avLst/>
          </a:prstGeom>
          <a:noFill/>
          <a:ln/>
        </p:spPr>
        <p:txBody>
          <a:bodyPr wrap="square" lIns="0" tIns="0" rIns="0" bIns="0" rtlCol="0" anchor="ctr"/>
          <a:lstStyle/>
          <a:p>
            <a:pPr indent="0" marL="0">
              <a:buNone/>
            </a:pPr>
            <a:r>
              <a:rPr lang="en-US" sz="1050" dirty="0">
                <a:solidFill>
                  <a:srgbClr val="EEF2FF"/>
                </a:solidFill>
                <a:latin typeface="Arial" pitchFamily="34" charset="0"/>
                <a:ea typeface="Arial" pitchFamily="34" charset="-122"/>
                <a:cs typeface="Arial" pitchFamily="34" charset="-120"/>
              </a:rPr>
              <a:t>la solution n'est jamais transmise avant clôture ; score calculé uniquement côté serveur</a:t>
            </a:r>
            <a:endParaRPr lang="en-US" sz="1050" dirty="0"/>
          </a:p>
        </p:txBody>
      </p:sp>
      <p:sp>
        <p:nvSpPr>
          <p:cNvPr id="29" name="Shape 23"/>
          <p:cNvSpPr/>
          <p:nvPr/>
        </p:nvSpPr>
        <p:spPr>
          <a:xfrm>
            <a:off x="502920" y="3950208"/>
            <a:ext cx="3108960" cy="603504"/>
          </a:xfrm>
          <a:prstGeom prst="roundRect">
            <a:avLst>
              <a:gd name="adj" fmla="val 10606"/>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pic>
        <p:nvPicPr>
          <p:cNvPr id="30" name="Image 4" descr="preencoded.png">    </p:cNvPr>
          <p:cNvPicPr>
            <a:picLocks noChangeAspect="1"/>
          </p:cNvPicPr>
          <p:nvPr/>
        </p:nvPicPr>
        <p:blipFill>
          <a:blip r:embed="rId5"/>
          <a:stretch>
            <a:fillRect/>
          </a:stretch>
        </p:blipFill>
        <p:spPr>
          <a:xfrm>
            <a:off x="658368" y="4123944"/>
            <a:ext cx="256032" cy="256032"/>
          </a:xfrm>
          <a:prstGeom prst="rect">
            <a:avLst/>
          </a:prstGeom>
        </p:spPr>
      </p:pic>
      <p:sp>
        <p:nvSpPr>
          <p:cNvPr id="31" name="Text 24"/>
          <p:cNvSpPr/>
          <p:nvPr/>
        </p:nvSpPr>
        <p:spPr>
          <a:xfrm>
            <a:off x="1024128" y="3950208"/>
            <a:ext cx="2514600" cy="603504"/>
          </a:xfrm>
          <a:prstGeom prst="rect">
            <a:avLst/>
          </a:prstGeom>
          <a:noFill/>
          <a:ln/>
        </p:spPr>
        <p:txBody>
          <a:bodyPr wrap="square" lIns="0" tIns="0" rIns="0" bIns="0" rtlCol="0" anchor="ctr"/>
          <a:lstStyle/>
          <a:p>
            <a:pPr indent="0" marL="0">
              <a:buNone/>
            </a:pPr>
            <a:r>
              <a:rPr lang="en-US" sz="1150" b="1" dirty="0">
                <a:solidFill>
                  <a:srgbClr val="EEF2FF"/>
                </a:solidFill>
                <a:latin typeface="Arial" pitchFamily="34" charset="0"/>
                <a:ea typeface="Arial" pitchFamily="34" charset="-122"/>
                <a:cs typeface="Arial" pitchFamily="34" charset="-120"/>
              </a:rPr>
              <a:t>Ports occupés selon les postes</a:t>
            </a:r>
            <a:endParaRPr lang="en-US" sz="1150" dirty="0"/>
          </a:p>
        </p:txBody>
      </p:sp>
      <p:sp>
        <p:nvSpPr>
          <p:cNvPr id="32" name="Shape 25"/>
          <p:cNvSpPr/>
          <p:nvPr/>
        </p:nvSpPr>
        <p:spPr>
          <a:xfrm>
            <a:off x="3675888" y="4251960"/>
            <a:ext cx="457200" cy="0"/>
          </a:xfrm>
          <a:prstGeom prst="line">
            <a:avLst/>
          </a:prstGeom>
          <a:noFill/>
          <a:ln w="25400">
            <a:solidFill>
              <a:srgbClr val="FFD166"/>
            </a:solidFill>
            <a:prstDash val="solid"/>
            <a:tailEnd type="triangle"/>
          </a:ln>
        </p:spPr>
      </p:sp>
      <p:sp>
        <p:nvSpPr>
          <p:cNvPr id="33" name="Shape 26"/>
          <p:cNvSpPr/>
          <p:nvPr/>
        </p:nvSpPr>
        <p:spPr>
          <a:xfrm>
            <a:off x="4206240" y="3950208"/>
            <a:ext cx="4434840" cy="603504"/>
          </a:xfrm>
          <a:prstGeom prst="roundRect">
            <a:avLst>
              <a:gd name="adj" fmla="val 10606"/>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34" name="Text 27"/>
          <p:cNvSpPr/>
          <p:nvPr/>
        </p:nvSpPr>
        <p:spPr>
          <a:xfrm>
            <a:off x="4370832" y="3950208"/>
            <a:ext cx="4114800" cy="603504"/>
          </a:xfrm>
          <a:prstGeom prst="rect">
            <a:avLst/>
          </a:prstGeom>
          <a:noFill/>
          <a:ln/>
        </p:spPr>
        <p:txBody>
          <a:bodyPr wrap="square" lIns="0" tIns="0" rIns="0" bIns="0" rtlCol="0" anchor="ctr"/>
          <a:lstStyle/>
          <a:p>
            <a:pPr indent="0" marL="0">
              <a:buNone/>
            </a:pPr>
            <a:r>
              <a:rPr lang="en-US" sz="1050" dirty="0">
                <a:solidFill>
                  <a:srgbClr val="EEF2FF"/>
                </a:solidFill>
                <a:latin typeface="Arial" pitchFamily="34" charset="0"/>
                <a:ea typeface="Arial" pitchFamily="34" charset="-122"/>
                <a:cs typeface="Arial" pitchFamily="34" charset="-120"/>
              </a:rPr>
              <a:t>port 8085 par défaut + URL externalisée dans un fichier de configuration</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12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5 · Validation &amp; déploiement</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58 contrôles automatisés</a:t>
            </a:r>
            <a:endParaRPr lang="en-US" sz="2700" dirty="0"/>
          </a:p>
        </p:txBody>
      </p:sp>
      <p:sp>
        <p:nvSpPr>
          <p:cNvPr id="5" name="Shape 3"/>
          <p:cNvSpPr/>
          <p:nvPr/>
        </p:nvSpPr>
        <p:spPr>
          <a:xfrm>
            <a:off x="502920" y="1051560"/>
            <a:ext cx="2606040" cy="1828800"/>
          </a:xfrm>
          <a:prstGeom prst="roundRect">
            <a:avLst>
              <a:gd name="adj" fmla="val 350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6" name="Shape 4"/>
          <p:cNvSpPr/>
          <p:nvPr/>
        </p:nvSpPr>
        <p:spPr>
          <a:xfrm>
            <a:off x="667512" y="1216152"/>
            <a:ext cx="402336" cy="402336"/>
          </a:xfrm>
          <a:prstGeom prst="ellipse">
            <a:avLst/>
          </a:prstGeom>
          <a:solidFill>
            <a:srgbClr val="3D7BFD"/>
          </a:solidFill>
          <a:ln/>
        </p:spPr>
      </p:sp>
      <p:pic>
        <p:nvPicPr>
          <p:cNvPr id="7" name="Image 0" descr="preencoded.png">    </p:cNvPr>
          <p:cNvPicPr>
            <a:picLocks noChangeAspect="1"/>
          </p:cNvPicPr>
          <p:nvPr/>
        </p:nvPicPr>
        <p:blipFill>
          <a:blip r:embed="rId1"/>
          <a:stretch>
            <a:fillRect/>
          </a:stretch>
        </p:blipFill>
        <p:spPr>
          <a:xfrm>
            <a:off x="760049" y="1308689"/>
            <a:ext cx="217261" cy="217261"/>
          </a:xfrm>
          <a:prstGeom prst="rect">
            <a:avLst/>
          </a:prstGeom>
        </p:spPr>
      </p:pic>
      <p:sp>
        <p:nvSpPr>
          <p:cNvPr id="8" name="Text 5"/>
          <p:cNvSpPr/>
          <p:nvPr/>
        </p:nvSpPr>
        <p:spPr>
          <a:xfrm>
            <a:off x="502920" y="1298448"/>
            <a:ext cx="2606040" cy="731520"/>
          </a:xfrm>
          <a:prstGeom prst="rect">
            <a:avLst/>
          </a:prstGeom>
          <a:noFill/>
          <a:ln/>
        </p:spPr>
        <p:txBody>
          <a:bodyPr wrap="square" lIns="0" tIns="0" rIns="0" bIns="0" rtlCol="0" anchor="ctr"/>
          <a:lstStyle/>
          <a:p>
            <a:pPr algn="ctr" indent="0" marL="0">
              <a:buNone/>
            </a:pPr>
            <a:r>
              <a:rPr lang="en-US" sz="4600" b="1" dirty="0">
                <a:solidFill>
                  <a:srgbClr val="FFD166"/>
                </a:solidFill>
                <a:latin typeface="Arial" pitchFamily="34" charset="0"/>
                <a:ea typeface="Arial" pitchFamily="34" charset="-122"/>
                <a:cs typeface="Arial" pitchFamily="34" charset="-120"/>
              </a:rPr>
              <a:t>15</a:t>
            </a:r>
            <a:endParaRPr lang="en-US" sz="4600" dirty="0"/>
          </a:p>
        </p:txBody>
      </p:sp>
      <p:sp>
        <p:nvSpPr>
          <p:cNvPr id="9" name="Text 6"/>
          <p:cNvSpPr/>
          <p:nvPr/>
        </p:nvSpPr>
        <p:spPr>
          <a:xfrm>
            <a:off x="685800" y="2103120"/>
            <a:ext cx="2240280" cy="685800"/>
          </a:xfrm>
          <a:prstGeom prst="rect">
            <a:avLst/>
          </a:prstGeom>
          <a:noFill/>
          <a:ln/>
        </p:spPr>
        <p:txBody>
          <a:bodyPr wrap="square" lIns="0" tIns="0" rIns="0" bIns="0" rtlCol="0" anchor="ctr"/>
          <a:lstStyle/>
          <a:p>
            <a:pPr algn="ctr" indent="0" marL="0">
              <a:buNone/>
            </a:pPr>
            <a:r>
              <a:rPr lang="en-US" sz="1100" dirty="0">
                <a:solidFill>
                  <a:srgbClr val="9AA7CC"/>
                </a:solidFill>
                <a:latin typeface="Arial" pitchFamily="34" charset="0"/>
                <a:ea typeface="Arial" pitchFamily="34" charset="-122"/>
                <a:cs typeface="Arial" pitchFamily="34" charset="-120"/>
              </a:rPr>
              <a:t>tests unitaires du score et de l'élimination (PHP)</a:t>
            </a:r>
            <a:endParaRPr lang="en-US" sz="1100" dirty="0"/>
          </a:p>
        </p:txBody>
      </p:sp>
      <p:sp>
        <p:nvSpPr>
          <p:cNvPr id="10" name="Shape 7"/>
          <p:cNvSpPr/>
          <p:nvPr/>
        </p:nvSpPr>
        <p:spPr>
          <a:xfrm>
            <a:off x="3291840" y="1051560"/>
            <a:ext cx="2606040" cy="1828800"/>
          </a:xfrm>
          <a:prstGeom prst="roundRect">
            <a:avLst>
              <a:gd name="adj" fmla="val 350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1" name="Shape 8"/>
          <p:cNvSpPr/>
          <p:nvPr/>
        </p:nvSpPr>
        <p:spPr>
          <a:xfrm>
            <a:off x="3456432" y="1216152"/>
            <a:ext cx="402336" cy="402336"/>
          </a:xfrm>
          <a:prstGeom prst="ellipse">
            <a:avLst/>
          </a:prstGeom>
          <a:solidFill>
            <a:srgbClr val="3D7BFD"/>
          </a:solidFill>
          <a:ln/>
        </p:spPr>
      </p:sp>
      <p:pic>
        <p:nvPicPr>
          <p:cNvPr id="12" name="Image 1" descr="preencoded.png">    </p:cNvPr>
          <p:cNvPicPr>
            <a:picLocks noChangeAspect="1"/>
          </p:cNvPicPr>
          <p:nvPr/>
        </p:nvPicPr>
        <p:blipFill>
          <a:blip r:embed="rId2"/>
          <a:stretch>
            <a:fillRect/>
          </a:stretch>
        </p:blipFill>
        <p:spPr>
          <a:xfrm>
            <a:off x="3548969" y="1308689"/>
            <a:ext cx="217261" cy="217261"/>
          </a:xfrm>
          <a:prstGeom prst="rect">
            <a:avLst/>
          </a:prstGeom>
        </p:spPr>
      </p:pic>
      <p:sp>
        <p:nvSpPr>
          <p:cNvPr id="13" name="Text 9"/>
          <p:cNvSpPr/>
          <p:nvPr/>
        </p:nvSpPr>
        <p:spPr>
          <a:xfrm>
            <a:off x="3291840" y="1298448"/>
            <a:ext cx="2606040" cy="731520"/>
          </a:xfrm>
          <a:prstGeom prst="rect">
            <a:avLst/>
          </a:prstGeom>
          <a:noFill/>
          <a:ln/>
        </p:spPr>
        <p:txBody>
          <a:bodyPr wrap="square" lIns="0" tIns="0" rIns="0" bIns="0" rtlCol="0" anchor="ctr"/>
          <a:lstStyle/>
          <a:p>
            <a:pPr algn="ctr" indent="0" marL="0">
              <a:buNone/>
            </a:pPr>
            <a:r>
              <a:rPr lang="en-US" sz="4600" b="1" dirty="0">
                <a:solidFill>
                  <a:srgbClr val="FFD166"/>
                </a:solidFill>
                <a:latin typeface="Arial" pitchFamily="34" charset="0"/>
                <a:ea typeface="Arial" pitchFamily="34" charset="-122"/>
                <a:cs typeface="Arial" pitchFamily="34" charset="-120"/>
              </a:rPr>
              <a:t>37</a:t>
            </a:r>
            <a:endParaRPr lang="en-US" sz="4600" dirty="0"/>
          </a:p>
        </p:txBody>
      </p:sp>
      <p:sp>
        <p:nvSpPr>
          <p:cNvPr id="14" name="Text 10"/>
          <p:cNvSpPr/>
          <p:nvPr/>
        </p:nvSpPr>
        <p:spPr>
          <a:xfrm>
            <a:off x="3474720" y="2103120"/>
            <a:ext cx="2240280" cy="685800"/>
          </a:xfrm>
          <a:prstGeom prst="rect">
            <a:avLst/>
          </a:prstGeom>
          <a:noFill/>
          <a:ln/>
        </p:spPr>
        <p:txBody>
          <a:bodyPr wrap="square" lIns="0" tIns="0" rIns="0" bIns="0" rtlCol="0" anchor="ctr"/>
          <a:lstStyle/>
          <a:p>
            <a:pPr algn="ctr" indent="0" marL="0">
              <a:buNone/>
            </a:pPr>
            <a:r>
              <a:rPr lang="en-US" sz="1100" dirty="0">
                <a:solidFill>
                  <a:srgbClr val="9AA7CC"/>
                </a:solidFill>
                <a:latin typeface="Arial" pitchFamily="34" charset="0"/>
                <a:ea typeface="Arial" pitchFamily="34" charset="-122"/>
                <a:cs typeface="Arial" pitchFamily="34" charset="-120"/>
              </a:rPr>
              <a:t>contrôles bout en bout : une vraie partie jouée par le smoke test</a:t>
            </a:r>
            <a:endParaRPr lang="en-US" sz="1100" dirty="0"/>
          </a:p>
        </p:txBody>
      </p:sp>
      <p:sp>
        <p:nvSpPr>
          <p:cNvPr id="15" name="Shape 11"/>
          <p:cNvSpPr/>
          <p:nvPr/>
        </p:nvSpPr>
        <p:spPr>
          <a:xfrm>
            <a:off x="6080760" y="1051560"/>
            <a:ext cx="2606040" cy="1828800"/>
          </a:xfrm>
          <a:prstGeom prst="roundRect">
            <a:avLst>
              <a:gd name="adj" fmla="val 350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6" name="Shape 12"/>
          <p:cNvSpPr/>
          <p:nvPr/>
        </p:nvSpPr>
        <p:spPr>
          <a:xfrm>
            <a:off x="6245352" y="1216152"/>
            <a:ext cx="402336" cy="402336"/>
          </a:xfrm>
          <a:prstGeom prst="ellipse">
            <a:avLst/>
          </a:prstGeom>
          <a:solidFill>
            <a:srgbClr val="3D7BFD"/>
          </a:solidFill>
          <a:ln/>
        </p:spPr>
      </p:sp>
      <p:pic>
        <p:nvPicPr>
          <p:cNvPr id="17" name="Image 2" descr="preencoded.png">    </p:cNvPr>
          <p:cNvPicPr>
            <a:picLocks noChangeAspect="1"/>
          </p:cNvPicPr>
          <p:nvPr/>
        </p:nvPicPr>
        <p:blipFill>
          <a:blip r:embed="rId3"/>
          <a:stretch>
            <a:fillRect/>
          </a:stretch>
        </p:blipFill>
        <p:spPr>
          <a:xfrm>
            <a:off x="6337889" y="1308689"/>
            <a:ext cx="217261" cy="217261"/>
          </a:xfrm>
          <a:prstGeom prst="rect">
            <a:avLst/>
          </a:prstGeom>
        </p:spPr>
      </p:pic>
      <p:sp>
        <p:nvSpPr>
          <p:cNvPr id="18" name="Text 13"/>
          <p:cNvSpPr/>
          <p:nvPr/>
        </p:nvSpPr>
        <p:spPr>
          <a:xfrm>
            <a:off x="6080760" y="1298448"/>
            <a:ext cx="2606040" cy="731520"/>
          </a:xfrm>
          <a:prstGeom prst="rect">
            <a:avLst/>
          </a:prstGeom>
          <a:noFill/>
          <a:ln/>
        </p:spPr>
        <p:txBody>
          <a:bodyPr wrap="square" lIns="0" tIns="0" rIns="0" bIns="0" rtlCol="0" anchor="ctr"/>
          <a:lstStyle/>
          <a:p>
            <a:pPr algn="ctr" indent="0" marL="0">
              <a:buNone/>
            </a:pPr>
            <a:r>
              <a:rPr lang="en-US" sz="4600" b="1" dirty="0">
                <a:solidFill>
                  <a:srgbClr val="FFD166"/>
                </a:solidFill>
                <a:latin typeface="Arial" pitchFamily="34" charset="0"/>
                <a:ea typeface="Arial" pitchFamily="34" charset="-122"/>
                <a:cs typeface="Arial" pitchFamily="34" charset="-120"/>
              </a:rPr>
              <a:t>6</a:t>
            </a:r>
            <a:endParaRPr lang="en-US" sz="4600" dirty="0"/>
          </a:p>
        </p:txBody>
      </p:sp>
      <p:sp>
        <p:nvSpPr>
          <p:cNvPr id="19" name="Text 14"/>
          <p:cNvSpPr/>
          <p:nvPr/>
        </p:nvSpPr>
        <p:spPr>
          <a:xfrm>
            <a:off x="6263640" y="2103120"/>
            <a:ext cx="2240280" cy="685800"/>
          </a:xfrm>
          <a:prstGeom prst="rect">
            <a:avLst/>
          </a:prstGeom>
          <a:noFill/>
          <a:ln/>
        </p:spPr>
        <p:txBody>
          <a:bodyPr wrap="square" lIns="0" tIns="0" rIns="0" bIns="0" rtlCol="0" anchor="ctr"/>
          <a:lstStyle/>
          <a:p>
            <a:pPr algn="ctr" indent="0" marL="0">
              <a:buNone/>
            </a:pPr>
            <a:r>
              <a:rPr lang="en-US" sz="1100" dirty="0">
                <a:solidFill>
                  <a:srgbClr val="9AA7CC"/>
                </a:solidFill>
                <a:latin typeface="Arial" pitchFamily="34" charset="0"/>
                <a:ea typeface="Arial" pitchFamily="34" charset="-122"/>
                <a:cs typeface="Arial" pitchFamily="34" charset="-120"/>
              </a:rPr>
              <a:t>tests client : contrat JSON + chargement des 8 écrans FXML</a:t>
            </a:r>
            <a:endParaRPr lang="en-US" sz="1100" dirty="0"/>
          </a:p>
        </p:txBody>
      </p:sp>
      <p:sp>
        <p:nvSpPr>
          <p:cNvPr id="20" name="Shape 15"/>
          <p:cNvSpPr/>
          <p:nvPr/>
        </p:nvSpPr>
        <p:spPr>
          <a:xfrm>
            <a:off x="502920" y="3108960"/>
            <a:ext cx="8138160" cy="731520"/>
          </a:xfrm>
          <a:prstGeom prst="roundRect">
            <a:avLst>
              <a:gd name="adj" fmla="val 8750"/>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pic>
        <p:nvPicPr>
          <p:cNvPr id="21" name="Image 3" descr="preencoded.png">    </p:cNvPr>
          <p:cNvPicPr>
            <a:picLocks noChangeAspect="1"/>
          </p:cNvPicPr>
          <p:nvPr/>
        </p:nvPicPr>
        <p:blipFill>
          <a:blip r:embed="rId4"/>
          <a:stretch>
            <a:fillRect/>
          </a:stretch>
        </p:blipFill>
        <p:spPr>
          <a:xfrm>
            <a:off x="713232" y="3328416"/>
            <a:ext cx="292608" cy="292608"/>
          </a:xfrm>
          <a:prstGeom prst="rect">
            <a:avLst/>
          </a:prstGeom>
        </p:spPr>
      </p:pic>
      <p:sp>
        <p:nvSpPr>
          <p:cNvPr id="22" name="Text 16"/>
          <p:cNvSpPr/>
          <p:nvPr/>
        </p:nvSpPr>
        <p:spPr>
          <a:xfrm>
            <a:off x="1143000" y="3108960"/>
            <a:ext cx="7406640" cy="731520"/>
          </a:xfrm>
          <a:prstGeom prst="rect">
            <a:avLst/>
          </a:prstGeom>
          <a:noFill/>
          <a:ln/>
        </p:spPr>
        <p:txBody>
          <a:bodyPr wrap="square" lIns="0" tIns="0" rIns="0" bIns="0" rtlCol="0" anchor="ctr"/>
          <a:lstStyle/>
          <a:p>
            <a:pPr indent="0" marL="0">
              <a:buNone/>
            </a:pPr>
            <a:r>
              <a:rPr lang="en-US" sz="1350" b="1" dirty="0">
                <a:solidFill>
                  <a:srgbClr val="EEF2FF"/>
                </a:solidFill>
                <a:latin typeface="Arial" pitchFamily="34" charset="0"/>
                <a:ea typeface="Arial" pitchFamily="34" charset="-122"/>
                <a:cs typeface="Arial" pitchFamily="34" charset="-120"/>
              </a:rPr>
              <a:t>Critères d'acceptation A-01 → A-10 : 10 / 10 validés</a:t>
            </a:r>
            <a:endParaRPr lang="en-US" sz="1350" dirty="0"/>
          </a:p>
          <a:p>
            <a:pPr indent="0" marL="0">
              <a:buNone/>
            </a:pPr>
            <a:r>
              <a:rPr lang="en-US" sz="1150" dirty="0">
                <a:solidFill>
                  <a:srgbClr val="9AA7CC"/>
                </a:solidFill>
                <a:latin typeface="Arial" pitchFamily="34" charset="0"/>
                <a:ea typeface="Arial" pitchFamily="34" charset="-122"/>
                <a:cs typeface="Arial" pitchFamily="34" charset="-120"/>
              </a:rPr>
              <a:t>traçabilité complète dans docs/plan-de-tests.md</a:t>
            </a:r>
            <a:endParaRPr lang="en-US" sz="1350" dirty="0"/>
          </a:p>
        </p:txBody>
      </p:sp>
      <p:sp>
        <p:nvSpPr>
          <p:cNvPr id="23" name="Text 17"/>
          <p:cNvSpPr/>
          <p:nvPr/>
        </p:nvSpPr>
        <p:spPr>
          <a:xfrm>
            <a:off x="502920" y="4114800"/>
            <a:ext cx="8138160" cy="320040"/>
          </a:xfrm>
          <a:prstGeom prst="rect">
            <a:avLst/>
          </a:prstGeom>
          <a:noFill/>
          <a:ln/>
        </p:spPr>
        <p:txBody>
          <a:bodyPr wrap="square" lIns="0" tIns="0" rIns="0" bIns="0" rtlCol="0" anchor="ctr"/>
          <a:lstStyle/>
          <a:p>
            <a:pPr algn="ctr" indent="0" marL="0">
              <a:buNone/>
            </a:pPr>
            <a:r>
              <a:rPr lang="en-US" sz="1250" dirty="0">
                <a:solidFill>
                  <a:srgbClr val="FFD166"/>
                </a:solidFill>
                <a:latin typeface="Courier New" pitchFamily="34" charset="0"/>
                <a:ea typeface="Courier New" pitchFamily="34" charset="-122"/>
                <a:cs typeface="Courier New" pitchFamily="34" charset="-120"/>
              </a:rPr>
              <a:t>php tests/ScoreTest.php     php tests/api_smoke.php     mvn test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13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5 · Validation &amp; déploiement</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Déploiement Docker</a:t>
            </a:r>
            <a:endParaRPr lang="en-US" sz="2700" dirty="0"/>
          </a:p>
        </p:txBody>
      </p:sp>
      <p:sp>
        <p:nvSpPr>
          <p:cNvPr id="5" name="Shape 3"/>
          <p:cNvSpPr/>
          <p:nvPr/>
        </p:nvSpPr>
        <p:spPr>
          <a:xfrm>
            <a:off x="502920" y="1024128"/>
            <a:ext cx="4114800" cy="1920240"/>
          </a:xfrm>
          <a:prstGeom prst="roundRect">
            <a:avLst>
              <a:gd name="adj" fmla="val 3333"/>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731520" y="1170432"/>
            <a:ext cx="3657600" cy="274320"/>
          </a:xfrm>
          <a:prstGeom prst="rect">
            <a:avLst/>
          </a:prstGeom>
          <a:noFill/>
          <a:ln/>
        </p:spPr>
        <p:txBody>
          <a:bodyPr wrap="square" lIns="0" tIns="0" rIns="0" bIns="0" rtlCol="0" anchor="ctr"/>
          <a:lstStyle/>
          <a:p>
            <a:pPr indent="0" marL="0">
              <a:buNone/>
            </a:pPr>
            <a:r>
              <a:rPr lang="en-US" sz="1250" b="1" dirty="0">
                <a:solidFill>
                  <a:srgbClr val="7FB2FF"/>
                </a:solidFill>
                <a:latin typeface="Arial" pitchFamily="34" charset="0"/>
                <a:ea typeface="Arial" pitchFamily="34" charset="-122"/>
                <a:cs typeface="Arial" pitchFamily="34" charset="-120"/>
              </a:rPr>
              <a:t>Sur n'importe quel poste :</a:t>
            </a:r>
            <a:endParaRPr lang="en-US" sz="1250" dirty="0"/>
          </a:p>
        </p:txBody>
      </p:sp>
      <p:sp>
        <p:nvSpPr>
          <p:cNvPr id="7" name="Text 5"/>
          <p:cNvSpPr/>
          <p:nvPr/>
        </p:nvSpPr>
        <p:spPr>
          <a:xfrm>
            <a:off x="731520" y="1517904"/>
            <a:ext cx="3749040" cy="1371600"/>
          </a:xfrm>
          <a:prstGeom prst="rect">
            <a:avLst/>
          </a:prstGeom>
          <a:noFill/>
          <a:ln/>
        </p:spPr>
        <p:txBody>
          <a:bodyPr wrap="square" lIns="0" tIns="0" rIns="0" bIns="0" rtlCol="0" anchor="ctr"/>
          <a:lstStyle/>
          <a:p>
            <a:pPr indent="0" marL="0">
              <a:buNone/>
            </a:pPr>
            <a:r>
              <a:rPr lang="en-US" sz="1250" dirty="0">
                <a:solidFill>
                  <a:srgbClr val="FFD166"/>
                </a:solidFill>
                <a:latin typeface="Courier New" pitchFamily="34" charset="0"/>
                <a:ea typeface="Courier New" pitchFamily="34" charset="-122"/>
                <a:cs typeface="Courier New" pitchFamily="34" charset="-120"/>
              </a:rPr>
              <a:t>docker compose up -d --build</a:t>
            </a:r>
            <a:endParaRPr lang="en-US" sz="1250" dirty="0"/>
          </a:p>
          <a:p>
            <a:pPr indent="0" marL="0">
              <a:buNone/>
            </a:pPr>
            <a:r>
              <a:rPr lang="en-US" sz="1250" dirty="0">
                <a:solidFill>
                  <a:srgbClr val="9AA7CC"/>
                </a:solidFill>
                <a:latin typeface="Courier New" pitchFamily="34" charset="0"/>
                <a:ea typeface="Courier New" pitchFamily="34" charset="-122"/>
                <a:cs typeface="Courier New" pitchFamily="34" charset="-120"/>
              </a:rPr>
              <a:t>   base + API + données prêtes</a:t>
            </a:r>
            <a:endParaRPr lang="en-US" sz="1250" dirty="0"/>
          </a:p>
          <a:p>
            <a:pPr indent="0" marL="0">
              <a:buNone/>
            </a:pPr>
            <a:r>
              <a:rPr lang="en-US" sz="1250" dirty="0">
                <a:solidFill>
                  <a:srgbClr val="000000"/>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FFD166"/>
                </a:solidFill>
                <a:latin typeface="Courier New" pitchFamily="34" charset="0"/>
                <a:ea typeface="Courier New" pitchFamily="34" charset="-122"/>
                <a:cs typeface="Courier New" pitchFamily="34" charset="-120"/>
              </a:rPr>
              <a:t>cd frontend &amp;&amp; mvn javafx:run</a:t>
            </a:r>
            <a:endParaRPr lang="en-US" sz="1250" dirty="0"/>
          </a:p>
          <a:p>
            <a:pPr indent="0" marL="0">
              <a:buNone/>
            </a:pPr>
            <a:r>
              <a:rPr lang="en-US" sz="1250" dirty="0">
                <a:solidFill>
                  <a:srgbClr val="9AA7CC"/>
                </a:solidFill>
                <a:latin typeface="Courier New" pitchFamily="34" charset="0"/>
                <a:ea typeface="Courier New" pitchFamily="34" charset="-122"/>
                <a:cs typeface="Courier New" pitchFamily="34" charset="-120"/>
              </a:rPr>
              <a:t>   le client se connecte sur :8085</a:t>
            </a:r>
            <a:endParaRPr lang="en-US" sz="1250" dirty="0"/>
          </a:p>
        </p:txBody>
      </p:sp>
      <p:sp>
        <p:nvSpPr>
          <p:cNvPr id="8" name="Shape 6"/>
          <p:cNvSpPr/>
          <p:nvPr/>
        </p:nvSpPr>
        <p:spPr>
          <a:xfrm>
            <a:off x="502920" y="3127248"/>
            <a:ext cx="4114800" cy="1463040"/>
          </a:xfrm>
          <a:prstGeom prst="roundRect">
            <a:avLst>
              <a:gd name="adj" fmla="val 4375"/>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9" name="Shape 7"/>
          <p:cNvSpPr/>
          <p:nvPr/>
        </p:nvSpPr>
        <p:spPr>
          <a:xfrm>
            <a:off x="685800" y="3291840"/>
            <a:ext cx="402336" cy="402336"/>
          </a:xfrm>
          <a:prstGeom prst="ellipse">
            <a:avLst/>
          </a:prstGeom>
          <a:solidFill>
            <a:srgbClr val="34D399"/>
          </a:solidFill>
          <a:ln/>
        </p:spPr>
      </p:sp>
      <p:pic>
        <p:nvPicPr>
          <p:cNvPr id="10" name="Image 0" descr="preencoded.png">    </p:cNvPr>
          <p:cNvPicPr>
            <a:picLocks noChangeAspect="1"/>
          </p:cNvPicPr>
          <p:nvPr/>
        </p:nvPicPr>
        <p:blipFill>
          <a:blip r:embed="rId1"/>
          <a:stretch>
            <a:fillRect/>
          </a:stretch>
        </p:blipFill>
        <p:spPr>
          <a:xfrm>
            <a:off x="778337" y="3384377"/>
            <a:ext cx="217261" cy="217261"/>
          </a:xfrm>
          <a:prstGeom prst="rect">
            <a:avLst/>
          </a:prstGeom>
        </p:spPr>
      </p:pic>
      <p:sp>
        <p:nvSpPr>
          <p:cNvPr id="11" name="Text 8"/>
          <p:cNvSpPr/>
          <p:nvPr/>
        </p:nvSpPr>
        <p:spPr>
          <a:xfrm>
            <a:off x="1207008" y="3328416"/>
            <a:ext cx="3200400" cy="274320"/>
          </a:xfrm>
          <a:prstGeom prst="rect">
            <a:avLst/>
          </a:prstGeom>
          <a:noFill/>
          <a:ln/>
        </p:spPr>
        <p:txBody>
          <a:bodyPr wrap="square" lIns="0" tIns="0" rIns="0" bIns="0" rtlCol="0" anchor="ctr"/>
          <a:lstStyle/>
          <a:p>
            <a:pPr indent="0" marL="0">
              <a:buNone/>
            </a:pPr>
            <a:r>
              <a:rPr lang="en-US" sz="1250" b="1" dirty="0">
                <a:solidFill>
                  <a:srgbClr val="7FB2FF"/>
                </a:solidFill>
                <a:latin typeface="Arial" pitchFamily="34" charset="0"/>
                <a:ea typeface="Arial" pitchFamily="34" charset="-122"/>
                <a:cs typeface="Arial" pitchFamily="34" charset="-120"/>
              </a:rPr>
              <a:t>Recette en une commande</a:t>
            </a:r>
            <a:endParaRPr lang="en-US" sz="1250" dirty="0"/>
          </a:p>
        </p:txBody>
      </p:sp>
      <p:sp>
        <p:nvSpPr>
          <p:cNvPr id="12" name="Text 9"/>
          <p:cNvSpPr/>
          <p:nvPr/>
        </p:nvSpPr>
        <p:spPr>
          <a:xfrm>
            <a:off x="731520" y="3712464"/>
            <a:ext cx="3749040" cy="274320"/>
          </a:xfrm>
          <a:prstGeom prst="rect">
            <a:avLst/>
          </a:prstGeom>
          <a:noFill/>
          <a:ln/>
        </p:spPr>
        <p:txBody>
          <a:bodyPr wrap="square" lIns="0" tIns="0" rIns="0" bIns="0" rtlCol="0" anchor="ctr"/>
          <a:lstStyle/>
          <a:p>
            <a:pPr indent="0" marL="0">
              <a:buNone/>
            </a:pPr>
            <a:r>
              <a:rPr lang="en-US" sz="1150" dirty="0">
                <a:solidFill>
                  <a:srgbClr val="FFD166"/>
                </a:solidFill>
                <a:latin typeface="Courier New" pitchFamily="34" charset="0"/>
                <a:ea typeface="Courier New" pitchFamily="34" charset="-122"/>
                <a:cs typeface="Courier New" pitchFamily="34" charset="-120"/>
              </a:rPr>
              <a:t>docker compose --profile test run smoke</a:t>
            </a:r>
            <a:endParaRPr lang="en-US" sz="1150" dirty="0"/>
          </a:p>
        </p:txBody>
      </p:sp>
      <p:sp>
        <p:nvSpPr>
          <p:cNvPr id="13" name="Text 10"/>
          <p:cNvSpPr/>
          <p:nvPr/>
        </p:nvSpPr>
        <p:spPr>
          <a:xfrm>
            <a:off x="731520" y="4023360"/>
            <a:ext cx="3657600" cy="457200"/>
          </a:xfrm>
          <a:prstGeom prst="rect">
            <a:avLst/>
          </a:prstGeom>
          <a:noFill/>
          <a:ln/>
        </p:spPr>
        <p:txBody>
          <a:bodyPr wrap="square" lIns="0" tIns="0" rIns="0" bIns="0" rtlCol="0" anchor="ctr"/>
          <a:lstStyle/>
          <a:p>
            <a:pPr indent="0" marL="0">
              <a:buNone/>
            </a:pPr>
            <a:r>
              <a:rPr lang="en-US" sz="1050" dirty="0">
                <a:solidFill>
                  <a:srgbClr val="9AA7CC"/>
                </a:solidFill>
                <a:latin typeface="Arial" pitchFamily="34" charset="0"/>
                <a:ea typeface="Arial" pitchFamily="34" charset="-122"/>
                <a:cs typeface="Arial" pitchFamily="34" charset="-120"/>
              </a:rPr>
              <a:t>joue une partie de vérification complète dans un conteneur</a:t>
            </a:r>
            <a:endParaRPr lang="en-US" sz="1050" dirty="0"/>
          </a:p>
        </p:txBody>
      </p:sp>
      <p:sp>
        <p:nvSpPr>
          <p:cNvPr id="14" name="Shape 11"/>
          <p:cNvSpPr/>
          <p:nvPr/>
        </p:nvSpPr>
        <p:spPr>
          <a:xfrm>
            <a:off x="4892040" y="1024128"/>
            <a:ext cx="3749040" cy="3566160"/>
          </a:xfrm>
          <a:prstGeom prst="roundRect">
            <a:avLst>
              <a:gd name="adj" fmla="val 1795"/>
            </a:avLst>
          </a:prstGeom>
          <a:solidFill>
            <a:srgbClr val="28325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5" name="Shape 12"/>
          <p:cNvSpPr/>
          <p:nvPr/>
        </p:nvSpPr>
        <p:spPr>
          <a:xfrm>
            <a:off x="5074920" y="1188720"/>
            <a:ext cx="420624" cy="420624"/>
          </a:xfrm>
          <a:prstGeom prst="ellipse">
            <a:avLst/>
          </a:prstGeom>
          <a:solidFill>
            <a:srgbClr val="3D7BFD"/>
          </a:solidFill>
          <a:ln/>
        </p:spPr>
      </p:sp>
      <p:pic>
        <p:nvPicPr>
          <p:cNvPr id="16" name="Image 1" descr="preencoded.png">    </p:cNvPr>
          <p:cNvPicPr>
            <a:picLocks noChangeAspect="1"/>
          </p:cNvPicPr>
          <p:nvPr/>
        </p:nvPicPr>
        <p:blipFill>
          <a:blip r:embed="rId2"/>
          <a:stretch>
            <a:fillRect/>
          </a:stretch>
        </p:blipFill>
        <p:spPr>
          <a:xfrm>
            <a:off x="5171664" y="1285464"/>
            <a:ext cx="227137" cy="227137"/>
          </a:xfrm>
          <a:prstGeom prst="rect">
            <a:avLst/>
          </a:prstGeom>
        </p:spPr>
      </p:pic>
      <p:sp>
        <p:nvSpPr>
          <p:cNvPr id="17" name="Text 13"/>
          <p:cNvSpPr/>
          <p:nvPr/>
        </p:nvSpPr>
        <p:spPr>
          <a:xfrm>
            <a:off x="5614416" y="1243584"/>
            <a:ext cx="2834640" cy="292608"/>
          </a:xfrm>
          <a:prstGeom prst="rect">
            <a:avLst/>
          </a:prstGeom>
          <a:noFill/>
          <a:ln/>
        </p:spPr>
        <p:txBody>
          <a:bodyPr wrap="square" lIns="0" tIns="0" rIns="0" bIns="0" rtlCol="0" anchor="ctr"/>
          <a:lstStyle/>
          <a:p>
            <a:pPr indent="0" marL="0">
              <a:buNone/>
            </a:pPr>
            <a:r>
              <a:rPr lang="en-US" sz="1500" b="1" dirty="0">
                <a:solidFill>
                  <a:srgbClr val="EEF2FF"/>
                </a:solidFill>
                <a:latin typeface="Arial" pitchFamily="34" charset="0"/>
                <a:ea typeface="Arial" pitchFamily="34" charset="-122"/>
                <a:cs typeface="Arial" pitchFamily="34" charset="-120"/>
              </a:rPr>
              <a:t>docker-compose.yml</a:t>
            </a:r>
            <a:endParaRPr lang="en-US" sz="1500" dirty="0"/>
          </a:p>
        </p:txBody>
      </p:sp>
      <p:sp>
        <p:nvSpPr>
          <p:cNvPr id="18" name="Shape 14"/>
          <p:cNvSpPr/>
          <p:nvPr/>
        </p:nvSpPr>
        <p:spPr>
          <a:xfrm>
            <a:off x="5138928" y="1755648"/>
            <a:ext cx="3255264" cy="768096"/>
          </a:xfrm>
          <a:prstGeom prst="roundRect">
            <a:avLst>
              <a:gd name="adj" fmla="val 8333"/>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9" name="Text 15"/>
          <p:cNvSpPr/>
          <p:nvPr/>
        </p:nvSpPr>
        <p:spPr>
          <a:xfrm>
            <a:off x="5303520" y="1837944"/>
            <a:ext cx="2971800" cy="256032"/>
          </a:xfrm>
          <a:prstGeom prst="rect">
            <a:avLst/>
          </a:prstGeom>
          <a:noFill/>
          <a:ln/>
        </p:spPr>
        <p:txBody>
          <a:bodyPr wrap="square" lIns="0" tIns="0" rIns="0" bIns="0" rtlCol="0" anchor="ctr"/>
          <a:lstStyle/>
          <a:p>
            <a:pPr indent="0" marL="0">
              <a:buNone/>
            </a:pPr>
            <a:r>
              <a:rPr lang="en-US" sz="1200" b="1" dirty="0">
                <a:solidFill>
                  <a:srgbClr val="7FB2FF"/>
                </a:solidFill>
                <a:latin typeface="Courier New" pitchFamily="34" charset="0"/>
                <a:ea typeface="Courier New" pitchFamily="34" charset="-122"/>
                <a:cs typeface="Courier New" pitchFamily="34" charset="-120"/>
              </a:rPr>
              <a:t>db — MySQL 8.4</a:t>
            </a:r>
            <a:endParaRPr lang="en-US" sz="1200" dirty="0"/>
          </a:p>
        </p:txBody>
      </p:sp>
      <p:sp>
        <p:nvSpPr>
          <p:cNvPr id="20" name="Text 16"/>
          <p:cNvSpPr/>
          <p:nvPr/>
        </p:nvSpPr>
        <p:spPr>
          <a:xfrm>
            <a:off x="5303520" y="2121408"/>
            <a:ext cx="2971800" cy="365760"/>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schéma + 60 questions chargés automatiquement, healthcheck</a:t>
            </a:r>
            <a:endParaRPr lang="en-US" sz="950" dirty="0"/>
          </a:p>
        </p:txBody>
      </p:sp>
      <p:sp>
        <p:nvSpPr>
          <p:cNvPr id="21" name="Shape 17"/>
          <p:cNvSpPr/>
          <p:nvPr/>
        </p:nvSpPr>
        <p:spPr>
          <a:xfrm>
            <a:off x="5138928" y="2670048"/>
            <a:ext cx="3255264" cy="768096"/>
          </a:xfrm>
          <a:prstGeom prst="roundRect">
            <a:avLst>
              <a:gd name="adj" fmla="val 8333"/>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22" name="Text 18"/>
          <p:cNvSpPr/>
          <p:nvPr/>
        </p:nvSpPr>
        <p:spPr>
          <a:xfrm>
            <a:off x="5303520" y="2752344"/>
            <a:ext cx="2971800" cy="256032"/>
          </a:xfrm>
          <a:prstGeom prst="rect">
            <a:avLst/>
          </a:prstGeom>
          <a:noFill/>
          <a:ln/>
        </p:spPr>
        <p:txBody>
          <a:bodyPr wrap="square" lIns="0" tIns="0" rIns="0" bIns="0" rtlCol="0" anchor="ctr"/>
          <a:lstStyle/>
          <a:p>
            <a:pPr indent="0" marL="0">
              <a:buNone/>
            </a:pPr>
            <a:r>
              <a:rPr lang="en-US" sz="1200" b="1" dirty="0">
                <a:solidFill>
                  <a:srgbClr val="7FB2FF"/>
                </a:solidFill>
                <a:latin typeface="Courier New" pitchFamily="34" charset="0"/>
                <a:ea typeface="Courier New" pitchFamily="34" charset="-122"/>
                <a:cs typeface="Courier New" pitchFamily="34" charset="-120"/>
              </a:rPr>
              <a:t>api — PHP 8.3 (:8085)</a:t>
            </a:r>
            <a:endParaRPr lang="en-US" sz="1200" dirty="0"/>
          </a:p>
        </p:txBody>
      </p:sp>
      <p:sp>
        <p:nvSpPr>
          <p:cNvPr id="23" name="Text 19"/>
          <p:cNvSpPr/>
          <p:nvPr/>
        </p:nvSpPr>
        <p:spPr>
          <a:xfrm>
            <a:off x="5303520" y="3035808"/>
            <a:ext cx="2971800" cy="365760"/>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attend la base, crée les comptes démo, sert /api/v1</a:t>
            </a:r>
            <a:endParaRPr lang="en-US" sz="950" dirty="0"/>
          </a:p>
        </p:txBody>
      </p:sp>
      <p:sp>
        <p:nvSpPr>
          <p:cNvPr id="24" name="Shape 20"/>
          <p:cNvSpPr/>
          <p:nvPr/>
        </p:nvSpPr>
        <p:spPr>
          <a:xfrm>
            <a:off x="5138928" y="3584448"/>
            <a:ext cx="3255264" cy="768096"/>
          </a:xfrm>
          <a:prstGeom prst="roundRect">
            <a:avLst>
              <a:gd name="adj" fmla="val 8333"/>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25" name="Text 21"/>
          <p:cNvSpPr/>
          <p:nvPr/>
        </p:nvSpPr>
        <p:spPr>
          <a:xfrm>
            <a:off x="5303520" y="3666744"/>
            <a:ext cx="2971800" cy="256032"/>
          </a:xfrm>
          <a:prstGeom prst="rect">
            <a:avLst/>
          </a:prstGeom>
          <a:noFill/>
          <a:ln/>
        </p:spPr>
        <p:txBody>
          <a:bodyPr wrap="square" lIns="0" tIns="0" rIns="0" bIns="0" rtlCol="0" anchor="ctr"/>
          <a:lstStyle/>
          <a:p>
            <a:pPr indent="0" marL="0">
              <a:buNone/>
            </a:pPr>
            <a:r>
              <a:rPr lang="en-US" sz="1200" b="1" dirty="0">
                <a:solidFill>
                  <a:srgbClr val="7FB2FF"/>
                </a:solidFill>
                <a:latin typeface="Courier New" pitchFamily="34" charset="0"/>
                <a:ea typeface="Courier New" pitchFamily="34" charset="-122"/>
                <a:cs typeface="Courier New" pitchFamily="34" charset="-120"/>
              </a:rPr>
              <a:t>smoke — profil test</a:t>
            </a:r>
            <a:endParaRPr lang="en-US" sz="1200" dirty="0"/>
          </a:p>
        </p:txBody>
      </p:sp>
      <p:sp>
        <p:nvSpPr>
          <p:cNvPr id="26" name="Text 22"/>
          <p:cNvSpPr/>
          <p:nvPr/>
        </p:nvSpPr>
        <p:spPr>
          <a:xfrm>
            <a:off x="5303520" y="3950208"/>
            <a:ext cx="2971800" cy="365760"/>
          </a:xfrm>
          <a:prstGeom prst="rect">
            <a:avLst/>
          </a:prstGeom>
          <a:noFill/>
          <a:ln/>
        </p:spPr>
        <p:txBody>
          <a:bodyPr wrap="square" lIns="0" tIns="0" rIns="0" bIns="0" rtlCol="0" anchor="ctr"/>
          <a:lstStyle/>
          <a:p>
            <a:pPr indent="0" marL="0">
              <a:buNone/>
            </a:pPr>
            <a:r>
              <a:rPr lang="en-US" sz="950" dirty="0">
                <a:solidFill>
                  <a:srgbClr val="9AA7CC"/>
                </a:solidFill>
                <a:latin typeface="Arial" pitchFamily="34" charset="0"/>
                <a:ea typeface="Arial" pitchFamily="34" charset="-122"/>
                <a:cs typeface="Arial" pitchFamily="34" charset="-120"/>
              </a:rPr>
              <a:t>recette automatisée bout en bout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14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6 · Démonstration</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Démonstration — 5 minutes</a:t>
            </a:r>
            <a:endParaRPr lang="en-US" sz="2700" dirty="0"/>
          </a:p>
        </p:txBody>
      </p:sp>
      <p:sp>
        <p:nvSpPr>
          <p:cNvPr id="5" name="Shape 3"/>
          <p:cNvSpPr/>
          <p:nvPr/>
        </p:nvSpPr>
        <p:spPr>
          <a:xfrm>
            <a:off x="502920" y="1051560"/>
            <a:ext cx="777240" cy="457200"/>
          </a:xfrm>
          <a:prstGeom prst="roundRect">
            <a:avLst>
              <a:gd name="adj" fmla="val 12000"/>
            </a:avLst>
          </a:prstGeom>
          <a:solidFill>
            <a:srgbClr val="FFD166"/>
          </a:solidFill>
          <a:ln/>
        </p:spPr>
      </p:sp>
      <p:sp>
        <p:nvSpPr>
          <p:cNvPr id="6" name="Text 4"/>
          <p:cNvSpPr/>
          <p:nvPr/>
        </p:nvSpPr>
        <p:spPr>
          <a:xfrm>
            <a:off x="502920" y="1051560"/>
            <a:ext cx="777240" cy="457200"/>
          </a:xfrm>
          <a:prstGeom prst="rect">
            <a:avLst/>
          </a:prstGeom>
          <a:noFill/>
          <a:ln/>
        </p:spPr>
        <p:txBody>
          <a:bodyPr wrap="square" lIns="0" tIns="0" rIns="0" bIns="0" rtlCol="0" anchor="ctr"/>
          <a:lstStyle/>
          <a:p>
            <a:pPr algn="ctr" indent="0" marL="0">
              <a:buNone/>
            </a:pPr>
            <a:r>
              <a:rPr lang="en-US" sz="1300" b="1" dirty="0">
                <a:solidFill>
                  <a:srgbClr val="141A2E"/>
                </a:solidFill>
                <a:latin typeface="Arial" pitchFamily="34" charset="0"/>
                <a:ea typeface="Arial" pitchFamily="34" charset="-122"/>
                <a:cs typeface="Arial" pitchFamily="34" charset="-120"/>
              </a:rPr>
              <a:t>0:00</a:t>
            </a:r>
            <a:endParaRPr lang="en-US" sz="1300" dirty="0"/>
          </a:p>
        </p:txBody>
      </p:sp>
      <p:sp>
        <p:nvSpPr>
          <p:cNvPr id="7" name="Text 5"/>
          <p:cNvSpPr/>
          <p:nvPr/>
        </p:nvSpPr>
        <p:spPr>
          <a:xfrm>
            <a:off x="1481328" y="1051560"/>
            <a:ext cx="7132320" cy="457200"/>
          </a:xfrm>
          <a:prstGeom prst="rect">
            <a:avLst/>
          </a:prstGeom>
          <a:noFill/>
          <a:ln/>
        </p:spPr>
        <p:txBody>
          <a:bodyPr wrap="square" lIns="0" tIns="0" rIns="0" bIns="0" rtlCol="0" anchor="ctr"/>
          <a:lstStyle/>
          <a:p>
            <a:pPr indent="0" marL="0">
              <a:buNone/>
            </a:pPr>
            <a:r>
              <a:rPr lang="en-US" sz="1350" dirty="0">
                <a:solidFill>
                  <a:srgbClr val="EEF2FF"/>
                </a:solidFill>
                <a:latin typeface="Arial" pitchFamily="34" charset="0"/>
                <a:ea typeface="Arial" pitchFamily="34" charset="-122"/>
                <a:cs typeface="Arial" pitchFamily="34" charset="-120"/>
              </a:rPr>
              <a:t>Deux clients côte à côte — connexion alice et bob (comptes de démonstration)</a:t>
            </a:r>
            <a:endParaRPr lang="en-US" sz="1350" dirty="0"/>
          </a:p>
        </p:txBody>
      </p:sp>
      <p:sp>
        <p:nvSpPr>
          <p:cNvPr id="8" name="Shape 6"/>
          <p:cNvSpPr/>
          <p:nvPr/>
        </p:nvSpPr>
        <p:spPr>
          <a:xfrm>
            <a:off x="502920" y="1655064"/>
            <a:ext cx="777240" cy="457200"/>
          </a:xfrm>
          <a:prstGeom prst="roundRect">
            <a:avLst>
              <a:gd name="adj" fmla="val 12000"/>
            </a:avLst>
          </a:prstGeom>
          <a:solidFill>
            <a:srgbClr val="FFD166"/>
          </a:solidFill>
          <a:ln/>
        </p:spPr>
      </p:sp>
      <p:sp>
        <p:nvSpPr>
          <p:cNvPr id="9" name="Text 7"/>
          <p:cNvSpPr/>
          <p:nvPr/>
        </p:nvSpPr>
        <p:spPr>
          <a:xfrm>
            <a:off x="502920" y="1655064"/>
            <a:ext cx="777240" cy="457200"/>
          </a:xfrm>
          <a:prstGeom prst="rect">
            <a:avLst/>
          </a:prstGeom>
          <a:noFill/>
          <a:ln/>
        </p:spPr>
        <p:txBody>
          <a:bodyPr wrap="square" lIns="0" tIns="0" rIns="0" bIns="0" rtlCol="0" anchor="ctr"/>
          <a:lstStyle/>
          <a:p>
            <a:pPr algn="ctr" indent="0" marL="0">
              <a:buNone/>
            </a:pPr>
            <a:r>
              <a:rPr lang="en-US" sz="1300" b="1" dirty="0">
                <a:solidFill>
                  <a:srgbClr val="141A2E"/>
                </a:solidFill>
                <a:latin typeface="Arial" pitchFamily="34" charset="0"/>
                <a:ea typeface="Arial" pitchFamily="34" charset="-122"/>
                <a:cs typeface="Arial" pitchFamily="34" charset="-120"/>
              </a:rPr>
              <a:t>0:30</a:t>
            </a:r>
            <a:endParaRPr lang="en-US" sz="1300" dirty="0"/>
          </a:p>
        </p:txBody>
      </p:sp>
      <p:sp>
        <p:nvSpPr>
          <p:cNvPr id="10" name="Text 8"/>
          <p:cNvSpPr/>
          <p:nvPr/>
        </p:nvSpPr>
        <p:spPr>
          <a:xfrm>
            <a:off x="1481328" y="1655064"/>
            <a:ext cx="7132320" cy="457200"/>
          </a:xfrm>
          <a:prstGeom prst="rect">
            <a:avLst/>
          </a:prstGeom>
          <a:noFill/>
          <a:ln/>
        </p:spPr>
        <p:txBody>
          <a:bodyPr wrap="square" lIns="0" tIns="0" rIns="0" bIns="0" rtlCol="0" anchor="ctr"/>
          <a:lstStyle/>
          <a:p>
            <a:pPr indent="0" marL="0">
              <a:buNone/>
            </a:pPr>
            <a:r>
              <a:rPr lang="en-US" sz="1350" dirty="0">
                <a:solidFill>
                  <a:srgbClr val="EEF2FF"/>
                </a:solidFill>
                <a:latin typeface="Arial" pitchFamily="34" charset="0"/>
                <a:ea typeface="Arial" pitchFamily="34" charset="-122"/>
                <a:cs typeface="Arial" pitchFamily="34" charset="-120"/>
              </a:rPr>
              <a:t>alice crée une salle : catégorie, difficulté, 3 manches — bob la voit apparaître et la rejoint</a:t>
            </a:r>
            <a:endParaRPr lang="en-US" sz="1350" dirty="0"/>
          </a:p>
        </p:txBody>
      </p:sp>
      <p:sp>
        <p:nvSpPr>
          <p:cNvPr id="11" name="Shape 9"/>
          <p:cNvSpPr/>
          <p:nvPr/>
        </p:nvSpPr>
        <p:spPr>
          <a:xfrm>
            <a:off x="502920" y="2258568"/>
            <a:ext cx="777240" cy="457200"/>
          </a:xfrm>
          <a:prstGeom prst="roundRect">
            <a:avLst>
              <a:gd name="adj" fmla="val 12000"/>
            </a:avLst>
          </a:prstGeom>
          <a:solidFill>
            <a:srgbClr val="FFD166"/>
          </a:solidFill>
          <a:ln/>
        </p:spPr>
      </p:sp>
      <p:sp>
        <p:nvSpPr>
          <p:cNvPr id="12" name="Text 10"/>
          <p:cNvSpPr/>
          <p:nvPr/>
        </p:nvSpPr>
        <p:spPr>
          <a:xfrm>
            <a:off x="502920" y="2258568"/>
            <a:ext cx="777240" cy="457200"/>
          </a:xfrm>
          <a:prstGeom prst="rect">
            <a:avLst/>
          </a:prstGeom>
          <a:noFill/>
          <a:ln/>
        </p:spPr>
        <p:txBody>
          <a:bodyPr wrap="square" lIns="0" tIns="0" rIns="0" bIns="0" rtlCol="0" anchor="ctr"/>
          <a:lstStyle/>
          <a:p>
            <a:pPr algn="ctr" indent="0" marL="0">
              <a:buNone/>
            </a:pPr>
            <a:r>
              <a:rPr lang="en-US" sz="1300" b="1" dirty="0">
                <a:solidFill>
                  <a:srgbClr val="141A2E"/>
                </a:solidFill>
                <a:latin typeface="Arial" pitchFamily="34" charset="0"/>
                <a:ea typeface="Arial" pitchFamily="34" charset="-122"/>
                <a:cs typeface="Arial" pitchFamily="34" charset="-120"/>
              </a:rPr>
              <a:t>1:00</a:t>
            </a:r>
            <a:endParaRPr lang="en-US" sz="1300" dirty="0"/>
          </a:p>
        </p:txBody>
      </p:sp>
      <p:sp>
        <p:nvSpPr>
          <p:cNvPr id="13" name="Text 11"/>
          <p:cNvSpPr/>
          <p:nvPr/>
        </p:nvSpPr>
        <p:spPr>
          <a:xfrm>
            <a:off x="1481328" y="2258568"/>
            <a:ext cx="7132320" cy="457200"/>
          </a:xfrm>
          <a:prstGeom prst="rect">
            <a:avLst/>
          </a:prstGeom>
          <a:noFill/>
          <a:ln/>
        </p:spPr>
        <p:txBody>
          <a:bodyPr wrap="square" lIns="0" tIns="0" rIns="0" bIns="0" rtlCol="0" anchor="ctr"/>
          <a:lstStyle/>
          <a:p>
            <a:pPr indent="0" marL="0">
              <a:buNone/>
            </a:pPr>
            <a:r>
              <a:rPr lang="en-US" sz="1350" dirty="0">
                <a:solidFill>
                  <a:srgbClr val="EEF2FF"/>
                </a:solidFill>
                <a:latin typeface="Arial" pitchFamily="34" charset="0"/>
                <a:ea typeface="Arial" pitchFamily="34" charset="-122"/>
                <a:cs typeface="Arial" pitchFamily="34" charset="-120"/>
              </a:rPr>
              <a:t>bob se déclare prêt, alice lance — même question et même compte à rebours sur les 2 écrans</a:t>
            </a:r>
            <a:endParaRPr lang="en-US" sz="1350" dirty="0"/>
          </a:p>
        </p:txBody>
      </p:sp>
      <p:sp>
        <p:nvSpPr>
          <p:cNvPr id="14" name="Shape 12"/>
          <p:cNvSpPr/>
          <p:nvPr/>
        </p:nvSpPr>
        <p:spPr>
          <a:xfrm>
            <a:off x="502920" y="2862072"/>
            <a:ext cx="777240" cy="457200"/>
          </a:xfrm>
          <a:prstGeom prst="roundRect">
            <a:avLst>
              <a:gd name="adj" fmla="val 12000"/>
            </a:avLst>
          </a:prstGeom>
          <a:solidFill>
            <a:srgbClr val="FFD166"/>
          </a:solidFill>
          <a:ln/>
        </p:spPr>
      </p:sp>
      <p:sp>
        <p:nvSpPr>
          <p:cNvPr id="15" name="Text 13"/>
          <p:cNvSpPr/>
          <p:nvPr/>
        </p:nvSpPr>
        <p:spPr>
          <a:xfrm>
            <a:off x="502920" y="2862072"/>
            <a:ext cx="777240" cy="457200"/>
          </a:xfrm>
          <a:prstGeom prst="rect">
            <a:avLst/>
          </a:prstGeom>
          <a:noFill/>
          <a:ln/>
        </p:spPr>
        <p:txBody>
          <a:bodyPr wrap="square" lIns="0" tIns="0" rIns="0" bIns="0" rtlCol="0" anchor="ctr"/>
          <a:lstStyle/>
          <a:p>
            <a:pPr algn="ctr" indent="0" marL="0">
              <a:buNone/>
            </a:pPr>
            <a:r>
              <a:rPr lang="en-US" sz="1300" b="1" dirty="0">
                <a:solidFill>
                  <a:srgbClr val="141A2E"/>
                </a:solidFill>
                <a:latin typeface="Arial" pitchFamily="34" charset="0"/>
                <a:ea typeface="Arial" pitchFamily="34" charset="-122"/>
                <a:cs typeface="Arial" pitchFamily="34" charset="-120"/>
              </a:rPr>
              <a:t>1:30</a:t>
            </a:r>
            <a:endParaRPr lang="en-US" sz="1300" dirty="0"/>
          </a:p>
        </p:txBody>
      </p:sp>
      <p:sp>
        <p:nvSpPr>
          <p:cNvPr id="16" name="Text 14"/>
          <p:cNvSpPr/>
          <p:nvPr/>
        </p:nvSpPr>
        <p:spPr>
          <a:xfrm>
            <a:off x="1481328" y="2862072"/>
            <a:ext cx="7132320" cy="457200"/>
          </a:xfrm>
          <a:prstGeom prst="rect">
            <a:avLst/>
          </a:prstGeom>
          <a:noFill/>
          <a:ln/>
        </p:spPr>
        <p:txBody>
          <a:bodyPr wrap="square" lIns="0" tIns="0" rIns="0" bIns="0" rtlCol="0" anchor="ctr"/>
          <a:lstStyle/>
          <a:p>
            <a:pPr indent="0" marL="0">
              <a:buNone/>
            </a:pPr>
            <a:r>
              <a:rPr lang="en-US" sz="1350" dirty="0">
                <a:solidFill>
                  <a:srgbClr val="EEF2FF"/>
                </a:solidFill>
                <a:latin typeface="Arial" pitchFamily="34" charset="0"/>
                <a:ea typeface="Arial" pitchFamily="34" charset="-122"/>
                <a:cs typeface="Arial" pitchFamily="34" charset="-120"/>
              </a:rPr>
              <a:t>Trois manches en direct : verrouillage après réponse, résultats, points de rapidité</a:t>
            </a:r>
            <a:endParaRPr lang="en-US" sz="1350" dirty="0"/>
          </a:p>
        </p:txBody>
      </p:sp>
      <p:sp>
        <p:nvSpPr>
          <p:cNvPr id="17" name="Shape 15"/>
          <p:cNvSpPr/>
          <p:nvPr/>
        </p:nvSpPr>
        <p:spPr>
          <a:xfrm>
            <a:off x="502920" y="3465576"/>
            <a:ext cx="777240" cy="457200"/>
          </a:xfrm>
          <a:prstGeom prst="roundRect">
            <a:avLst>
              <a:gd name="adj" fmla="val 12000"/>
            </a:avLst>
          </a:prstGeom>
          <a:solidFill>
            <a:srgbClr val="FFD166"/>
          </a:solidFill>
          <a:ln/>
        </p:spPr>
      </p:sp>
      <p:sp>
        <p:nvSpPr>
          <p:cNvPr id="18" name="Text 16"/>
          <p:cNvSpPr/>
          <p:nvPr/>
        </p:nvSpPr>
        <p:spPr>
          <a:xfrm>
            <a:off x="502920" y="3465576"/>
            <a:ext cx="777240" cy="457200"/>
          </a:xfrm>
          <a:prstGeom prst="rect">
            <a:avLst/>
          </a:prstGeom>
          <a:noFill/>
          <a:ln/>
        </p:spPr>
        <p:txBody>
          <a:bodyPr wrap="square" lIns="0" tIns="0" rIns="0" bIns="0" rtlCol="0" anchor="ctr"/>
          <a:lstStyle/>
          <a:p>
            <a:pPr algn="ctr" indent="0" marL="0">
              <a:buNone/>
            </a:pPr>
            <a:r>
              <a:rPr lang="en-US" sz="1300" b="1" dirty="0">
                <a:solidFill>
                  <a:srgbClr val="141A2E"/>
                </a:solidFill>
                <a:latin typeface="Arial" pitchFamily="34" charset="0"/>
                <a:ea typeface="Arial" pitchFamily="34" charset="-122"/>
                <a:cs typeface="Arial" pitchFamily="34" charset="-120"/>
              </a:rPr>
              <a:t>3:30</a:t>
            </a:r>
            <a:endParaRPr lang="en-US" sz="1300" dirty="0"/>
          </a:p>
        </p:txBody>
      </p:sp>
      <p:sp>
        <p:nvSpPr>
          <p:cNvPr id="19" name="Text 17"/>
          <p:cNvSpPr/>
          <p:nvPr/>
        </p:nvSpPr>
        <p:spPr>
          <a:xfrm>
            <a:off x="1481328" y="3465576"/>
            <a:ext cx="7132320" cy="457200"/>
          </a:xfrm>
          <a:prstGeom prst="rect">
            <a:avLst/>
          </a:prstGeom>
          <a:noFill/>
          <a:ln/>
        </p:spPr>
        <p:txBody>
          <a:bodyPr wrap="square" lIns="0" tIns="0" rIns="0" bIns="0" rtlCol="0" anchor="ctr"/>
          <a:lstStyle/>
          <a:p>
            <a:pPr indent="0" marL="0">
              <a:buNone/>
            </a:pPr>
            <a:r>
              <a:rPr lang="en-US" sz="1350" dirty="0">
                <a:solidFill>
                  <a:srgbClr val="EEF2FF"/>
                </a:solidFill>
                <a:latin typeface="Arial" pitchFamily="34" charset="0"/>
                <a:ea typeface="Arial" pitchFamily="34" charset="-122"/>
                <a:cs typeface="Arial" pitchFamily="34" charset="-120"/>
              </a:rPr>
              <a:t>Podium animé, vainqueur, puis historique et classement global mis à jour</a:t>
            </a:r>
            <a:endParaRPr lang="en-US" sz="1350" dirty="0"/>
          </a:p>
        </p:txBody>
      </p:sp>
      <p:sp>
        <p:nvSpPr>
          <p:cNvPr id="20" name="Shape 18"/>
          <p:cNvSpPr/>
          <p:nvPr/>
        </p:nvSpPr>
        <p:spPr>
          <a:xfrm>
            <a:off x="502920" y="4069080"/>
            <a:ext cx="777240" cy="457200"/>
          </a:xfrm>
          <a:prstGeom prst="roundRect">
            <a:avLst>
              <a:gd name="adj" fmla="val 12000"/>
            </a:avLst>
          </a:prstGeom>
          <a:solidFill>
            <a:srgbClr val="FFD166"/>
          </a:solidFill>
          <a:ln/>
        </p:spPr>
      </p:sp>
      <p:sp>
        <p:nvSpPr>
          <p:cNvPr id="21" name="Text 19"/>
          <p:cNvSpPr/>
          <p:nvPr/>
        </p:nvSpPr>
        <p:spPr>
          <a:xfrm>
            <a:off x="502920" y="4069080"/>
            <a:ext cx="777240" cy="457200"/>
          </a:xfrm>
          <a:prstGeom prst="rect">
            <a:avLst/>
          </a:prstGeom>
          <a:noFill/>
          <a:ln/>
        </p:spPr>
        <p:txBody>
          <a:bodyPr wrap="square" lIns="0" tIns="0" rIns="0" bIns="0" rtlCol="0" anchor="ctr"/>
          <a:lstStyle/>
          <a:p>
            <a:pPr algn="ctr" indent="0" marL="0">
              <a:buNone/>
            </a:pPr>
            <a:r>
              <a:rPr lang="en-US" sz="1300" b="1" dirty="0">
                <a:solidFill>
                  <a:srgbClr val="141A2E"/>
                </a:solidFill>
                <a:latin typeface="Arial" pitchFamily="34" charset="0"/>
                <a:ea typeface="Arial" pitchFamily="34" charset="-122"/>
                <a:cs typeface="Arial" pitchFamily="34" charset="-120"/>
              </a:rPr>
              <a:t>4:15</a:t>
            </a:r>
            <a:endParaRPr lang="en-US" sz="1300" dirty="0"/>
          </a:p>
        </p:txBody>
      </p:sp>
      <p:sp>
        <p:nvSpPr>
          <p:cNvPr id="22" name="Text 20"/>
          <p:cNvSpPr/>
          <p:nvPr/>
        </p:nvSpPr>
        <p:spPr>
          <a:xfrm>
            <a:off x="1481328" y="4069080"/>
            <a:ext cx="7132320" cy="457200"/>
          </a:xfrm>
          <a:prstGeom prst="rect">
            <a:avLst/>
          </a:prstGeom>
          <a:noFill/>
          <a:ln/>
        </p:spPr>
        <p:txBody>
          <a:bodyPr wrap="square" lIns="0" tIns="0" rIns="0" bIns="0" rtlCol="0" anchor="ctr"/>
          <a:lstStyle/>
          <a:p>
            <a:pPr indent="0" marL="0">
              <a:buNone/>
            </a:pPr>
            <a:r>
              <a:rPr lang="en-US" sz="1350" dirty="0">
                <a:solidFill>
                  <a:srgbClr val="EEF2FF"/>
                </a:solidFill>
                <a:latin typeface="Arial" pitchFamily="34" charset="0"/>
                <a:ea typeface="Arial" pitchFamily="34" charset="-122"/>
                <a:cs typeface="Arial" pitchFamily="34" charset="-120"/>
              </a:rPr>
              <a:t>Test de robustesse : coupure de l'API en plein lobby — message clair, pas de crash, reprise</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15 / 16</a:t>
            </a:r>
            <a:endParaRPr lang="en-US" sz="1000" dirty="0"/>
          </a:p>
        </p:txBody>
      </p:sp>
      <p:sp>
        <p:nvSpPr>
          <p:cNvPr id="3" name="Text 1"/>
          <p:cNvSpPr/>
          <p:nvPr/>
        </p:nvSpPr>
        <p:spPr>
          <a:xfrm>
            <a:off x="5669280" y="347472"/>
            <a:ext cx="2971800" cy="320040"/>
          </a:xfrm>
          <a:prstGeom prst="rect">
            <a:avLst/>
          </a:prstGeom>
          <a:noFill/>
          <a:ln/>
        </p:spPr>
        <p:txBody>
          <a:bodyPr wrap="square" lIns="0" tIns="0" rIns="0" bIns="0" rtlCol="0" anchor="ctr"/>
          <a:lstStyle/>
          <a:p>
            <a:pPr algn="r" indent="0" marL="0">
              <a:buNone/>
            </a:pPr>
            <a:r>
              <a:rPr lang="en-US" sz="1250" b="1" dirty="0">
                <a:solidFill>
                  <a:srgbClr val="7FB2FF"/>
                </a:solidFill>
                <a:latin typeface="Arial" pitchFamily="34" charset="0"/>
                <a:ea typeface="Arial" pitchFamily="34" charset="-122"/>
                <a:cs typeface="Arial" pitchFamily="34" charset="-120"/>
              </a:rPr>
              <a:t>6 · Conclusion</a:t>
            </a:r>
            <a:endParaRPr lang="en-US" sz="1250" dirty="0"/>
          </a:p>
        </p:txBody>
      </p:sp>
      <p:sp>
        <p:nvSpPr>
          <p:cNvPr id="4" name="Text 2"/>
          <p:cNvSpPr/>
          <p:nvPr/>
        </p:nvSpPr>
        <p:spPr>
          <a:xfrm>
            <a:off x="502920" y="274320"/>
            <a:ext cx="5120640" cy="502920"/>
          </a:xfrm>
          <a:prstGeom prst="rect">
            <a:avLst/>
          </a:prstGeom>
          <a:noFill/>
          <a:ln/>
        </p:spPr>
        <p:txBody>
          <a:bodyPr wrap="square" lIns="0" tIns="0" rIns="0" bIns="0" rtlCol="0" anchor="ctr"/>
          <a:lstStyle/>
          <a:p>
            <a:pPr indent="0" marL="0">
              <a:buNone/>
            </a:pPr>
            <a:r>
              <a:rPr lang="en-US" sz="2700" b="1" dirty="0">
                <a:solidFill>
                  <a:srgbClr val="EEF2FF"/>
                </a:solidFill>
                <a:latin typeface="Arial" pitchFamily="34" charset="0"/>
                <a:ea typeface="Arial" pitchFamily="34" charset="-122"/>
                <a:cs typeface="Arial" pitchFamily="34" charset="-120"/>
              </a:rPr>
              <a:t>Conclusion</a:t>
            </a:r>
            <a:endParaRPr lang="en-US" sz="2700" dirty="0"/>
          </a:p>
        </p:txBody>
      </p:sp>
      <p:sp>
        <p:nvSpPr>
          <p:cNvPr id="5" name="Shape 3"/>
          <p:cNvSpPr/>
          <p:nvPr/>
        </p:nvSpPr>
        <p:spPr>
          <a:xfrm>
            <a:off x="502920" y="1005840"/>
            <a:ext cx="2606040" cy="2834640"/>
          </a:xfrm>
          <a:prstGeom prst="roundRect">
            <a:avLst>
              <a:gd name="adj" fmla="val 2456"/>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pic>
        <p:nvPicPr>
          <p:cNvPr id="6" name="Image 0" descr="preencoded.png">    </p:cNvPr>
          <p:cNvPicPr>
            <a:picLocks noChangeAspect="1"/>
          </p:cNvPicPr>
          <p:nvPr/>
        </p:nvPicPr>
        <p:blipFill>
          <a:blip r:embed="rId1"/>
          <a:stretch>
            <a:fillRect/>
          </a:stretch>
        </p:blipFill>
        <p:spPr>
          <a:xfrm>
            <a:off x="685800" y="1170432"/>
            <a:ext cx="329184" cy="329184"/>
          </a:xfrm>
          <a:prstGeom prst="rect">
            <a:avLst/>
          </a:prstGeom>
        </p:spPr>
      </p:pic>
      <p:sp>
        <p:nvSpPr>
          <p:cNvPr id="7" name="Text 4"/>
          <p:cNvSpPr/>
          <p:nvPr/>
        </p:nvSpPr>
        <p:spPr>
          <a:xfrm>
            <a:off x="1133856" y="1179576"/>
            <a:ext cx="1828800" cy="320040"/>
          </a:xfrm>
          <a:prstGeom prst="rect">
            <a:avLst/>
          </a:prstGeom>
          <a:noFill/>
          <a:ln/>
        </p:spPr>
        <p:txBody>
          <a:bodyPr wrap="square" lIns="0" tIns="0" rIns="0" bIns="0" rtlCol="0" anchor="ctr"/>
          <a:lstStyle/>
          <a:p>
            <a:pPr indent="0" marL="0">
              <a:buNone/>
            </a:pPr>
            <a:r>
              <a:rPr lang="en-US" sz="1500" b="1" dirty="0">
                <a:solidFill>
                  <a:srgbClr val="EEF2FF"/>
                </a:solidFill>
                <a:latin typeface="Arial" pitchFamily="34" charset="0"/>
                <a:ea typeface="Arial" pitchFamily="34" charset="-122"/>
                <a:cs typeface="Arial" pitchFamily="34" charset="-120"/>
              </a:rPr>
              <a:t>Bilan</a:t>
            </a:r>
            <a:endParaRPr lang="en-US" sz="1500" dirty="0"/>
          </a:p>
        </p:txBody>
      </p:sp>
      <p:sp>
        <p:nvSpPr>
          <p:cNvPr id="8" name="Text 5"/>
          <p:cNvSpPr/>
          <p:nvPr/>
        </p:nvSpPr>
        <p:spPr>
          <a:xfrm>
            <a:off x="713232" y="1645920"/>
            <a:ext cx="2240280" cy="2103120"/>
          </a:xfrm>
          <a:prstGeom prst="rect">
            <a:avLst/>
          </a:prstGeom>
          <a:noFill/>
          <a:ln/>
        </p:spPr>
        <p:txBody>
          <a:bodyPr wrap="square" lIns="0" tIns="0" rIns="0" bIns="0" rtlCol="0" anchor="ctr"/>
          <a:lstStyle/>
          <a:p>
            <a:pPr marL="342900" indent="-342900">
              <a:spcAft>
                <a:spcPts val="900"/>
              </a:spcAft>
              <a:buSzPct val="100000"/>
              <a:buChar char="•"/>
            </a:pPr>
            <a:r>
              <a:rPr lang="en-US" sz="1150" dirty="0">
                <a:solidFill>
                  <a:srgbClr val="EEF2FF"/>
                </a:solidFill>
                <a:latin typeface="Arial" pitchFamily="34" charset="0"/>
                <a:ea typeface="Arial" pitchFamily="34" charset="-122"/>
                <a:cs typeface="Arial" pitchFamily="34" charset="-120"/>
              </a:rPr>
              <a:t>F-01 → F-10 démontrables + profil et classement</a:t>
            </a:r>
            <a:endParaRPr lang="en-US" sz="1150" dirty="0"/>
          </a:p>
          <a:p>
            <a:pPr marL="342900" indent="-342900">
              <a:spcAft>
                <a:spcPts val="900"/>
              </a:spcAft>
              <a:buSzPct val="100000"/>
              <a:buChar char="•"/>
            </a:pPr>
            <a:r>
              <a:rPr lang="en-US" sz="1150" dirty="0">
                <a:solidFill>
                  <a:srgbClr val="EEF2FF"/>
                </a:solidFill>
                <a:latin typeface="Arial" pitchFamily="34" charset="0"/>
                <a:ea typeface="Arial" pitchFamily="34" charset="-122"/>
                <a:cs typeface="Arial" pitchFamily="34" charset="-120"/>
              </a:rPr>
              <a:t>10/10 critères d'acceptation, 58 tests verts</a:t>
            </a:r>
            <a:endParaRPr lang="en-US" sz="1150" dirty="0"/>
          </a:p>
          <a:p>
            <a:pPr marL="342900" indent="-342900">
              <a:spcAft>
                <a:spcPts val="900"/>
              </a:spcAft>
              <a:buSzPct val="100000"/>
              <a:buChar char="•"/>
            </a:pPr>
            <a:r>
              <a:rPr lang="en-US" sz="1150" dirty="0">
                <a:solidFill>
                  <a:srgbClr val="EEF2FF"/>
                </a:solidFill>
                <a:latin typeface="Arial" pitchFamily="34" charset="0"/>
                <a:ea typeface="Arial" pitchFamily="34" charset="-122"/>
                <a:cs typeface="Arial" pitchFamily="34" charset="-120"/>
              </a:rPr>
              <a:t>Livré, documenté, conteneurisé, tagué v1.0-demo</a:t>
            </a:r>
            <a:endParaRPr lang="en-US" sz="1150" dirty="0"/>
          </a:p>
        </p:txBody>
      </p:sp>
      <p:sp>
        <p:nvSpPr>
          <p:cNvPr id="9" name="Shape 6"/>
          <p:cNvSpPr/>
          <p:nvPr/>
        </p:nvSpPr>
        <p:spPr>
          <a:xfrm>
            <a:off x="3273552" y="1005840"/>
            <a:ext cx="2606040" cy="2834640"/>
          </a:xfrm>
          <a:prstGeom prst="roundRect">
            <a:avLst>
              <a:gd name="adj" fmla="val 2456"/>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0" name="Shape 7"/>
          <p:cNvSpPr/>
          <p:nvPr/>
        </p:nvSpPr>
        <p:spPr>
          <a:xfrm>
            <a:off x="3438144" y="1152144"/>
            <a:ext cx="365760" cy="365760"/>
          </a:xfrm>
          <a:prstGeom prst="ellipse">
            <a:avLst/>
          </a:prstGeom>
          <a:solidFill>
            <a:srgbClr val="FFD166"/>
          </a:solidFill>
          <a:ln/>
        </p:spPr>
      </p:sp>
      <p:pic>
        <p:nvPicPr>
          <p:cNvPr id="11" name="Image 1" descr="preencoded.png">    </p:cNvPr>
          <p:cNvPicPr>
            <a:picLocks noChangeAspect="1"/>
          </p:cNvPicPr>
          <p:nvPr/>
        </p:nvPicPr>
        <p:blipFill>
          <a:blip r:embed="rId2"/>
          <a:stretch>
            <a:fillRect/>
          </a:stretch>
        </p:blipFill>
        <p:spPr>
          <a:xfrm>
            <a:off x="3522269" y="1236269"/>
            <a:ext cx="197510" cy="197510"/>
          </a:xfrm>
          <a:prstGeom prst="rect">
            <a:avLst/>
          </a:prstGeom>
        </p:spPr>
      </p:pic>
      <p:sp>
        <p:nvSpPr>
          <p:cNvPr id="12" name="Text 8"/>
          <p:cNvSpPr/>
          <p:nvPr/>
        </p:nvSpPr>
        <p:spPr>
          <a:xfrm>
            <a:off x="3913632" y="1179576"/>
            <a:ext cx="1965960" cy="320040"/>
          </a:xfrm>
          <a:prstGeom prst="rect">
            <a:avLst/>
          </a:prstGeom>
          <a:noFill/>
          <a:ln/>
        </p:spPr>
        <p:txBody>
          <a:bodyPr wrap="square" lIns="0" tIns="0" rIns="0" bIns="0" rtlCol="0" anchor="ctr"/>
          <a:lstStyle/>
          <a:p>
            <a:pPr indent="0" marL="0">
              <a:buNone/>
            </a:pPr>
            <a:r>
              <a:rPr lang="en-US" sz="1450" b="1" dirty="0">
                <a:solidFill>
                  <a:srgbClr val="EEF2FF"/>
                </a:solidFill>
                <a:latin typeface="Arial" pitchFamily="34" charset="0"/>
                <a:ea typeface="Arial" pitchFamily="34" charset="-122"/>
                <a:cs typeface="Arial" pitchFamily="34" charset="-120"/>
              </a:rPr>
              <a:t>Apprentissages</a:t>
            </a:r>
            <a:endParaRPr lang="en-US" sz="1450" dirty="0"/>
          </a:p>
        </p:txBody>
      </p:sp>
      <p:sp>
        <p:nvSpPr>
          <p:cNvPr id="13" name="Text 9"/>
          <p:cNvSpPr/>
          <p:nvPr/>
        </p:nvSpPr>
        <p:spPr>
          <a:xfrm>
            <a:off x="3483864" y="1645920"/>
            <a:ext cx="2240280" cy="2103120"/>
          </a:xfrm>
          <a:prstGeom prst="rect">
            <a:avLst/>
          </a:prstGeom>
          <a:noFill/>
          <a:ln/>
        </p:spPr>
        <p:txBody>
          <a:bodyPr wrap="square" lIns="0" tIns="0" rIns="0" bIns="0" rtlCol="0" anchor="ctr"/>
          <a:lstStyle/>
          <a:p>
            <a:pPr marL="342900" indent="-342900">
              <a:spcAft>
                <a:spcPts val="900"/>
              </a:spcAft>
              <a:buSzPct val="100000"/>
              <a:buChar char="•"/>
            </a:pPr>
            <a:r>
              <a:rPr lang="en-US" sz="1150" dirty="0">
                <a:solidFill>
                  <a:srgbClr val="EEF2FF"/>
                </a:solidFill>
                <a:latin typeface="Arial" pitchFamily="34" charset="0"/>
                <a:ea typeface="Arial" pitchFamily="34" charset="-122"/>
                <a:cs typeface="Arial" pitchFamily="34" charset="-120"/>
              </a:rPr>
              <a:t>Un contrat d'interface figé tôt = un binôme qui avance en parallèle</a:t>
            </a:r>
            <a:endParaRPr lang="en-US" sz="1150" dirty="0"/>
          </a:p>
          <a:p>
            <a:pPr marL="342900" indent="-342900">
              <a:spcAft>
                <a:spcPts val="900"/>
              </a:spcAft>
              <a:buSzPct val="100000"/>
              <a:buChar char="•"/>
            </a:pPr>
            <a:r>
              <a:rPr lang="en-US" sz="1150" dirty="0">
                <a:solidFill>
                  <a:srgbClr val="EEF2FF"/>
                </a:solidFill>
                <a:latin typeface="Arial" pitchFamily="34" charset="0"/>
                <a:ea typeface="Arial" pitchFamily="34" charset="-122"/>
                <a:cs typeface="Arial" pitchFamily="34" charset="-120"/>
              </a:rPr>
              <a:t>Le serveur comme source de vérité simplifie tout le reste</a:t>
            </a:r>
            <a:endParaRPr lang="en-US" sz="1150" dirty="0"/>
          </a:p>
          <a:p>
            <a:pPr marL="342900" indent="-342900">
              <a:spcAft>
                <a:spcPts val="900"/>
              </a:spcAft>
              <a:buSzPct val="100000"/>
              <a:buChar char="•"/>
            </a:pPr>
            <a:r>
              <a:rPr lang="en-US" sz="1150" dirty="0">
                <a:solidFill>
                  <a:srgbClr val="EEF2FF"/>
                </a:solidFill>
                <a:latin typeface="Arial" pitchFamily="34" charset="0"/>
                <a:ea typeface="Arial" pitchFamily="34" charset="-122"/>
                <a:cs typeface="Arial" pitchFamily="34" charset="-120"/>
              </a:rPr>
              <a:t>Les accès concurrents se gèrent en base (transactions, verrous)</a:t>
            </a:r>
            <a:endParaRPr lang="en-US" sz="1150" dirty="0"/>
          </a:p>
        </p:txBody>
      </p:sp>
      <p:sp>
        <p:nvSpPr>
          <p:cNvPr id="14" name="Shape 10"/>
          <p:cNvSpPr/>
          <p:nvPr/>
        </p:nvSpPr>
        <p:spPr>
          <a:xfrm>
            <a:off x="6044184" y="1005840"/>
            <a:ext cx="2606040" cy="2834640"/>
          </a:xfrm>
          <a:prstGeom prst="roundRect">
            <a:avLst>
              <a:gd name="adj" fmla="val 2456"/>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15" name="Shape 11"/>
          <p:cNvSpPr/>
          <p:nvPr/>
        </p:nvSpPr>
        <p:spPr>
          <a:xfrm>
            <a:off x="6208776" y="1152144"/>
            <a:ext cx="365760" cy="365760"/>
          </a:xfrm>
          <a:prstGeom prst="ellipse">
            <a:avLst/>
          </a:prstGeom>
          <a:solidFill>
            <a:srgbClr val="3D7BFD"/>
          </a:solidFill>
          <a:ln/>
        </p:spPr>
      </p:sp>
      <p:pic>
        <p:nvPicPr>
          <p:cNvPr id="16" name="Image 2" descr="preencoded.png">    </p:cNvPr>
          <p:cNvPicPr>
            <a:picLocks noChangeAspect="1"/>
          </p:cNvPicPr>
          <p:nvPr/>
        </p:nvPicPr>
        <p:blipFill>
          <a:blip r:embed="rId3"/>
          <a:stretch>
            <a:fillRect/>
          </a:stretch>
        </p:blipFill>
        <p:spPr>
          <a:xfrm>
            <a:off x="6292901" y="1236269"/>
            <a:ext cx="197510" cy="197510"/>
          </a:xfrm>
          <a:prstGeom prst="rect">
            <a:avLst/>
          </a:prstGeom>
        </p:spPr>
      </p:pic>
      <p:sp>
        <p:nvSpPr>
          <p:cNvPr id="17" name="Text 12"/>
          <p:cNvSpPr/>
          <p:nvPr/>
        </p:nvSpPr>
        <p:spPr>
          <a:xfrm>
            <a:off x="6684264" y="1179576"/>
            <a:ext cx="1920240" cy="320040"/>
          </a:xfrm>
          <a:prstGeom prst="rect">
            <a:avLst/>
          </a:prstGeom>
          <a:noFill/>
          <a:ln/>
        </p:spPr>
        <p:txBody>
          <a:bodyPr wrap="square" lIns="0" tIns="0" rIns="0" bIns="0" rtlCol="0" anchor="ctr"/>
          <a:lstStyle/>
          <a:p>
            <a:pPr indent="0" marL="0">
              <a:buNone/>
            </a:pPr>
            <a:r>
              <a:rPr lang="en-US" sz="1500" b="1" dirty="0">
                <a:solidFill>
                  <a:srgbClr val="EEF2FF"/>
                </a:solidFill>
                <a:latin typeface="Arial" pitchFamily="34" charset="0"/>
                <a:ea typeface="Arial" pitchFamily="34" charset="-122"/>
                <a:cs typeface="Arial" pitchFamily="34" charset="-120"/>
              </a:rPr>
              <a:t>Perspectives</a:t>
            </a:r>
            <a:endParaRPr lang="en-US" sz="1500" dirty="0"/>
          </a:p>
        </p:txBody>
      </p:sp>
      <p:sp>
        <p:nvSpPr>
          <p:cNvPr id="18" name="Text 13"/>
          <p:cNvSpPr/>
          <p:nvPr/>
        </p:nvSpPr>
        <p:spPr>
          <a:xfrm>
            <a:off x="6254496" y="1645920"/>
            <a:ext cx="2240280" cy="2103120"/>
          </a:xfrm>
          <a:prstGeom prst="rect">
            <a:avLst/>
          </a:prstGeom>
          <a:noFill/>
          <a:ln/>
        </p:spPr>
        <p:txBody>
          <a:bodyPr wrap="square" lIns="0" tIns="0" rIns="0" bIns="0" rtlCol="0" anchor="ctr"/>
          <a:lstStyle/>
          <a:p>
            <a:pPr marL="342900" indent="-342900">
              <a:spcAft>
                <a:spcPts val="900"/>
              </a:spcAft>
              <a:buSzPct val="100000"/>
              <a:buChar char="•"/>
            </a:pPr>
            <a:r>
              <a:rPr lang="en-US" sz="1150" dirty="0">
                <a:solidFill>
                  <a:srgbClr val="EEF2FF"/>
                </a:solidFill>
                <a:latin typeface="Arial" pitchFamily="34" charset="0"/>
                <a:ea typeface="Arial" pitchFamily="34" charset="-122"/>
                <a:cs typeface="Arial" pitchFamily="34" charset="-120"/>
              </a:rPr>
              <a:t>Court terme : Spring Boot (contrat identique), WebSocket</a:t>
            </a:r>
            <a:endParaRPr lang="en-US" sz="1150" dirty="0"/>
          </a:p>
          <a:p>
            <a:pPr marL="342900" indent="-342900">
              <a:spcAft>
                <a:spcPts val="900"/>
              </a:spcAft>
              <a:buSzPct val="100000"/>
              <a:buChar char="•"/>
            </a:pPr>
            <a:r>
              <a:rPr lang="en-US" sz="1150" dirty="0">
                <a:solidFill>
                  <a:srgbClr val="EEF2FF"/>
                </a:solidFill>
                <a:latin typeface="Arial" pitchFamily="34" charset="0"/>
                <a:ea typeface="Arial" pitchFamily="34" charset="-122"/>
                <a:cs typeface="Arial" pitchFamily="34" charset="-120"/>
              </a:rPr>
              <a:t>Moyen terme : reconnexion complète, questions illustrées</a:t>
            </a:r>
            <a:endParaRPr lang="en-US" sz="1150" dirty="0"/>
          </a:p>
          <a:p>
            <a:pPr marL="342900" indent="-342900">
              <a:spcAft>
                <a:spcPts val="900"/>
              </a:spcAft>
              <a:buSzPct val="100000"/>
              <a:buChar char="•"/>
            </a:pPr>
            <a:r>
              <a:rPr lang="en-US" sz="1150" dirty="0">
                <a:solidFill>
                  <a:srgbClr val="EEF2FF"/>
                </a:solidFill>
                <a:latin typeface="Arial" pitchFamily="34" charset="0"/>
                <a:ea typeface="Arial" pitchFamily="34" charset="-122"/>
                <a:cs typeface="Arial" pitchFamily="34" charset="-120"/>
              </a:rPr>
              <a:t>Long terme : adaptation Android, matchmaking</a:t>
            </a:r>
            <a:endParaRPr lang="en-US" sz="1150" dirty="0"/>
          </a:p>
        </p:txBody>
      </p:sp>
      <p:sp>
        <p:nvSpPr>
          <p:cNvPr id="19" name="Text 14"/>
          <p:cNvSpPr/>
          <p:nvPr/>
        </p:nvSpPr>
        <p:spPr>
          <a:xfrm>
            <a:off x="502920" y="4069080"/>
            <a:ext cx="8138160" cy="685800"/>
          </a:xfrm>
          <a:prstGeom prst="rect">
            <a:avLst/>
          </a:prstGeom>
          <a:noFill/>
          <a:ln/>
        </p:spPr>
        <p:txBody>
          <a:bodyPr wrap="square" lIns="0" tIns="0" rIns="0" bIns="0" rtlCol="0" anchor="ctr"/>
          <a:lstStyle/>
          <a:p>
            <a:pPr algn="ctr" indent="0" marL="0">
              <a:buNone/>
            </a:pPr>
            <a:r>
              <a:rPr lang="en-US" sz="1450" i="1" dirty="0">
                <a:solidFill>
                  <a:srgbClr val="FFD166"/>
                </a:solidFill>
                <a:latin typeface="Arial" pitchFamily="34" charset="0"/>
                <a:ea typeface="Arial" pitchFamily="34" charset="-122"/>
                <a:cs typeface="Arial" pitchFamily="34" charset="-120"/>
              </a:rPr>
              <a:t>« Une partie complète, stable et agréable à deux joueurs vaut mieux</a:t>
            </a:r>
            <a:endParaRPr lang="en-US" sz="1450" dirty="0"/>
          </a:p>
          <a:p>
            <a:pPr algn="ctr" indent="0" marL="0">
              <a:buNone/>
            </a:pPr>
            <a:r>
              <a:rPr lang="en-US" sz="1450" i="1" dirty="0">
                <a:solidFill>
                  <a:srgbClr val="FFD166"/>
                </a:solidFill>
                <a:latin typeface="Arial" pitchFamily="34" charset="0"/>
                <a:ea typeface="Arial" pitchFamily="34" charset="-122"/>
                <a:cs typeface="Arial" pitchFamily="34" charset="-120"/>
              </a:rPr>
              <a:t>qu'un grand nombre de fonctionnalités inachevées. »  — cahier des charges, §12</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8321040" y="4846320"/>
            <a:ext cx="685800" cy="228600"/>
          </a:xfrm>
          <a:prstGeom prst="rect">
            <a:avLst/>
          </a:prstGeom>
          <a:noFill/>
          <a:ln/>
        </p:spPr>
        <p:txBody>
          <a:bodyPr wrap="square" lIns="0" tIns="0" rIns="0" bIns="0" rtlCol="0" anchor="ctr"/>
          <a:lstStyle/>
          <a:p>
            <a:pPr algn="r" indent="0" marL="0">
              <a:buNone/>
            </a:pPr>
            <a:r>
              <a:rPr lang="en-US" sz="1000" dirty="0">
                <a:solidFill>
                  <a:srgbClr val="9AA7CC"/>
                </a:solidFill>
                <a:latin typeface="Arial" pitchFamily="34" charset="0"/>
                <a:ea typeface="Arial" pitchFamily="34" charset="-122"/>
                <a:cs typeface="Arial" pitchFamily="34" charset="-120"/>
              </a:rPr>
              <a:t>16 / 16</a:t>
            </a:r>
            <a:endParaRPr lang="en-US" sz="1000" dirty="0"/>
          </a:p>
        </p:txBody>
      </p:sp>
      <p:sp>
        <p:nvSpPr>
          <p:cNvPr id="3" name="Text 1"/>
          <p:cNvSpPr/>
          <p:nvPr/>
        </p:nvSpPr>
        <p:spPr>
          <a:xfrm>
            <a:off x="457200" y="1371600"/>
            <a:ext cx="8229600" cy="731520"/>
          </a:xfrm>
          <a:prstGeom prst="rect">
            <a:avLst/>
          </a:prstGeom>
          <a:noFill/>
          <a:ln/>
        </p:spPr>
        <p:txBody>
          <a:bodyPr wrap="square" lIns="0" tIns="0" rIns="0" bIns="0" rtlCol="0" anchor="ctr"/>
          <a:lstStyle/>
          <a:p>
            <a:pPr algn="ctr" indent="0" marL="0">
              <a:buNone/>
            </a:pPr>
            <a:r>
              <a:rPr lang="en-US" sz="4000" b="1" dirty="0">
                <a:solidFill>
                  <a:srgbClr val="EEF2FF"/>
                </a:solidFill>
                <a:latin typeface="Arial" pitchFamily="34" charset="0"/>
                <a:ea typeface="Arial" pitchFamily="34" charset="-122"/>
                <a:cs typeface="Arial" pitchFamily="34" charset="-120"/>
              </a:rPr>
              <a:t>Merci de votre attention</a:t>
            </a:r>
            <a:endParaRPr lang="en-US" sz="4000" dirty="0"/>
          </a:p>
        </p:txBody>
      </p:sp>
      <p:sp>
        <p:nvSpPr>
          <p:cNvPr id="4" name="Text 2"/>
          <p:cNvSpPr/>
          <p:nvPr/>
        </p:nvSpPr>
        <p:spPr>
          <a:xfrm>
            <a:off x="457200" y="2212848"/>
            <a:ext cx="8229600" cy="365760"/>
          </a:xfrm>
          <a:prstGeom prst="rect">
            <a:avLst/>
          </a:prstGeom>
          <a:noFill/>
          <a:ln/>
        </p:spPr>
        <p:txBody>
          <a:bodyPr wrap="square" lIns="0" tIns="0" rIns="0" bIns="0" rtlCol="0" anchor="ctr"/>
          <a:lstStyle/>
          <a:p>
            <a:pPr algn="ctr" indent="0" marL="0">
              <a:buNone/>
            </a:pPr>
            <a:r>
              <a:rPr lang="en-US" sz="1700" i="1" dirty="0">
                <a:solidFill>
                  <a:srgbClr val="FFD166"/>
                </a:solidFill>
                <a:latin typeface="Arial" pitchFamily="34" charset="0"/>
                <a:ea typeface="Arial" pitchFamily="34" charset="-122"/>
                <a:cs typeface="Arial" pitchFamily="34" charset="-120"/>
              </a:rPr>
              <a:t>Place à vos questions — et à la démonstration !</a:t>
            </a:r>
            <a:endParaRPr lang="en-US" sz="1700" dirty="0"/>
          </a:p>
        </p:txBody>
      </p:sp>
      <p:sp>
        <p:nvSpPr>
          <p:cNvPr id="5" name="Shape 3"/>
          <p:cNvSpPr/>
          <p:nvPr/>
        </p:nvSpPr>
        <p:spPr>
          <a:xfrm>
            <a:off x="2194560" y="2971800"/>
            <a:ext cx="4754880" cy="1143000"/>
          </a:xfrm>
          <a:prstGeom prst="roundRect">
            <a:avLst>
              <a:gd name="adj" fmla="val 5600"/>
            </a:avLst>
          </a:prstGeom>
          <a:solidFill>
            <a:srgbClr val="202942"/>
          </a:solidFill>
          <a:ln w="9525">
            <a:solidFill>
              <a:srgbClr val="2B3660"/>
            </a:solidFill>
            <a:prstDash val="solid"/>
          </a:ln>
          <a:effectLst>
            <a:outerShdw sx="100000" sy="100000" kx="0" ky="0" algn="bl" rotWithShape="0" blurRad="101600" dist="38100" dir="2700000">
              <a:srgbClr val="000000">
                <a:alpha val="35000"/>
              </a:srgbClr>
            </a:outerShdw>
          </a:effectLst>
        </p:spPr>
      </p:sp>
      <p:sp>
        <p:nvSpPr>
          <p:cNvPr id="6" name="Shape 4"/>
          <p:cNvSpPr/>
          <p:nvPr/>
        </p:nvSpPr>
        <p:spPr>
          <a:xfrm>
            <a:off x="2395728" y="3319272"/>
            <a:ext cx="457200" cy="457200"/>
          </a:xfrm>
          <a:prstGeom prst="ellipse">
            <a:avLst/>
          </a:prstGeom>
          <a:solidFill>
            <a:srgbClr val="3D7BFD"/>
          </a:solidFill>
          <a:ln/>
        </p:spPr>
      </p:sp>
      <p:pic>
        <p:nvPicPr>
          <p:cNvPr id="7" name="Image 0" descr="preencoded.png">    </p:cNvPr>
          <p:cNvPicPr>
            <a:picLocks noChangeAspect="1"/>
          </p:cNvPicPr>
          <p:nvPr/>
        </p:nvPicPr>
        <p:blipFill>
          <a:blip r:embed="rId1"/>
          <a:stretch>
            <a:fillRect/>
          </a:stretch>
        </p:blipFill>
        <p:spPr>
          <a:xfrm>
            <a:off x="2500884" y="3424428"/>
            <a:ext cx="246888" cy="246888"/>
          </a:xfrm>
          <a:prstGeom prst="rect">
            <a:avLst/>
          </a:prstGeom>
        </p:spPr>
      </p:pic>
      <p:sp>
        <p:nvSpPr>
          <p:cNvPr id="8" name="Text 5"/>
          <p:cNvSpPr/>
          <p:nvPr/>
        </p:nvSpPr>
        <p:spPr>
          <a:xfrm>
            <a:off x="3017520" y="3127248"/>
            <a:ext cx="3840480" cy="868680"/>
          </a:xfrm>
          <a:prstGeom prst="rect">
            <a:avLst/>
          </a:prstGeom>
          <a:noFill/>
          <a:ln/>
        </p:spPr>
        <p:txBody>
          <a:bodyPr wrap="square" lIns="0" tIns="0" rIns="0" bIns="0" rtlCol="0" anchor="ctr"/>
          <a:lstStyle/>
          <a:p>
            <a:pPr indent="0" marL="0">
              <a:spcAft>
                <a:spcPts val="400"/>
              </a:spcAft>
              <a:buNone/>
            </a:pPr>
            <a:r>
              <a:rPr lang="en-US" sz="1300" b="1" dirty="0">
                <a:solidFill>
                  <a:srgbClr val="7FB2FF"/>
                </a:solidFill>
                <a:latin typeface="Arial" pitchFamily="34" charset="0"/>
                <a:ea typeface="Arial" pitchFamily="34" charset="-122"/>
                <a:cs typeface="Arial" pitchFamily="34" charset="-120"/>
              </a:rPr>
              <a:t>github.com/arcreane/android-project-adham-marrakchi</a:t>
            </a:r>
            <a:endParaRPr lang="en-US" sz="1300" dirty="0"/>
          </a:p>
          <a:p>
            <a:pPr indent="0" marL="0">
              <a:spcAft>
                <a:spcPts val="400"/>
              </a:spcAft>
              <a:buNone/>
            </a:pPr>
            <a:r>
              <a:rPr lang="en-US" sz="1100" dirty="0">
                <a:solidFill>
                  <a:srgbClr val="9AA7CC"/>
                </a:solidFill>
                <a:latin typeface="Arial" pitchFamily="34" charset="0"/>
                <a:ea typeface="Arial" pitchFamily="34" charset="-122"/>
                <a:cs typeface="Arial" pitchFamily="34" charset="-120"/>
              </a:rPr>
              <a:t>Code, README, OpenAPI, plan de tests — tag v1.0-demo</a:t>
            </a:r>
            <a:endParaRPr lang="en-US" sz="1300" dirty="0"/>
          </a:p>
          <a:p>
            <a:pPr indent="0" marL="0">
              <a:spcAft>
                <a:spcPts val="400"/>
              </a:spcAft>
              <a:buNone/>
            </a:pPr>
            <a:r>
              <a:rPr lang="en-US" sz="1100" dirty="0">
                <a:solidFill>
                  <a:srgbClr val="9AA7CC"/>
                </a:solidFill>
                <a:latin typeface="Arial" pitchFamily="34" charset="0"/>
                <a:ea typeface="Arial" pitchFamily="34" charset="-122"/>
                <a:cs typeface="Arial" pitchFamily="34" charset="-120"/>
              </a:rPr>
              <a:t>Comptes de démonstration : alice / bob — mot de passe Demo123!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QuizArena — Soutenance de projet</dc:title>
  <dc:subject>PptxGenJS Presentation</dc:subject>
  <dc:creator>Adham Marrakchi &amp; Ghizlane Benallal</dc:creator>
  <cp:lastModifiedBy>Adham Marrakchi &amp; Ghizlane Benallal</cp:lastModifiedBy>
  <cp:revision>1</cp:revision>
  <dcterms:created xsi:type="dcterms:W3CDTF">2026-07-07T09:01:53Z</dcterms:created>
  <dcterms:modified xsi:type="dcterms:W3CDTF">2026-07-07T09:01:53Z</dcterms:modified>
</cp:coreProperties>
</file>