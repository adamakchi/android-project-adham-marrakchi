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 à tous. Je vais vous présenter QuizArena, mon projet de jeu multijoueur : un quiz de culture générale en mode battle royale, jouable de 2 à 8 joueurs. C'est à la fois un jeu synchrone, un projet full-stack complet (client lourd, API, base de données) et un produit fini, testé et livré sous le tag v1.0-demo.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concept en une phrase : un quiz à élimination progressive. Les quatre chiffres clés à retenir : des salles de 2 à 8 joueurs, 15 secondes par question, 10 manches maximum, et jusqu'à 1000 points par manche. L'équité est centrale : tout le monde reçoit la même question au même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la boucle de jeu complète, celle que je vous montrerai en démonstration : de la connexion jusqu'à l'historique. Les 4 premières étapes préparent la partie, les 4 suivantes se répètent à chaque manche jusqu'au podium. Chaque étape correspond à un écran JavaFX dédié.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L'architecture est classique et robuste : trois couches strictement séparées. Le point important, c'est la règle d'or : le frontend ne touche jamais la base, tout passe par l'API avec un jeton. Ça garantit l'équité (personne ne peut tricher côté client) et ça prépare l'évolution : le contrat REST est figé dans un fichier OpenAPI, donc le backend pourra être réécrit en Spring Boot sans toucher au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contrat d'API a été figé dès le début — c'était notre contrat d'interface de binôme. Toutes les réponses suivent la même enveloppe : data en cas de succès, error avec un code et un message lisible en cas d'échec. À droite, les routes principales. À gauche, un exemple concret : soumettre une réponse. Notez le 409 en cas de double soumission, et le fait que la correction n'est jamais renvoyée avant la clôture de la manche : impossible de tricher en inspectant le réseau.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schéma suit exactement le cahier des charges : 7 tables, plus une table de jetons pour les sessions. Les règles d'intégrité importantes sont en base, pas seulement dans le code : par exemple la contrainte unique sur (round, joueur) rend la double réponse physiquement impossible — l'API traduit la violation en 409. Les mots de passe ne sont jamais stockés en clair, et la clôture d'une manche est transactionnelle.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cœur technique du projet. La formule de score : 700 points pour une bonne réponse, plus un bonus de rapidité jusqu'à 300, proportionnel au temps restant. L'élimination retire le dernier quart des actifs à partir de la manche 3. Et surtout, tout se joue côté serveur : le client affiche, le serveur décide. Particularité intéressante du POC : pas de tâche de fond — c'est le polling des clients qui fait avancer la partie, chaque requête déclenche un tick, protégé par transactions et verrous.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Côté client, les 8 écrans du cahier des charges, avec les composants imposés : ListView, ComboBox, TreeView, ProgressBar, TableView, dialogues et animations. Techniquement : tous les appels réseau sortent du thread UI, le compte à rebours est recalé sur l'horloge du serveur pour éviter les écarts, et une erreur réseau affiche un message sans jamais faire planter l'application.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qualité est prouvée, pas promise : 58 contrôles automatisés, tous au vert. Le plus important est le smoke test : il joue une vraie partie complète à deux joueurs contre l'API et la base — inscription, salle, questions synchronisées, refus de la double réponse, formule de score, podium, historique. Les dix critères d'acceptation du cahier des charges sont tracés un par un dans le plan de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que le projet soit installable partout — critère A-10 — le backend est conteneurisé. Une seule commande monte MySQL avec le schéma et les 60 questions, puis l'API avec les comptes de démonstration. Et la recette elle-même est conteneurisée : docker compose profile test joue une partie de vérification. Le client JavaFX reste natif, c'est une application de bureau.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scénario de démonstration, répété et chronométré : deux clients sur le même poste, une partie complète en 3 manches pour tenir dans le temps, et un test de robustesse pour finir — je coupe l'API en plein lobby pour montrer que l'application affiche un message propre et reprend, au lieu de planter. Les comptes de démonstration sont précréés, la base est locale : pas de dépendance au réseau de la salle.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conclure : les dix exigences obligatoires sont livrées et démontrables, avec en plus le profil, le classement, Docker et une documentation complète. Les perspectives sont déjà préparées : le contrat REST figé permet une réécriture Spring Boot sans toucher au client. Je termine sur la priorité que fixait le cahier des charges lui-même — une partie complète et stable vaut mieux que des fonctionnalités inachevées — c'est exactement ce que je vais vous montrer en démonstration. Merci, place à la démo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QuizArena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457200" y="1627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Royale de culture générale — 2 à 8 joueurs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06424" y="2395728"/>
            <a:ext cx="3337560" cy="566928"/>
          </a:xfrm>
          <a:prstGeom prst="roundRect">
            <a:avLst>
              <a:gd name="adj" fmla="val 14516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07592" y="23957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Un simple quiz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00016" y="2395728"/>
            <a:ext cx="3337560" cy="566928"/>
          </a:xfrm>
          <a:prstGeom prst="roundRect">
            <a:avLst>
              <a:gd name="adj" fmla="val 14516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01184" y="23957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Un battle royale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06424" y="3182112"/>
            <a:ext cx="3337560" cy="566928"/>
          </a:xfrm>
          <a:prstGeom prst="roundRect">
            <a:avLst>
              <a:gd name="adj" fmla="val 14516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07592" y="31821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Un projet full-stack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0016" y="3182112"/>
            <a:ext cx="3337560" cy="566928"/>
          </a:xfrm>
          <a:prstGeom prst="roundRect">
            <a:avLst>
              <a:gd name="adj" fmla="val 14516"/>
            </a:avLst>
          </a:prstGeom>
          <a:solidFill>
            <a:srgbClr val="3D7BFD"/>
          </a:solidFill>
          <a:ln w="19050">
            <a:solidFill>
              <a:srgbClr val="7FB2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01184" y="31821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Les trois à la fois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8664" y="3346704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Adham Marrakchi     •     Soutenance du projet multijoueur     •     version v1.0-demo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concept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concours de culture générale à élimination progressive.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4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chaque manche, tous les joueurs reçoivent la même question, en même temps, avec la même échéance.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2377440"/>
            <a:ext cx="3977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QCM à 4 choix, une seule bonne réponse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rapidité départage : plus on répond vite, plus on marque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Dès la manche 3, les moins performants sont éliminés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Vainqueur : dernier en lice, ou meilleur score final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800600" y="105156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28616" y="1197864"/>
            <a:ext cx="384048" cy="384048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6947" y="1286195"/>
            <a:ext cx="207386" cy="2073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00600" y="161848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2–8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800600" y="22219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joueurs par salle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03720" y="105156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31736" y="1197864"/>
            <a:ext cx="384048" cy="384048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067" y="1286195"/>
            <a:ext cx="207386" cy="2073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161848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6903720" y="22219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question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800600" y="283464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28616" y="2980944"/>
            <a:ext cx="384048" cy="384048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947" y="3069275"/>
            <a:ext cx="207386" cy="2073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00600" y="340156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4800600" y="40050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 maximum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903720" y="283464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031736" y="2980944"/>
            <a:ext cx="384048" cy="384048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067" y="3069275"/>
            <a:ext cx="207386" cy="20738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03720" y="340156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</a:t>
            </a:r>
            <a:endParaRPr lang="en-US" sz="3400" dirty="0"/>
          </a:p>
        </p:txBody>
      </p:sp>
      <p:sp>
        <p:nvSpPr>
          <p:cNvPr id="25" name="Text 19"/>
          <p:cNvSpPr/>
          <p:nvPr/>
        </p:nvSpPr>
        <p:spPr>
          <a:xfrm>
            <a:off x="6903720" y="40050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max / manche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partie, de bout en bout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947672" cy="1645920"/>
          </a:xfrm>
          <a:prstGeom prst="roundRect">
            <a:avLst>
              <a:gd name="adj" fmla="val 3889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179576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179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1179576"/>
            <a:ext cx="365760" cy="365760"/>
          </a:xfrm>
          <a:prstGeom prst="ellipse">
            <a:avLst/>
          </a:prstGeom>
          <a:solidFill>
            <a:srgbClr val="28325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0085" y="1263701"/>
            <a:ext cx="197510" cy="1975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" y="17099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9224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 + jeton de session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33472" y="1051560"/>
            <a:ext cx="1947672" cy="1645920"/>
          </a:xfrm>
          <a:prstGeom prst="roundRect">
            <a:avLst>
              <a:gd name="adj" fmla="val 3889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61488" y="1179576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3" name="Text 10"/>
          <p:cNvSpPr/>
          <p:nvPr/>
        </p:nvSpPr>
        <p:spPr>
          <a:xfrm>
            <a:off x="2761488" y="1179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096512" y="1179576"/>
            <a:ext cx="365760" cy="365760"/>
          </a:xfrm>
          <a:prstGeom prst="ellipse">
            <a:avLst/>
          </a:prstGeom>
          <a:solidFill>
            <a:srgbClr val="28325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637" y="1263701"/>
            <a:ext cx="197510" cy="1975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79776" y="17099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Lobby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2779776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ou rejoindre une salle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64024" y="1051560"/>
            <a:ext cx="1947672" cy="1645920"/>
          </a:xfrm>
          <a:prstGeom prst="roundRect">
            <a:avLst>
              <a:gd name="adj" fmla="val 3889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92040" y="1179576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0" name="Text 16"/>
          <p:cNvSpPr/>
          <p:nvPr/>
        </p:nvSpPr>
        <p:spPr>
          <a:xfrm>
            <a:off x="4892040" y="1179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227064" y="1179576"/>
            <a:ext cx="365760" cy="365760"/>
          </a:xfrm>
          <a:prstGeom prst="ellipse">
            <a:avLst/>
          </a:prstGeom>
          <a:solidFill>
            <a:srgbClr val="28325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189" y="1263701"/>
            <a:ext cx="197510" cy="19751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910328" y="17099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Salle d'attente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4910328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prêts, lancement par l'hôte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94576" y="1051560"/>
            <a:ext cx="1947672" cy="1645920"/>
          </a:xfrm>
          <a:prstGeom prst="roundRect">
            <a:avLst>
              <a:gd name="adj" fmla="val 3889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022592" y="1179576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7" name="Text 22"/>
          <p:cNvSpPr/>
          <p:nvPr/>
        </p:nvSpPr>
        <p:spPr>
          <a:xfrm>
            <a:off x="7022592" y="1179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8357616" y="1179576"/>
            <a:ext cx="365760" cy="365760"/>
          </a:xfrm>
          <a:prstGeom prst="ellipse">
            <a:avLst/>
          </a:prstGeom>
          <a:solidFill>
            <a:srgbClr val="283252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741" y="1263701"/>
            <a:ext cx="197510" cy="19751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40880" y="17099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7040880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s, une seule réponse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02920" y="2880360"/>
            <a:ext cx="1947672" cy="1645920"/>
          </a:xfrm>
          <a:prstGeom prst="roundRect">
            <a:avLst>
              <a:gd name="adj" fmla="val 3889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30936" y="3008376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4" name="Text 28"/>
          <p:cNvSpPr/>
          <p:nvPr/>
        </p:nvSpPr>
        <p:spPr>
          <a:xfrm>
            <a:off x="630936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1965960" y="3008376"/>
            <a:ext cx="365760" cy="365760"/>
          </a:xfrm>
          <a:prstGeom prst="ellipse">
            <a:avLst/>
          </a:prstGeom>
          <a:solidFill>
            <a:srgbClr val="283252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0085" y="3092501"/>
            <a:ext cx="197510" cy="19751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49224" y="3538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649224" y="3886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 réponse + points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2633472" y="2880360"/>
            <a:ext cx="1947672" cy="1645920"/>
          </a:xfrm>
          <a:prstGeom prst="roundRect">
            <a:avLst>
              <a:gd name="adj" fmla="val 3889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2761488" y="3008376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1" name="Text 34"/>
          <p:cNvSpPr/>
          <p:nvPr/>
        </p:nvSpPr>
        <p:spPr>
          <a:xfrm>
            <a:off x="276148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Shape 35"/>
          <p:cNvSpPr/>
          <p:nvPr/>
        </p:nvSpPr>
        <p:spPr>
          <a:xfrm>
            <a:off x="4096512" y="3008376"/>
            <a:ext cx="365760" cy="365760"/>
          </a:xfrm>
          <a:prstGeom prst="ellipse">
            <a:avLst/>
          </a:prstGeom>
          <a:solidFill>
            <a:srgbClr val="283252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0637" y="3092501"/>
            <a:ext cx="197510" cy="19751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2779776" y="3538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Élimination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2779776" y="3886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dernier quart, dès la manche 3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4764024" y="2880360"/>
            <a:ext cx="1947672" cy="1645920"/>
          </a:xfrm>
          <a:prstGeom prst="roundRect">
            <a:avLst>
              <a:gd name="adj" fmla="val 3889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4892040" y="3008376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8" name="Text 40"/>
          <p:cNvSpPr/>
          <p:nvPr/>
        </p:nvSpPr>
        <p:spPr>
          <a:xfrm>
            <a:off x="489204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9" name="Shape 41"/>
          <p:cNvSpPr/>
          <p:nvPr/>
        </p:nvSpPr>
        <p:spPr>
          <a:xfrm>
            <a:off x="6227064" y="3008376"/>
            <a:ext cx="365760" cy="365760"/>
          </a:xfrm>
          <a:prstGeom prst="ellipse">
            <a:avLst/>
          </a:prstGeom>
          <a:solidFill>
            <a:srgbClr val="283252"/>
          </a:solidFill>
          <a:ln/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1189" y="3092501"/>
            <a:ext cx="197510" cy="19751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4910328" y="3538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Podium</a:t>
            </a:r>
            <a:endParaRPr lang="en-US" sz="1450" dirty="0"/>
          </a:p>
        </p:txBody>
      </p:sp>
      <p:sp>
        <p:nvSpPr>
          <p:cNvPr id="52" name="Text 43"/>
          <p:cNvSpPr/>
          <p:nvPr/>
        </p:nvSpPr>
        <p:spPr>
          <a:xfrm>
            <a:off x="4910328" y="3886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animé, vainqueur</a:t>
            </a:r>
            <a:endParaRPr lang="en-US" sz="1100" dirty="0"/>
          </a:p>
        </p:txBody>
      </p:sp>
      <p:sp>
        <p:nvSpPr>
          <p:cNvPr id="53" name="Shape 44"/>
          <p:cNvSpPr/>
          <p:nvPr/>
        </p:nvSpPr>
        <p:spPr>
          <a:xfrm>
            <a:off x="6894576" y="2880360"/>
            <a:ext cx="1947672" cy="1645920"/>
          </a:xfrm>
          <a:prstGeom prst="roundRect">
            <a:avLst>
              <a:gd name="adj" fmla="val 3889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7022592" y="3008376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5" name="Text 46"/>
          <p:cNvSpPr/>
          <p:nvPr/>
        </p:nvSpPr>
        <p:spPr>
          <a:xfrm>
            <a:off x="7022592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56" name="Shape 47"/>
          <p:cNvSpPr/>
          <p:nvPr/>
        </p:nvSpPr>
        <p:spPr>
          <a:xfrm>
            <a:off x="8357616" y="3008376"/>
            <a:ext cx="365760" cy="365760"/>
          </a:xfrm>
          <a:prstGeom prst="ellipse">
            <a:avLst/>
          </a:prstGeom>
          <a:solidFill>
            <a:srgbClr val="283252"/>
          </a:solidFill>
          <a:ln/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1741" y="3092501"/>
            <a:ext cx="197510" cy="197510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7040880" y="3538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</a:t>
            </a:r>
            <a:endParaRPr lang="en-US" sz="1450" dirty="0"/>
          </a:p>
        </p:txBody>
      </p:sp>
      <p:sp>
        <p:nvSpPr>
          <p:cNvPr id="59" name="Text 49"/>
          <p:cNvSpPr/>
          <p:nvPr/>
        </p:nvSpPr>
        <p:spPr>
          <a:xfrm>
            <a:off x="7040880" y="3886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et classement global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3 couches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956816" cy="1874520"/>
          </a:xfrm>
          <a:prstGeom prst="roundRect">
            <a:avLst>
              <a:gd name="adj" fmla="val 3415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2728" y="1261872"/>
            <a:ext cx="457200" cy="457200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884" y="1367028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" y="18288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JavaFX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76072" y="210312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17+ / JavaFX 21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6072" y="235915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écrans FXML, animations,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locale, polling 1,2 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93592" y="1097280"/>
            <a:ext cx="1956816" cy="1874520"/>
          </a:xfrm>
          <a:prstGeom prst="roundRect">
            <a:avLst>
              <a:gd name="adj" fmla="val 3415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261872"/>
            <a:ext cx="457200" cy="457200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1367028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66744" y="18288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PHP 8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66744" y="210312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/api/v1 — POC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666744" y="235915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moteur de partie,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jetons Bearer, scores serveur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684264" y="1097280"/>
            <a:ext cx="1956816" cy="1874520"/>
          </a:xfrm>
          <a:prstGeom prst="roundRect">
            <a:avLst>
              <a:gd name="adj" fmla="val 3415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34072" y="1261872"/>
            <a:ext cx="457200" cy="457200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228" y="1367028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57416" y="18288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757416" y="210312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quizarena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757416" y="235915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tables, transactions,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préparées (PDO)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514600" y="2029968"/>
            <a:ext cx="1024128" cy="0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  <a:headEnd type="triangle"/>
            <a:tailEnd type="triangle"/>
          </a:ln>
        </p:spPr>
      </p:sp>
      <p:sp>
        <p:nvSpPr>
          <p:cNvPr id="23" name="Text 18"/>
          <p:cNvSpPr/>
          <p:nvPr/>
        </p:nvSpPr>
        <p:spPr>
          <a:xfrm>
            <a:off x="2240280" y="212140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JSON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jeton Bearer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605272" y="2029968"/>
            <a:ext cx="1024128" cy="0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  <a:headEnd type="triangle"/>
            <a:tailEnd type="triangle"/>
          </a:ln>
        </p:spPr>
      </p:sp>
      <p:sp>
        <p:nvSpPr>
          <p:cNvPr id="25" name="Text 20"/>
          <p:cNvSpPr/>
          <p:nvPr/>
        </p:nvSpPr>
        <p:spPr>
          <a:xfrm>
            <a:off x="5330952" y="212140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préparées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02920" y="3246120"/>
            <a:ext cx="8138160" cy="713232"/>
          </a:xfrm>
          <a:prstGeom prst="roundRect">
            <a:avLst>
              <a:gd name="adj" fmla="val 8974"/>
            </a:avLst>
          </a:prstGeom>
          <a:solidFill>
            <a:srgbClr val="28325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85800" y="3392424"/>
            <a:ext cx="420624" cy="420624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44" y="3489168"/>
            <a:ext cx="227137" cy="22713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61872" y="324612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d'or : </a:t>
            </a:r>
            <a:pPr indent="0" marL="0">
              <a:buNone/>
            </a:pPr>
            <a:r>
              <a:rPr lang="en-US" sz="13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client ne se connecte jamais à la base. L'état serveur est l'unique source de vérité — scores, échéances et éliminations sont calculés côté API.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02920" y="42245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 prévue : </a:t>
            </a:r>
            <a:pPr indent="0" marL="0">
              <a:buNone/>
            </a:pPr>
            <a:r>
              <a:rPr lang="en-US" sz="12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réécriture du backend en Spring Boot avec le même contrat REST (docs/openapi.yaml) — zéro changement côté client.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contrat REST figé — /api/v1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4114800" cy="3063240"/>
          </a:xfrm>
          <a:prstGeom prst="roundRect">
            <a:avLst>
              <a:gd name="adj" fmla="val 2090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: soumettre une réponse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/api/v1/games/42/answers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E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"questionId": 7, "choiceIndex": 2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 { "data": { "accepted": true }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  { "error":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"code": "ALREADY_ANSWERED" }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AA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correction n'est révélée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AA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qu'à la clôture de la manche.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005840"/>
          <a:ext cx="3749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FB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FB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Rôle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/auth/register · /auth/login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compte + jeton (24 h)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GET/POST /games · join · ready · start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lobby et salles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/games/{id}/state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polling : l'état complet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/games/{id}/question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 sans la solution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/games/{id}/answers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réponse unique de la manche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/games/{id}/scores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classement + correction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/players/me · history · leaderboard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profil, historique, top 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4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routes  •  JSON UTF-8  •  enveloppe data / error  •  codes 200 · 201 · 400 · 401 · 403 · 404 · 409 · 500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de données — 7 tables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947672" cy="749808"/>
          </a:xfrm>
          <a:prstGeom prst="roundRect">
            <a:avLst>
              <a:gd name="adj" fmla="val 8537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15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comptes, avatar, score cumulé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33472" y="1024128"/>
            <a:ext cx="1947672" cy="749808"/>
          </a:xfrm>
          <a:prstGeom prst="roundRect">
            <a:avLst>
              <a:gd name="adj" fmla="val 8537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70632" y="1115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70632" y="13898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catégories actives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1947672" cy="749808"/>
          </a:xfrm>
          <a:prstGeom prst="roundRect">
            <a:avLst>
              <a:gd name="adj" fmla="val 8537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0116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QCM, choix en JSON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33472" y="1920240"/>
            <a:ext cx="1947672" cy="749808"/>
          </a:xfrm>
          <a:prstGeom prst="roundRect">
            <a:avLst>
              <a:gd name="adj" fmla="val 8537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70632" y="20116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70632" y="22860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salles : hôte, statut, manches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816352"/>
            <a:ext cx="1947672" cy="749808"/>
          </a:xfrm>
          <a:prstGeom prst="roundRect">
            <a:avLst>
              <a:gd name="adj" fmla="val 8537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9077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game_players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31821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score, prêt, éliminé, rang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33472" y="2816352"/>
            <a:ext cx="1947672" cy="749808"/>
          </a:xfrm>
          <a:prstGeom prst="roundRect">
            <a:avLst>
              <a:gd name="adj" fmla="val 8537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70632" y="29077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70632" y="31821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n°, question, échéance, clôture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712464"/>
            <a:ext cx="1947672" cy="749808"/>
          </a:xfrm>
          <a:prstGeom prst="roundRect">
            <a:avLst>
              <a:gd name="adj" fmla="val 8537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8039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407822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choix, temps de réponse, points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33472" y="3712464"/>
            <a:ext cx="1947672" cy="749808"/>
          </a:xfrm>
          <a:prstGeom prst="roundRect">
            <a:avLst>
              <a:gd name="adj" fmla="val 8537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70632" y="38039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770632" y="407822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Bearer (24 h)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1024128"/>
            <a:ext cx="3749040" cy="3566160"/>
          </a:xfrm>
          <a:prstGeom prst="roundRect">
            <a:avLst>
              <a:gd name="adj" fmla="val 1795"/>
            </a:avLst>
          </a:prstGeom>
          <a:solidFill>
            <a:srgbClr val="28325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74920" y="1188720"/>
            <a:ext cx="402336" cy="402336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7457" y="1281257"/>
            <a:ext cx="217261" cy="217261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596128" y="12252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de persistance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5138928" y="1700784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 et email uniques, insensibles à la casse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 de passe : password_hash / password_verify — jamais en clair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(round_id, player_id) : la double réponse est impossible en base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Clôture de manche et calcul des scores dans une transaction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déjà jouées jamais resservies dans une partie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Suppression logique des questions (active = false)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moteur de jeu, 100 % côté serveur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4114800" cy="1828800"/>
          </a:xfrm>
          <a:prstGeom prst="roundRect">
            <a:avLst>
              <a:gd name="adj" fmla="val 3500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52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d'une manche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</a:t>
            </a:r>
            <a:pPr indent="0" marL="0">
              <a:buNone/>
            </a:pPr>
            <a:r>
              <a:rPr lang="en-US" sz="13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exactitude </a:t>
            </a:r>
            <a:pPr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+ 300</a:t>
            </a:r>
            <a:pPr indent="0" marL="0">
              <a:buNone/>
            </a:pPr>
            <a:r>
              <a:rPr lang="en-US" sz="13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rapidité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proportionnel au temps restant : 1 000 pts en instantané, 850 à mi-temps, 700 à la dernière seconde — 0 si faux ou absent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035808"/>
            <a:ext cx="4114800" cy="1572768"/>
          </a:xfrm>
          <a:prstGeom prst="roundRect">
            <a:avLst>
              <a:gd name="adj" fmla="val 4070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3200400"/>
            <a:ext cx="402336" cy="402336"/>
          </a:xfrm>
          <a:prstGeom prst="ellipse">
            <a:avLst/>
          </a:prstGeom>
          <a:solidFill>
            <a:srgbClr val="FF7B7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337" y="3292937"/>
            <a:ext cx="217261" cy="21726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7008" y="32369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Élimination (dès la manche 3)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1520" y="36393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dernier quart des joueurs actifs est éliminé — au minimum un joueur dès qu'ils sont 4. Ex æquo départagés au temps de réponse cumulé.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892040" y="1005840"/>
            <a:ext cx="3749040" cy="3602736"/>
          </a:xfrm>
          <a:prstGeom prst="roundRect">
            <a:avLst>
              <a:gd name="adj" fmla="val 1777"/>
            </a:avLst>
          </a:prstGeom>
          <a:solidFill>
            <a:srgbClr val="28325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74920" y="1170432"/>
            <a:ext cx="402336" cy="402336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457" y="1262969"/>
            <a:ext cx="217261" cy="21726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96128" y="12070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Anti-triche et synchronisation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138928" y="1682496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L'horodatage serveur fait foi — le client ne calcule jamais un score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en retard ou doublée : refusée (HTTP 409)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bonne réponse n'est transmise qu'après la clôture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Avancement « lazy » : chaque requête fait un tick() serveur — clôture à l'échéance, manche suivante, fin de partie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cron : le polling des clients suffit, sous verrous et transactions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écrans JavaFX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947672" cy="1389888"/>
          </a:xfrm>
          <a:prstGeom prst="roundRect">
            <a:avLst>
              <a:gd name="adj" fmla="val 4605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84048" cy="384048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411" y="1277051"/>
            <a:ext cx="207386" cy="2073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73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94767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TextField, PasswordField, Alert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33472" y="1051560"/>
            <a:ext cx="1947672" cy="1389888"/>
          </a:xfrm>
          <a:prstGeom prst="roundRect">
            <a:avLst>
              <a:gd name="adj" fmla="val 4605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70632" y="1188720"/>
            <a:ext cx="384048" cy="384048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963" y="1277051"/>
            <a:ext cx="207386" cy="2073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70632" y="1673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 / Profil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770632" y="194767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ImageView, avatars, stats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64024" y="1051560"/>
            <a:ext cx="1947672" cy="1389888"/>
          </a:xfrm>
          <a:prstGeom prst="roundRect">
            <a:avLst>
              <a:gd name="adj" fmla="val 4605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01184" y="1188720"/>
            <a:ext cx="384048" cy="384048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515" y="1277051"/>
            <a:ext cx="207386" cy="2073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01184" y="1673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Lobby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901184" y="194767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ListView + filtre ComboBox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94576" y="1051560"/>
            <a:ext cx="1947672" cy="1389888"/>
          </a:xfrm>
          <a:prstGeom prst="roundRect">
            <a:avLst>
              <a:gd name="adj" fmla="val 4605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31736" y="1188720"/>
            <a:ext cx="384048" cy="384048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067" y="1277051"/>
            <a:ext cx="207386" cy="2073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31736" y="1673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Salle d'attente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31736" y="194767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TreeView, badges prêt / hôte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2624328"/>
            <a:ext cx="1947672" cy="1389888"/>
          </a:xfrm>
          <a:prstGeom prst="roundRect">
            <a:avLst>
              <a:gd name="adj" fmla="val 4605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2761488"/>
            <a:ext cx="384048" cy="384048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11" y="2849819"/>
            <a:ext cx="207386" cy="20738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40080" y="35204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ProgressBar animée, verrouillage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2633472" y="2624328"/>
            <a:ext cx="1947672" cy="1389888"/>
          </a:xfrm>
          <a:prstGeom prst="roundRect">
            <a:avLst>
              <a:gd name="adj" fmla="val 4605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770632" y="2761488"/>
            <a:ext cx="384048" cy="384048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8963" y="2849819"/>
            <a:ext cx="207386" cy="20738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770632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2770632" y="35204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ListView, points, éliminés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764024" y="2624328"/>
            <a:ext cx="1947672" cy="1389888"/>
          </a:xfrm>
          <a:prstGeom prst="roundRect">
            <a:avLst>
              <a:gd name="adj" fmla="val 4605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901184" y="2761488"/>
            <a:ext cx="384048" cy="384048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9515" y="2849819"/>
            <a:ext cx="207386" cy="20738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901184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Podium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4901184" y="35204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animé (transitions)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894576" y="2624328"/>
            <a:ext cx="1947672" cy="1389888"/>
          </a:xfrm>
          <a:prstGeom prst="roundRect">
            <a:avLst>
              <a:gd name="adj" fmla="val 4605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7031736" y="2761488"/>
            <a:ext cx="384048" cy="384048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0067" y="2849819"/>
            <a:ext cx="207386" cy="20738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031736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7031736" y="35204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TableView : rang, score, durée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02920" y="43159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 le capot : </a:t>
            </a:r>
            <a:pPr indent="0" marL="0">
              <a:buNone/>
            </a:pPr>
            <a:r>
              <a:rPr lang="en-US" sz="12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FXML centralisée, appels HTTP hors du thread UI, polling 1,2 s, horloge recalée sur le serveur, session restaurée au lancement, erreurs réseau non bloquantes.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contrôles automatisés — tous verts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2606040" cy="1828800"/>
          </a:xfrm>
          <a:prstGeom prst="roundRect">
            <a:avLst>
              <a:gd name="adj" fmla="val 3500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216152"/>
            <a:ext cx="402336" cy="402336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049" y="1308689"/>
            <a:ext cx="217261" cy="2172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2984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8580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unitaires du score et de l'élimination (PHP)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051560"/>
            <a:ext cx="2606040" cy="1828800"/>
          </a:xfrm>
          <a:prstGeom prst="roundRect">
            <a:avLst>
              <a:gd name="adj" fmla="val 3500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56432" y="1216152"/>
            <a:ext cx="402336" cy="402336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969" y="1308689"/>
            <a:ext cx="217261" cy="2172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12984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4600" dirty="0"/>
          </a:p>
        </p:txBody>
      </p:sp>
      <p:sp>
        <p:nvSpPr>
          <p:cNvPr id="13" name="Text 9"/>
          <p:cNvSpPr/>
          <p:nvPr/>
        </p:nvSpPr>
        <p:spPr>
          <a:xfrm>
            <a:off x="347472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contrôles bout en bout : une vraie partie jouée par le smoke test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0760" y="1051560"/>
            <a:ext cx="2606040" cy="1828800"/>
          </a:xfrm>
          <a:prstGeom prst="roundRect">
            <a:avLst>
              <a:gd name="adj" fmla="val 3500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45352" y="1216152"/>
            <a:ext cx="402336" cy="402336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889" y="1308689"/>
            <a:ext cx="217261" cy="2172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12984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600" dirty="0"/>
          </a:p>
        </p:txBody>
      </p:sp>
      <p:sp>
        <p:nvSpPr>
          <p:cNvPr id="18" name="Text 13"/>
          <p:cNvSpPr/>
          <p:nvPr/>
        </p:nvSpPr>
        <p:spPr>
          <a:xfrm>
            <a:off x="626364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client : contrat JSON + chargement des 8 écrans FXML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3108960"/>
            <a:ext cx="8138160" cy="731520"/>
          </a:xfrm>
          <a:prstGeom prst="roundRect">
            <a:avLst>
              <a:gd name="adj" fmla="val 8750"/>
            </a:avLst>
          </a:prstGeom>
          <a:solidFill>
            <a:srgbClr val="28325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32841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43000" y="310896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Critères d'acceptation A-01 → A-10 : 10 / 10 validés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traçabilité complète dans docs/plan-de-tests.md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02920" y="40416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tests/ScoreTest.php     php tests/api_smoke.php     mvn test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: deux commandes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4114800" cy="1920240"/>
          </a:xfrm>
          <a:prstGeom prst="roundRect">
            <a:avLst>
              <a:gd name="adj" fmla="val 3333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n'importe quel poste 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517904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base + API + données prêtes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frontend &amp;&amp; mvn javafx:run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 client se connecte sur :8085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127248"/>
            <a:ext cx="4114800" cy="1463040"/>
          </a:xfrm>
          <a:prstGeom prst="roundRect">
            <a:avLst>
              <a:gd name="adj" fmla="val 4375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3291840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337" y="3384377"/>
            <a:ext cx="217261" cy="21726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3328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Recette en une commande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3712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--profile test run smoke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joue une partie de vérification complète dans un conteneur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92040" y="1024128"/>
            <a:ext cx="3749040" cy="3566160"/>
          </a:xfrm>
          <a:prstGeom prst="roundRect">
            <a:avLst>
              <a:gd name="adj" fmla="val 1795"/>
            </a:avLst>
          </a:prstGeom>
          <a:solidFill>
            <a:srgbClr val="28325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74920" y="1188720"/>
            <a:ext cx="420624" cy="420624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664" y="1285464"/>
            <a:ext cx="227137" cy="2271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14416" y="12435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docker-compose.yml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138928" y="1755648"/>
            <a:ext cx="3255264" cy="768096"/>
          </a:xfrm>
          <a:prstGeom prst="roundRect">
            <a:avLst>
              <a:gd name="adj" fmla="val 8333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303520" y="1837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— MySQL 8.4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303520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 + 60 questions chargés automatiquement, healthcheck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138928" y="2670048"/>
            <a:ext cx="3255264" cy="768096"/>
          </a:xfrm>
          <a:prstGeom prst="roundRect">
            <a:avLst>
              <a:gd name="adj" fmla="val 8333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303520" y="27523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— PHP 8.3 (:8085)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303520" y="30358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la base, crée les comptes démo, sert /api/v1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138928" y="3584448"/>
            <a:ext cx="3255264" cy="768096"/>
          </a:xfrm>
          <a:prstGeom prst="roundRect">
            <a:avLst>
              <a:gd name="adj" fmla="val 8333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5303520" y="3666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smoke — profil test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303520" y="39502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recette automatisée bout en bout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— 5 minutes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515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81328" y="10515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clients côte à côte — connexion alice et bob (comptes de démonstration)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655064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FD1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5506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81328" y="165506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alice crée une salle : catégorie, difficulté, 3 manches — bob la voit apparaître et la rejoint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258568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FD16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585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81328" y="22585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se déclare prêt, alice lance — même question et même compte à rebours sur les 2 écrans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2862072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6207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1:30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81328" y="286207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manches en direct : verrouillage après réponse, résultats, points de rapidité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3465576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46557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3:30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81328" y="346557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Podium animé, vainqueur, puis historique et classement global mis à jour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06908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FD16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069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81328" y="40690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de robustesse : coupure de l'API en plein lobby — message clair, pas de crash, reprise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et perspectives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3977640" cy="2880360"/>
          </a:xfrm>
          <a:prstGeom prst="roundRect">
            <a:avLst>
              <a:gd name="adj" fmla="val 2222"/>
            </a:avLst>
          </a:prstGeom>
          <a:solidFill>
            <a:srgbClr val="20294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17043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1795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Livré — v1.0-demo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49808" y="1664208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F-01 → F-10 : toutes les exigences obligatoires démontrables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Profil, historique et classement global (souhaitables) inclus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OpenAPI, plan de tests, README testé sur poste propre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Dépôt Git : historique propre, tag v1.0-demo, PR de rendu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3977640" cy="2880360"/>
          </a:xfrm>
          <a:prstGeom prst="roundRect">
            <a:avLst>
              <a:gd name="adj" fmla="val 2222"/>
            </a:avLst>
          </a:prstGeom>
          <a:solidFill>
            <a:srgbClr val="283252"/>
          </a:solidFill>
          <a:ln w="9525">
            <a:solidFill>
              <a:srgbClr val="2B36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64608" y="1152144"/>
            <a:ext cx="365760" cy="365760"/>
          </a:xfrm>
          <a:prstGeom prst="ellipse">
            <a:avLst/>
          </a:prstGeom>
          <a:solidFill>
            <a:srgbClr val="3D7BF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733" y="1236269"/>
            <a:ext cx="197510" cy="1975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1795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après ?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910328" y="1664208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Spring Boot — le contrat REST est déjà figé, le client ne change pas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pour remplacer le polling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Reconnexion 30 s complète (détection de présence)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illustrées (image_url déjà prévu) et adaptation Android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2920" y="41148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Une partie complète, stable et agréable à deux joueurs vaut mieux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qu'un grand nombre de fonctionnalités inachevées. »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QuizArena — Soutenance</dc:title>
  <dc:subject>PptxGenJS Presentation</dc:subject>
  <dc:creator>Adham Marrakchi</dc:creator>
  <cp:lastModifiedBy>Adham Marrakchi</cp:lastModifiedBy>
  <cp:revision>1</cp:revision>
  <dcterms:created xsi:type="dcterms:W3CDTF">2026-07-06T18:56:38Z</dcterms:created>
  <dcterms:modified xsi:type="dcterms:W3CDTF">2026-07-06T18:56:38Z</dcterms:modified>
</cp:coreProperties>
</file>